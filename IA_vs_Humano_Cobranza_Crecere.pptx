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Presento el análisis de 100 llamadas de cobranza: 50 de agentes humanos y 50 de agentes de IA. La pregunta de partida era si la IA rinde igual que el humano. El resultado más importante no es el sí o el no: es bajo qué condiciones esa comparación es válida.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de esta lámina: el activo ya existe (las grabaciones), pero no es explotable hasta convertirlo en datos. Todo el trabajo va en esa conversión.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Arranco por el negocio, no por la tecnología. Estas cinco preguntas son las que definieron qué variables valía la pena extraer. La cuarta — si las muestras son comparables — terminó siendo la más importante de todas.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objetivos específicos. Los cuatro primeros son de construcción de datos; los dos últimos son de análisis. El sexto no estaba en el plan original: apareció al ejecutar el quinto.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datos de partida. El que más pesa es el último: los audios llegan sin ningún metadato, así que todo — incluido el tipo de gestión — hubo que extraerlo del contenido de la conversación.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Uso CRISP-DM como marco, pero lo importante no es el marco: es que el bucle se cerró de verdad. La lámina 12 muestra qué encontré que me hizo volver atrás.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primera observación — que no todas las llamadas son el mismo tipo de gestión — la escuché aquí, pero solo pude medirla cuando ya tenía las 100 transcripciones. Ahí se convirtió en el hallazgo central.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detector de pitidos se calibró escuchando 24 marcas anotadas a mano en 4 audios, y se validó internamente: los 1 623 eventos detectados tienen todos exactamente la misma frecuencia y el mismo nivel. Si estuviera confundiendo voz con tono, vería dispersión.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Quiero resaltar el criterio: no elegí por precio ni por la hoja de especificaciones. Elegí por la métrica que rompe el análisis si falla, que es la separación de hablantes.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Separo dos cosas que suelen confundirse: quién define las variables y quién las extrae. Las definí yo escuchando; la IA solo las extrajo a escala. Y esa extracción se auditó sobre el 25% de la muestra.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lámina que cambió el proyecto. El seguimiento es una tarea estructuralmente más simple: no negocia descuento, dura la mitad y cierra más. Mezclarla con negociación nueva infla la ventaja del humano.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solo me llevo un número de esta presentación, que sea este: la brecha cruda y la brecha ajustada cuentan historias distintas, y solo una de las dos es defendible.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la presentación tuviera una sola recomendación, sería esta. No requiere ciencia de datos para arreglarse, requiere ingeniería de telefonía — pero sin el análisis nadie sabía que valía 22.9 millones.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prefiero quedarme corto que pasarme: con 8 y 10 casos lo correcto es decir que no encontré diferencia, no que probé que son iguales.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Turnos más largos, menos interrupciones y más silencio: eso es leer un guion. No es malo en sí — es consistente — pero explica por qué la IA no reacciona cuando el cliente objeta algo que el guion no previó.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quiero vender que la comparación falló. Quiero mostrar que los datos me dijeron que la pregunta estaba mal formulada, y que reformularla dio una respuesta más accionable.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tercera recomendación es la más tentadora y la que más cuidado pide: automatizar seguimiento puede ser un ahorro o un sobrecosto según cómo se facture. Ese dato lo tiene el proveedor, no este análisis.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Poner los límites por delante no debilita el análisis: es lo que permite que alguien tome una decisión sabiendo qué riesgo asume.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Cierro con lo que me llevo: el valor del ejercicio estuvo en descubrir que la pregunta original no era respondible con estos datos, y en dejar montado el pipeline para responderla bien cuando la muestra lo permita.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preguntan por el detalle: 24 campos de negociación más 4 de tono. El más importante metodológicamente es caso_exito, porque se recalcula por regla en vez de confiar en lo que devuelve el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logo_trim.png">    </p:cNvPr>
          <p:cNvPicPr>
            <a:picLocks noChangeAspect="1"/>
          </p:cNvPicPr>
          <p:nvPr/>
        </p:nvPicPr>
        <p:blipFill>
          <a:blip r:embed="rId1"/>
          <a:stretch>
            <a:fillRect/>
          </a:stretch>
        </p:blipFill>
        <p:spPr>
          <a:xfrm>
            <a:off x="685800" y="566928"/>
            <a:ext cx="2651760" cy="576072"/>
          </a:xfrm>
          <a:prstGeom prst="rect">
            <a:avLst/>
          </a:prstGeom>
        </p:spPr>
      </p:pic>
      <p:sp>
        <p:nvSpPr>
          <p:cNvPr id="3" name="Text 0"/>
          <p:cNvSpPr txBox="1"/>
          <p:nvPr/>
        </p:nvSpPr>
        <p:spPr>
          <a:xfrm>
            <a:off x="685800" y="1783080"/>
            <a:ext cx="8595360" cy="1737360"/>
          </a:xfrm>
          <a:prstGeom prst="rect">
            <a:avLst/>
          </a:prstGeom>
          <a:noFill/>
          <a:ln/>
        </p:spPr>
        <p:txBody>
          <a:bodyPr wrap="square" lIns="0" tIns="0" rIns="0" bIns="0" rtlCol="0" anchor="ctr"/>
          <a:lstStyle/>
          <a:p>
            <a:pPr indent="0" marL="0">
              <a:lnSpc>
                <a:spcPts val="4600"/>
              </a:lnSpc>
              <a:buNone/>
            </a:pPr>
            <a:r>
              <a:rPr lang="en-US" sz="4000" b="1" dirty="0">
                <a:solidFill>
                  <a:srgbClr val="202020"/>
                </a:solidFill>
                <a:latin typeface="Cambria" pitchFamily="34" charset="0"/>
                <a:ea typeface="Cambria" pitchFamily="34" charset="-122"/>
                <a:cs typeface="Cambria" pitchFamily="34" charset="-120"/>
              </a:rPr>
              <a:t>Agente IA vs. Agente Humano</a:t>
            </a:r>
            <a:endParaRPr lang="en-US" sz="4000" dirty="0"/>
          </a:p>
          <a:p>
            <a:pPr indent="0" marL="0">
              <a:lnSpc>
                <a:spcPts val="4600"/>
              </a:lnSpc>
              <a:buNone/>
            </a:pPr>
            <a:r>
              <a:rPr lang="en-US" sz="4000" b="1" dirty="0">
                <a:solidFill>
                  <a:srgbClr val="202020"/>
                </a:solidFill>
                <a:latin typeface="Cambria" pitchFamily="34" charset="0"/>
                <a:ea typeface="Cambria" pitchFamily="34" charset="-122"/>
                <a:cs typeface="Cambria" pitchFamily="34" charset="-120"/>
              </a:rPr>
              <a:t>en gestión de cobranza</a:t>
            </a:r>
            <a:endParaRPr lang="en-US" sz="4000" dirty="0"/>
          </a:p>
        </p:txBody>
      </p:sp>
      <p:sp>
        <p:nvSpPr>
          <p:cNvPr id="4" name="Text 1"/>
          <p:cNvSpPr txBox="1"/>
          <p:nvPr/>
        </p:nvSpPr>
        <p:spPr>
          <a:xfrm>
            <a:off x="685800" y="3584448"/>
            <a:ext cx="7863840" cy="658368"/>
          </a:xfrm>
          <a:prstGeom prst="rect">
            <a:avLst/>
          </a:prstGeom>
          <a:noFill/>
          <a:ln/>
        </p:spPr>
        <p:txBody>
          <a:bodyPr wrap="square" lIns="0" tIns="0" rIns="0" bIns="0" rtlCol="0" anchor="ctr"/>
          <a:lstStyle/>
          <a:p>
            <a:pPr indent="0" marL="0">
              <a:lnSpc>
                <a:spcPts val="2200"/>
              </a:lnSpc>
              <a:buNone/>
            </a:pPr>
            <a:r>
              <a:rPr lang="en-US" sz="1600" dirty="0">
                <a:solidFill>
                  <a:srgbClr val="757275"/>
                </a:solidFill>
                <a:latin typeface="Calibri" pitchFamily="34" charset="0"/>
                <a:ea typeface="Calibri" pitchFamily="34" charset="-122"/>
                <a:cs typeface="Calibri" pitchFamily="34" charset="-120"/>
              </a:rPr>
              <a:t>Qué dicen 100 llamadas grabadas sobre la viabilidad de automatizar la gestión de cartera</a:t>
            </a:r>
            <a:endParaRPr lang="en-US" sz="1600" dirty="0"/>
          </a:p>
        </p:txBody>
      </p:sp>
      <p:sp>
        <p:nvSpPr>
          <p:cNvPr id="5" name="Shape 2"/>
          <p:cNvSpPr/>
          <p:nvPr/>
        </p:nvSpPr>
        <p:spPr>
          <a:xfrm>
            <a:off x="685800" y="4498848"/>
            <a:ext cx="137160" cy="137160"/>
          </a:xfrm>
          <a:prstGeom prst="ellipse">
            <a:avLst/>
          </a:prstGeom>
          <a:solidFill>
            <a:srgbClr val="F26ECF"/>
          </a:solidFill>
          <a:ln/>
        </p:spPr>
      </p:sp>
      <p:sp>
        <p:nvSpPr>
          <p:cNvPr id="6" name="Text 3"/>
          <p:cNvSpPr txBox="1"/>
          <p:nvPr/>
        </p:nvSpPr>
        <p:spPr>
          <a:xfrm>
            <a:off x="960120" y="4407408"/>
            <a:ext cx="8229600" cy="292608"/>
          </a:xfrm>
          <a:prstGeom prst="rect">
            <a:avLst/>
          </a:prstGeom>
          <a:noFill/>
          <a:ln/>
        </p:spPr>
        <p:txBody>
          <a:bodyPr wrap="square" lIns="0" tIns="0" rIns="0" bIns="0" rtlCol="0" anchor="ctr"/>
          <a:lstStyle/>
          <a:p>
            <a:pPr indent="0" marL="0">
              <a:buNone/>
            </a:pPr>
            <a:r>
              <a:rPr lang="en-US" sz="1200" dirty="0">
                <a:solidFill>
                  <a:srgbClr val="202020"/>
                </a:solidFill>
                <a:latin typeface="Calibri" pitchFamily="34" charset="0"/>
                <a:ea typeface="Calibri" pitchFamily="34" charset="-122"/>
                <a:cs typeface="Calibri" pitchFamily="34" charset="-120"/>
              </a:rPr>
              <a:t>Sergio Felipe  ·  Prueba técnica Data Scientist / Data Analyst Junior  ·  16 de septiembre de 2026</a:t>
            </a:r>
            <a:endParaRPr lang="en-US" sz="1200" dirty="0"/>
          </a:p>
        </p:txBody>
      </p:sp>
      <p:sp>
        <p:nvSpPr>
          <p:cNvPr id="7" name="Text 4"/>
          <p:cNvSpPr txBox="1"/>
          <p:nvPr/>
        </p:nvSpPr>
        <p:spPr>
          <a:xfrm>
            <a:off x="960120" y="4718304"/>
            <a:ext cx="8229600" cy="274320"/>
          </a:xfrm>
          <a:prstGeom prst="rect">
            <a:avLst/>
          </a:prstGeom>
          <a:noFill/>
          <a:ln/>
        </p:spPr>
        <p:txBody>
          <a:bodyPr wrap="square" lIns="0" tIns="0" rIns="0" bIns="0" rtlCol="0" anchor="ctr"/>
          <a:lstStyle/>
          <a:p>
            <a:pPr indent="0" marL="0">
              <a:buNone/>
            </a:pPr>
            <a:r>
              <a:rPr lang="en-US" sz="1100" dirty="0">
                <a:solidFill>
                  <a:srgbClr val="7047EB"/>
                </a:solidFill>
                <a:latin typeface="Calibri" pitchFamily="34" charset="0"/>
                <a:ea typeface="Calibri" pitchFamily="34" charset="-122"/>
                <a:cs typeface="Calibri" pitchFamily="34" charset="-120"/>
              </a:rPr>
              <a:t>github.com/Sergiofbc/Audio-Data-Analysis</a:t>
            </a:r>
            <a:endParaRPr lang="en-US" sz="1100" dirty="0"/>
          </a:p>
        </p:txBody>
      </p:sp>
      <p:sp>
        <p:nvSpPr>
          <p:cNvPr id="8" name="Text 5"/>
          <p:cNvSpPr txBox="1"/>
          <p:nvPr/>
        </p:nvSpPr>
        <p:spPr>
          <a:xfrm>
            <a:off x="685800" y="5285232"/>
            <a:ext cx="1463040" cy="384048"/>
          </a:xfrm>
          <a:prstGeom prst="rect">
            <a:avLst/>
          </a:prstGeom>
          <a:noFill/>
          <a:ln/>
        </p:spPr>
        <p:txBody>
          <a:bodyPr wrap="square" lIns="0" tIns="0" rIns="0" bIns="0" rtlCol="0" anchor="ctr"/>
          <a:lstStyle/>
          <a:p>
            <a:pPr indent="0" marL="0">
              <a:buNone/>
            </a:pPr>
            <a:r>
              <a:rPr lang="en-US" sz="2400" b="1" dirty="0">
                <a:solidFill>
                  <a:srgbClr val="4E2AAE"/>
                </a:solidFill>
                <a:latin typeface="Calibri" pitchFamily="34" charset="0"/>
                <a:ea typeface="Calibri" pitchFamily="34" charset="-122"/>
                <a:cs typeface="Calibri" pitchFamily="34" charset="-120"/>
              </a:rPr>
              <a:t>100</a:t>
            </a:r>
            <a:endParaRPr lang="en-US" sz="2400" dirty="0"/>
          </a:p>
        </p:txBody>
      </p:sp>
      <p:sp>
        <p:nvSpPr>
          <p:cNvPr id="9" name="Text 6"/>
          <p:cNvSpPr txBox="1"/>
          <p:nvPr/>
        </p:nvSpPr>
        <p:spPr>
          <a:xfrm>
            <a:off x="685800" y="5669280"/>
            <a:ext cx="1463040" cy="256032"/>
          </a:xfrm>
          <a:prstGeom prst="rect">
            <a:avLst/>
          </a:prstGeom>
          <a:noFill/>
          <a:ln/>
        </p:spPr>
        <p:txBody>
          <a:bodyPr wrap="square" lIns="0" tIns="0" rIns="0" bIns="0" rtlCol="0" anchor="ctr"/>
          <a:lstStyle/>
          <a:p>
            <a:pPr indent="0" marL="0">
              <a:buNone/>
            </a:pPr>
            <a:r>
              <a:rPr lang="en-US" sz="1100" dirty="0">
                <a:solidFill>
                  <a:srgbClr val="757275"/>
                </a:solidFill>
                <a:latin typeface="Calibri" pitchFamily="34" charset="0"/>
                <a:ea typeface="Calibri" pitchFamily="34" charset="-122"/>
                <a:cs typeface="Calibri" pitchFamily="34" charset="-120"/>
              </a:rPr>
              <a:t>llamadas</a:t>
            </a:r>
            <a:endParaRPr lang="en-US" sz="1100" dirty="0"/>
          </a:p>
        </p:txBody>
      </p:sp>
      <p:sp>
        <p:nvSpPr>
          <p:cNvPr id="10" name="Text 7"/>
          <p:cNvSpPr txBox="1"/>
          <p:nvPr/>
        </p:nvSpPr>
        <p:spPr>
          <a:xfrm>
            <a:off x="2258568" y="5285232"/>
            <a:ext cx="1463040" cy="384048"/>
          </a:xfrm>
          <a:prstGeom prst="rect">
            <a:avLst/>
          </a:prstGeom>
          <a:noFill/>
          <a:ln/>
        </p:spPr>
        <p:txBody>
          <a:bodyPr wrap="square" lIns="0" tIns="0" rIns="0" bIns="0" rtlCol="0" anchor="ctr"/>
          <a:lstStyle/>
          <a:p>
            <a:pPr indent="0" marL="0">
              <a:buNone/>
            </a:pPr>
            <a:r>
              <a:rPr lang="en-US" sz="2400" b="1" dirty="0">
                <a:solidFill>
                  <a:srgbClr val="4E2AAE"/>
                </a:solidFill>
                <a:latin typeface="Calibri" pitchFamily="34" charset="0"/>
                <a:ea typeface="Calibri" pitchFamily="34" charset="-122"/>
                <a:cs typeface="Calibri" pitchFamily="34" charset="-120"/>
              </a:rPr>
              <a:t>6.35 h</a:t>
            </a:r>
            <a:endParaRPr lang="en-US" sz="2400" dirty="0"/>
          </a:p>
        </p:txBody>
      </p:sp>
      <p:sp>
        <p:nvSpPr>
          <p:cNvPr id="11" name="Text 8"/>
          <p:cNvSpPr txBox="1"/>
          <p:nvPr/>
        </p:nvSpPr>
        <p:spPr>
          <a:xfrm>
            <a:off x="2258568" y="5669280"/>
            <a:ext cx="1463040" cy="256032"/>
          </a:xfrm>
          <a:prstGeom prst="rect">
            <a:avLst/>
          </a:prstGeom>
          <a:noFill/>
          <a:ln/>
        </p:spPr>
        <p:txBody>
          <a:bodyPr wrap="square" lIns="0" tIns="0" rIns="0" bIns="0" rtlCol="0" anchor="ctr"/>
          <a:lstStyle/>
          <a:p>
            <a:pPr indent="0" marL="0">
              <a:buNone/>
            </a:pPr>
            <a:r>
              <a:rPr lang="en-US" sz="1100" dirty="0">
                <a:solidFill>
                  <a:srgbClr val="757275"/>
                </a:solidFill>
                <a:latin typeface="Calibri" pitchFamily="34" charset="0"/>
                <a:ea typeface="Calibri" pitchFamily="34" charset="-122"/>
                <a:cs typeface="Calibri" pitchFamily="34" charset="-120"/>
              </a:rPr>
              <a:t>de audio</a:t>
            </a:r>
            <a:endParaRPr lang="en-US" sz="1100" dirty="0"/>
          </a:p>
        </p:txBody>
      </p:sp>
      <p:sp>
        <p:nvSpPr>
          <p:cNvPr id="12" name="Text 9"/>
          <p:cNvSpPr txBox="1"/>
          <p:nvPr/>
        </p:nvSpPr>
        <p:spPr>
          <a:xfrm>
            <a:off x="3831336" y="5285232"/>
            <a:ext cx="1463040" cy="384048"/>
          </a:xfrm>
          <a:prstGeom prst="rect">
            <a:avLst/>
          </a:prstGeom>
          <a:noFill/>
          <a:ln/>
        </p:spPr>
        <p:txBody>
          <a:bodyPr wrap="square" lIns="0" tIns="0" rIns="0" bIns="0" rtlCol="0" anchor="ctr"/>
          <a:lstStyle/>
          <a:p>
            <a:pPr indent="0" marL="0">
              <a:buNone/>
            </a:pPr>
            <a:r>
              <a:rPr lang="en-US" sz="2400" b="1" dirty="0">
                <a:solidFill>
                  <a:srgbClr val="4E2AAE"/>
                </a:solidFill>
                <a:latin typeface="Calibri" pitchFamily="34" charset="0"/>
                <a:ea typeface="Calibri" pitchFamily="34" charset="-122"/>
                <a:cs typeface="Calibri" pitchFamily="34" charset="-120"/>
              </a:rPr>
              <a:t>28</a:t>
            </a:r>
            <a:endParaRPr lang="en-US" sz="2400" dirty="0"/>
          </a:p>
        </p:txBody>
      </p:sp>
      <p:sp>
        <p:nvSpPr>
          <p:cNvPr id="13" name="Text 10"/>
          <p:cNvSpPr txBox="1"/>
          <p:nvPr/>
        </p:nvSpPr>
        <p:spPr>
          <a:xfrm>
            <a:off x="3831336" y="5669280"/>
            <a:ext cx="1463040" cy="256032"/>
          </a:xfrm>
          <a:prstGeom prst="rect">
            <a:avLst/>
          </a:prstGeom>
          <a:noFill/>
          <a:ln/>
        </p:spPr>
        <p:txBody>
          <a:bodyPr wrap="square" lIns="0" tIns="0" rIns="0" bIns="0" rtlCol="0" anchor="ctr"/>
          <a:lstStyle/>
          <a:p>
            <a:pPr indent="0" marL="0">
              <a:buNone/>
            </a:pPr>
            <a:r>
              <a:rPr lang="en-US" sz="1100" dirty="0">
                <a:solidFill>
                  <a:srgbClr val="757275"/>
                </a:solidFill>
                <a:latin typeface="Calibri" pitchFamily="34" charset="0"/>
                <a:ea typeface="Calibri" pitchFamily="34" charset="-122"/>
                <a:cs typeface="Calibri" pitchFamily="34" charset="-120"/>
              </a:rPr>
              <a:t>variables</a:t>
            </a:r>
            <a:endParaRPr lang="en-US" sz="1100" dirty="0"/>
          </a:p>
        </p:txBody>
      </p:sp>
      <p:sp>
        <p:nvSpPr>
          <p:cNvPr id="14" name="Text 11"/>
          <p:cNvSpPr txBox="1"/>
          <p:nvPr/>
        </p:nvSpPr>
        <p:spPr>
          <a:xfrm>
            <a:off x="5404104" y="5285232"/>
            <a:ext cx="1463040" cy="384048"/>
          </a:xfrm>
          <a:prstGeom prst="rect">
            <a:avLst/>
          </a:prstGeom>
          <a:noFill/>
          <a:ln/>
        </p:spPr>
        <p:txBody>
          <a:bodyPr wrap="square" lIns="0" tIns="0" rIns="0" bIns="0" rtlCol="0" anchor="ctr"/>
          <a:lstStyle/>
          <a:p>
            <a:pPr indent="0" marL="0">
              <a:buNone/>
            </a:pPr>
            <a:r>
              <a:rPr lang="en-US" sz="2400" b="1" dirty="0">
                <a:solidFill>
                  <a:srgbClr val="4E2AAE"/>
                </a:solidFill>
                <a:latin typeface="Calibri" pitchFamily="34" charset="0"/>
                <a:ea typeface="Calibri" pitchFamily="34" charset="-122"/>
                <a:cs typeface="Calibri" pitchFamily="34" charset="-120"/>
              </a:rPr>
              <a:t>5</a:t>
            </a:r>
            <a:endParaRPr lang="en-US" sz="2400" dirty="0"/>
          </a:p>
        </p:txBody>
      </p:sp>
      <p:sp>
        <p:nvSpPr>
          <p:cNvPr id="15" name="Text 12"/>
          <p:cNvSpPr txBox="1"/>
          <p:nvPr/>
        </p:nvSpPr>
        <p:spPr>
          <a:xfrm>
            <a:off x="5404104" y="5669280"/>
            <a:ext cx="1463040" cy="256032"/>
          </a:xfrm>
          <a:prstGeom prst="rect">
            <a:avLst/>
          </a:prstGeom>
          <a:noFill/>
          <a:ln/>
        </p:spPr>
        <p:txBody>
          <a:bodyPr wrap="square" lIns="0" tIns="0" rIns="0" bIns="0" rtlCol="0" anchor="ctr"/>
          <a:lstStyle/>
          <a:p>
            <a:pPr indent="0" marL="0">
              <a:buNone/>
            </a:pPr>
            <a:r>
              <a:rPr lang="en-US" sz="1100" dirty="0">
                <a:solidFill>
                  <a:srgbClr val="757275"/>
                </a:solidFill>
                <a:latin typeface="Calibri" pitchFamily="34" charset="0"/>
                <a:ea typeface="Calibri" pitchFamily="34" charset="-122"/>
                <a:cs typeface="Calibri" pitchFamily="34" charset="-120"/>
              </a:rPr>
              <a:t>capas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F26ECF"/>
                </a:solidFill>
                <a:latin typeface="Calibri" pitchFamily="34" charset="0"/>
                <a:ea typeface="Calibri" pitchFamily="34" charset="-122"/>
                <a:cs typeface="Calibri" pitchFamily="34" charset="-120"/>
              </a:rPr>
              <a:t>CONTEXTO</a:t>
            </a:r>
            <a:endParaRPr lang="en-US" sz="1100" dirty="0"/>
          </a:p>
        </p:txBody>
      </p:sp>
      <p:sp>
        <p:nvSpPr>
          <p:cNvPr id="3" name="Text 1"/>
          <p:cNvSpPr txBox="1"/>
          <p:nvPr/>
        </p:nvSpPr>
        <p:spPr>
          <a:xfrm>
            <a:off x="685800" y="676656"/>
            <a:ext cx="10789920" cy="749808"/>
          </a:xfrm>
          <a:prstGeom prst="rect">
            <a:avLst/>
          </a:prstGeom>
          <a:noFill/>
          <a:ln/>
        </p:spPr>
        <p:txBody>
          <a:bodyPr wrap="square" lIns="0" tIns="0" rIns="0" bIns="0" rtlCol="0" anchor="ctr"/>
          <a:lstStyle/>
          <a:p>
            <a:pPr indent="0" marL="0">
              <a:buNone/>
            </a:pPr>
            <a:r>
              <a:rPr lang="en-US" sz="3200" b="1" dirty="0">
                <a:solidFill>
                  <a:srgbClr val="202020"/>
                </a:solidFill>
                <a:latin typeface="Cambria" pitchFamily="34" charset="0"/>
                <a:ea typeface="Cambria" pitchFamily="34" charset="-122"/>
                <a:cs typeface="Cambria" pitchFamily="34" charset="-120"/>
              </a:rPr>
              <a:t>Dos formas de hacer el mismo trabajo</a:t>
            </a:r>
            <a:endParaRPr lang="en-US" sz="3200" dirty="0"/>
          </a:p>
        </p:txBody>
      </p:sp>
      <p:sp>
        <p:nvSpPr>
          <p:cNvPr id="4" name="Text 2"/>
          <p:cNvSpPr txBox="1"/>
          <p:nvPr/>
        </p:nvSpPr>
        <p:spPr>
          <a:xfrm>
            <a:off x="685800" y="1572768"/>
            <a:ext cx="5577840" cy="2286000"/>
          </a:xfrm>
          <a:prstGeom prst="rect">
            <a:avLst/>
          </a:prstGeom>
          <a:noFill/>
          <a:ln/>
        </p:spPr>
        <p:txBody>
          <a:bodyPr wrap="square" lIns="0" tIns="0" rIns="0" bIns="0" rtlCol="0" anchor="ctr"/>
          <a:lstStyle/>
          <a:p>
            <a:pPr indent="0" marL="0">
              <a:lnSpc>
                <a:spcPts val="2100"/>
              </a:lnSpc>
              <a:buNone/>
            </a:pPr>
            <a:r>
              <a:rPr lang="en-US" sz="1400" dirty="0">
                <a:solidFill>
                  <a:srgbClr val="202020"/>
                </a:solidFill>
                <a:latin typeface="Calibri" pitchFamily="34" charset="0"/>
                <a:ea typeface="Calibri" pitchFamily="34" charset="-122"/>
                <a:cs typeface="Calibri" pitchFamily="34" charset="-120"/>
              </a:rPr>
              <a:t>La operación de cobranza convive hoy con dos modalidades: agentes humanos que llaman al cliente y agentes de IA que ejecutan el mismo tipo de gestión. De ambas quedan grabaciones.</a:t>
            </a:r>
            <a:endParaRPr lang="en-US" sz="1400" dirty="0"/>
          </a:p>
          <a:p>
            <a:pPr indent="0" marL="0">
              <a:lnSpc>
                <a:spcPts val="2100"/>
              </a:lnSpc>
              <a:buNone/>
            </a:pPr>
            <a:endParaRPr lang="en-US" sz="1400" dirty="0"/>
          </a:p>
          <a:p>
            <a:pPr indent="0" marL="0">
              <a:lnSpc>
                <a:spcPts val="2100"/>
              </a:lnSpc>
              <a:buNone/>
            </a:pPr>
            <a:r>
              <a:rPr lang="en-US" sz="1400" dirty="0">
                <a:solidFill>
                  <a:srgbClr val="202020"/>
                </a:solidFill>
                <a:latin typeface="Calibri" pitchFamily="34" charset="0"/>
                <a:ea typeface="Calibri" pitchFamily="34" charset="-122"/>
                <a:cs typeface="Calibri" pitchFamily="34" charset="-120"/>
              </a:rPr>
              <a:t>Esas grabaciones son el único registro de lo que realmente pasa en la llamada: qué se ofrece, qué objeta el cliente, cómo termina. Nada de eso está estructurado en ningún sistema.</a:t>
            </a:r>
            <a:endParaRPr lang="en-US" sz="1400" dirty="0"/>
          </a:p>
        </p:txBody>
      </p:sp>
      <p:sp>
        <p:nvSpPr>
          <p:cNvPr id="5" name="Shape 3"/>
          <p:cNvSpPr/>
          <p:nvPr/>
        </p:nvSpPr>
        <p:spPr>
          <a:xfrm>
            <a:off x="6675120" y="1481328"/>
            <a:ext cx="4800600" cy="3977640"/>
          </a:xfrm>
          <a:prstGeom prst="roundRect">
            <a:avLst>
              <a:gd name="adj" fmla="val 2759"/>
            </a:avLst>
          </a:prstGeom>
          <a:solidFill>
            <a:srgbClr val="FDEDF9"/>
          </a:solidFill>
          <a:ln/>
        </p:spPr>
      </p:sp>
      <p:sp>
        <p:nvSpPr>
          <p:cNvPr id="6" name="Shape 4"/>
          <p:cNvSpPr/>
          <p:nvPr/>
        </p:nvSpPr>
        <p:spPr>
          <a:xfrm>
            <a:off x="7086600" y="1874520"/>
            <a:ext cx="274320" cy="274320"/>
          </a:xfrm>
          <a:prstGeom prst="ellipse">
            <a:avLst/>
          </a:prstGeom>
          <a:solidFill>
            <a:srgbClr val="7047EB"/>
          </a:solidFill>
          <a:ln/>
        </p:spPr>
      </p:sp>
      <p:sp>
        <p:nvSpPr>
          <p:cNvPr id="7" name="Text 5"/>
          <p:cNvSpPr txBox="1"/>
          <p:nvPr/>
        </p:nvSpPr>
        <p:spPr>
          <a:xfrm>
            <a:off x="7543800" y="1801368"/>
            <a:ext cx="3566160" cy="274320"/>
          </a:xfrm>
          <a:prstGeom prst="rect">
            <a:avLst/>
          </a:prstGeom>
          <a:noFill/>
          <a:ln/>
        </p:spPr>
        <p:txBody>
          <a:bodyPr wrap="square" lIns="0" tIns="0" rIns="0" bIns="0" rtlCol="0" anchor="ctr"/>
          <a:lstStyle/>
          <a:p>
            <a:pPr indent="0" marL="0">
              <a:buNone/>
            </a:pPr>
            <a:r>
              <a:rPr lang="en-US" sz="1400" b="1" dirty="0">
                <a:solidFill>
                  <a:srgbClr val="202020"/>
                </a:solidFill>
                <a:latin typeface="Calibri" pitchFamily="34" charset="0"/>
                <a:ea typeface="Calibri" pitchFamily="34" charset="-122"/>
                <a:cs typeface="Calibri" pitchFamily="34" charset="-120"/>
              </a:rPr>
              <a:t>Llamadas grabadas</a:t>
            </a:r>
            <a:endParaRPr lang="en-US" sz="1400" dirty="0"/>
          </a:p>
        </p:txBody>
      </p:sp>
      <p:sp>
        <p:nvSpPr>
          <p:cNvPr id="8" name="Text 6"/>
          <p:cNvSpPr txBox="1"/>
          <p:nvPr/>
        </p:nvSpPr>
        <p:spPr>
          <a:xfrm>
            <a:off x="7543800" y="2066544"/>
            <a:ext cx="3566160" cy="256032"/>
          </a:xfrm>
          <a:prstGeom prst="rect">
            <a:avLst/>
          </a:prstGeom>
          <a:noFill/>
          <a:ln/>
        </p:spPr>
        <p:txBody>
          <a:bodyPr wrap="square" lIns="0" tIns="0" rIns="0" bIns="0" rtlCol="0" anchor="ctr"/>
          <a:lstStyle/>
          <a:p>
            <a:pPr indent="0" marL="0">
              <a:buNone/>
            </a:pPr>
            <a:r>
              <a:rPr lang="en-US" sz="1100" dirty="0">
                <a:solidFill>
                  <a:srgbClr val="757275"/>
                </a:solidFill>
                <a:latin typeface="Calibri" pitchFamily="34" charset="0"/>
                <a:ea typeface="Calibri" pitchFamily="34" charset="-122"/>
                <a:cs typeface="Calibri" pitchFamily="34" charset="-120"/>
              </a:rPr>
              <a:t>50 humanas · 50 de IA</a:t>
            </a:r>
            <a:endParaRPr lang="en-US" sz="1100" dirty="0"/>
          </a:p>
        </p:txBody>
      </p:sp>
      <p:sp>
        <p:nvSpPr>
          <p:cNvPr id="9" name="Shape 7"/>
          <p:cNvSpPr/>
          <p:nvPr/>
        </p:nvSpPr>
        <p:spPr>
          <a:xfrm>
            <a:off x="7214616" y="2203704"/>
            <a:ext cx="18288" cy="457200"/>
          </a:xfrm>
          <a:prstGeom prst="rect">
            <a:avLst/>
          </a:prstGeom>
          <a:solidFill>
            <a:srgbClr val="F9BCE8"/>
          </a:solidFill>
          <a:ln/>
        </p:spPr>
      </p:sp>
      <p:sp>
        <p:nvSpPr>
          <p:cNvPr id="10" name="Shape 8"/>
          <p:cNvSpPr/>
          <p:nvPr/>
        </p:nvSpPr>
        <p:spPr>
          <a:xfrm>
            <a:off x="7086600" y="2788920"/>
            <a:ext cx="274320" cy="274320"/>
          </a:xfrm>
          <a:prstGeom prst="ellipse">
            <a:avLst/>
          </a:prstGeom>
          <a:solidFill>
            <a:srgbClr val="7047EB"/>
          </a:solidFill>
          <a:ln/>
        </p:spPr>
      </p:sp>
      <p:sp>
        <p:nvSpPr>
          <p:cNvPr id="11" name="Text 9"/>
          <p:cNvSpPr txBox="1"/>
          <p:nvPr/>
        </p:nvSpPr>
        <p:spPr>
          <a:xfrm>
            <a:off x="7543800" y="2715768"/>
            <a:ext cx="3566160" cy="274320"/>
          </a:xfrm>
          <a:prstGeom prst="rect">
            <a:avLst/>
          </a:prstGeom>
          <a:noFill/>
          <a:ln/>
        </p:spPr>
        <p:txBody>
          <a:bodyPr wrap="square" lIns="0" tIns="0" rIns="0" bIns="0" rtlCol="0" anchor="ctr"/>
          <a:lstStyle/>
          <a:p>
            <a:pPr indent="0" marL="0">
              <a:buNone/>
            </a:pPr>
            <a:r>
              <a:rPr lang="en-US" sz="1400" b="1" dirty="0">
                <a:solidFill>
                  <a:srgbClr val="202020"/>
                </a:solidFill>
                <a:latin typeface="Calibri" pitchFamily="34" charset="0"/>
                <a:ea typeface="Calibri" pitchFamily="34" charset="-122"/>
                <a:cs typeface="Calibri" pitchFamily="34" charset="-120"/>
              </a:rPr>
              <a:t>Audio crudo</a:t>
            </a:r>
            <a:endParaRPr lang="en-US" sz="1400" dirty="0"/>
          </a:p>
        </p:txBody>
      </p:sp>
      <p:sp>
        <p:nvSpPr>
          <p:cNvPr id="12" name="Text 10"/>
          <p:cNvSpPr txBox="1"/>
          <p:nvPr/>
        </p:nvSpPr>
        <p:spPr>
          <a:xfrm>
            <a:off x="7543800" y="2980944"/>
            <a:ext cx="3566160" cy="256032"/>
          </a:xfrm>
          <a:prstGeom prst="rect">
            <a:avLst/>
          </a:prstGeom>
          <a:noFill/>
          <a:ln/>
        </p:spPr>
        <p:txBody>
          <a:bodyPr wrap="square" lIns="0" tIns="0" rIns="0" bIns="0" rtlCol="0" anchor="ctr"/>
          <a:lstStyle/>
          <a:p>
            <a:pPr indent="0" marL="0">
              <a:buNone/>
            </a:pPr>
            <a:r>
              <a:rPr lang="en-US" sz="1100" dirty="0">
                <a:solidFill>
                  <a:srgbClr val="757275"/>
                </a:solidFill>
                <a:latin typeface="Calibri" pitchFamily="34" charset="0"/>
                <a:ea typeface="Calibri" pitchFamily="34" charset="-122"/>
                <a:cs typeface="Calibri" pitchFamily="34" charset="-120"/>
              </a:rPr>
              <a:t>sin transcribir, sin etiquetar</a:t>
            </a:r>
            <a:endParaRPr lang="en-US" sz="1100" dirty="0"/>
          </a:p>
        </p:txBody>
      </p:sp>
      <p:sp>
        <p:nvSpPr>
          <p:cNvPr id="13" name="Shape 11"/>
          <p:cNvSpPr/>
          <p:nvPr/>
        </p:nvSpPr>
        <p:spPr>
          <a:xfrm>
            <a:off x="7214616" y="3118104"/>
            <a:ext cx="18288" cy="457200"/>
          </a:xfrm>
          <a:prstGeom prst="rect">
            <a:avLst/>
          </a:prstGeom>
          <a:solidFill>
            <a:srgbClr val="F9BCE8"/>
          </a:solidFill>
          <a:ln/>
        </p:spPr>
      </p:sp>
      <p:sp>
        <p:nvSpPr>
          <p:cNvPr id="14" name="Shape 12"/>
          <p:cNvSpPr/>
          <p:nvPr/>
        </p:nvSpPr>
        <p:spPr>
          <a:xfrm>
            <a:off x="7086600" y="3703320"/>
            <a:ext cx="274320" cy="274320"/>
          </a:xfrm>
          <a:prstGeom prst="ellipse">
            <a:avLst/>
          </a:prstGeom>
          <a:solidFill>
            <a:srgbClr val="4E2AAE"/>
          </a:solidFill>
          <a:ln/>
        </p:spPr>
      </p:sp>
      <p:sp>
        <p:nvSpPr>
          <p:cNvPr id="15" name="Text 13"/>
          <p:cNvSpPr txBox="1"/>
          <p:nvPr/>
        </p:nvSpPr>
        <p:spPr>
          <a:xfrm>
            <a:off x="7543800" y="3630168"/>
            <a:ext cx="3566160" cy="274320"/>
          </a:xfrm>
          <a:prstGeom prst="rect">
            <a:avLst/>
          </a:prstGeom>
          <a:noFill/>
          <a:ln/>
        </p:spPr>
        <p:txBody>
          <a:bodyPr wrap="square" lIns="0" tIns="0" rIns="0" bIns="0" rtlCol="0" anchor="ctr"/>
          <a:lstStyle/>
          <a:p>
            <a:pPr indent="0" marL="0">
              <a:buNone/>
            </a:pPr>
            <a:r>
              <a:rPr lang="en-US" sz="1400" b="1" dirty="0">
                <a:solidFill>
                  <a:srgbClr val="202020"/>
                </a:solidFill>
                <a:latin typeface="Calibri" pitchFamily="34" charset="0"/>
                <a:ea typeface="Calibri" pitchFamily="34" charset="-122"/>
                <a:cs typeface="Calibri" pitchFamily="34" charset="-120"/>
              </a:rPr>
              <a:t>Dataset estructurado</a:t>
            </a:r>
            <a:endParaRPr lang="en-US" sz="1400" dirty="0"/>
          </a:p>
        </p:txBody>
      </p:sp>
      <p:sp>
        <p:nvSpPr>
          <p:cNvPr id="16" name="Text 14"/>
          <p:cNvSpPr txBox="1"/>
          <p:nvPr/>
        </p:nvSpPr>
        <p:spPr>
          <a:xfrm>
            <a:off x="7543800" y="3895344"/>
            <a:ext cx="3566160" cy="256032"/>
          </a:xfrm>
          <a:prstGeom prst="rect">
            <a:avLst/>
          </a:prstGeom>
          <a:noFill/>
          <a:ln/>
        </p:spPr>
        <p:txBody>
          <a:bodyPr wrap="square" lIns="0" tIns="0" rIns="0" bIns="0" rtlCol="0" anchor="ctr"/>
          <a:lstStyle/>
          <a:p>
            <a:pPr indent="0" marL="0">
              <a:buNone/>
            </a:pPr>
            <a:r>
              <a:rPr lang="en-US" sz="1100" dirty="0">
                <a:solidFill>
                  <a:srgbClr val="757275"/>
                </a:solidFill>
                <a:latin typeface="Calibri" pitchFamily="34" charset="0"/>
                <a:ea typeface="Calibri" pitchFamily="34" charset="-122"/>
                <a:cs typeface="Calibri" pitchFamily="34" charset="-120"/>
              </a:rPr>
              <a:t>28 variables por llamada</a:t>
            </a:r>
            <a:endParaRPr lang="en-US" sz="1100" dirty="0"/>
          </a:p>
        </p:txBody>
      </p:sp>
      <p:sp>
        <p:nvSpPr>
          <p:cNvPr id="17" name="Shape 15"/>
          <p:cNvSpPr/>
          <p:nvPr/>
        </p:nvSpPr>
        <p:spPr>
          <a:xfrm>
            <a:off x="7214616" y="4032504"/>
            <a:ext cx="18288" cy="457200"/>
          </a:xfrm>
          <a:prstGeom prst="rect">
            <a:avLst/>
          </a:prstGeom>
          <a:solidFill>
            <a:srgbClr val="F9BCE8"/>
          </a:solidFill>
          <a:ln/>
        </p:spPr>
      </p:sp>
      <p:sp>
        <p:nvSpPr>
          <p:cNvPr id="18" name="Shape 16"/>
          <p:cNvSpPr/>
          <p:nvPr/>
        </p:nvSpPr>
        <p:spPr>
          <a:xfrm>
            <a:off x="7086600" y="4617720"/>
            <a:ext cx="274320" cy="274320"/>
          </a:xfrm>
          <a:prstGeom prst="ellipse">
            <a:avLst/>
          </a:prstGeom>
          <a:solidFill>
            <a:srgbClr val="F26ECF"/>
          </a:solidFill>
          <a:ln/>
        </p:spPr>
      </p:sp>
      <p:sp>
        <p:nvSpPr>
          <p:cNvPr id="19" name="Text 17"/>
          <p:cNvSpPr txBox="1"/>
          <p:nvPr/>
        </p:nvSpPr>
        <p:spPr>
          <a:xfrm>
            <a:off x="7543800" y="4544568"/>
            <a:ext cx="3566160" cy="274320"/>
          </a:xfrm>
          <a:prstGeom prst="rect">
            <a:avLst/>
          </a:prstGeom>
          <a:noFill/>
          <a:ln/>
        </p:spPr>
        <p:txBody>
          <a:bodyPr wrap="square" lIns="0" tIns="0" rIns="0" bIns="0" rtlCol="0" anchor="ctr"/>
          <a:lstStyle/>
          <a:p>
            <a:pPr indent="0" marL="0">
              <a:buNone/>
            </a:pPr>
            <a:r>
              <a:rPr lang="en-US" sz="1400" b="1" dirty="0">
                <a:solidFill>
                  <a:srgbClr val="202020"/>
                </a:solidFill>
                <a:latin typeface="Calibri" pitchFamily="34" charset="0"/>
                <a:ea typeface="Calibri" pitchFamily="34" charset="-122"/>
                <a:cs typeface="Calibri" pitchFamily="34" charset="-120"/>
              </a:rPr>
              <a:t>Evidencia de negocio</a:t>
            </a:r>
            <a:endParaRPr lang="en-US" sz="1400" dirty="0"/>
          </a:p>
        </p:txBody>
      </p:sp>
      <p:sp>
        <p:nvSpPr>
          <p:cNvPr id="20" name="Text 18"/>
          <p:cNvSpPr txBox="1"/>
          <p:nvPr/>
        </p:nvSpPr>
        <p:spPr>
          <a:xfrm>
            <a:off x="7543800" y="4809744"/>
            <a:ext cx="3566160" cy="256032"/>
          </a:xfrm>
          <a:prstGeom prst="rect">
            <a:avLst/>
          </a:prstGeom>
          <a:noFill/>
          <a:ln/>
        </p:spPr>
        <p:txBody>
          <a:bodyPr wrap="square" lIns="0" tIns="0" rIns="0" bIns="0" rtlCol="0" anchor="ctr"/>
          <a:lstStyle/>
          <a:p>
            <a:pPr indent="0" marL="0">
              <a:buNone/>
            </a:pPr>
            <a:r>
              <a:rPr lang="en-US" sz="1100" dirty="0">
                <a:solidFill>
                  <a:srgbClr val="757275"/>
                </a:solidFill>
                <a:latin typeface="Calibri" pitchFamily="34" charset="0"/>
                <a:ea typeface="Calibri" pitchFamily="34" charset="-122"/>
                <a:cs typeface="Calibri" pitchFamily="34" charset="-120"/>
              </a:rPr>
              <a:t>para decidir sobre automatización</a:t>
            </a:r>
            <a:endParaRPr lang="en-US" sz="1100" dirty="0"/>
          </a:p>
        </p:txBody>
      </p:sp>
      <p:sp>
        <p:nvSpPr>
          <p:cNvPr id="21" name="Text 19"/>
          <p:cNvSpPr txBox="1"/>
          <p:nvPr/>
        </p:nvSpPr>
        <p:spPr>
          <a:xfrm>
            <a:off x="685800" y="6327648"/>
            <a:ext cx="10789920" cy="274320"/>
          </a:xfrm>
          <a:prstGeom prst="rect">
            <a:avLst/>
          </a:prstGeom>
          <a:noFill/>
          <a:ln/>
        </p:spPr>
        <p:txBody>
          <a:bodyPr wrap="square" lIns="0" tIns="0" rIns="0" bIns="0" rtlCol="0" anchor="ctr"/>
          <a:lstStyle/>
          <a:p>
            <a:pPr indent="0" marL="0">
              <a:buNone/>
            </a:pPr>
            <a:r>
              <a:rPr lang="en-US" sz="950" i="1" dirty="0">
                <a:solidFill>
                  <a:srgbClr val="757275"/>
                </a:solidFill>
                <a:latin typeface="Calibri" pitchFamily="34" charset="0"/>
                <a:ea typeface="Calibri" pitchFamily="34" charset="-122"/>
                <a:cs typeface="Calibri" pitchFamily="34" charset="-120"/>
              </a:rPr>
              <a:t>El análisis convierte conversación en datos; la decisión de negocio se toma sobre esos datos, no sobre impresiones.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E2AAE"/>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F9BCE8"/>
                </a:solidFill>
                <a:latin typeface="Calibri" pitchFamily="34" charset="0"/>
                <a:ea typeface="Calibri" pitchFamily="34" charset="-122"/>
                <a:cs typeface="Calibri" pitchFamily="34" charset="-120"/>
              </a:rPr>
              <a:t>PROBLEMA DE NEGOCIO</a:t>
            </a:r>
            <a:endParaRPr lang="en-US" sz="1100" dirty="0"/>
          </a:p>
        </p:txBody>
      </p:sp>
      <p:sp>
        <p:nvSpPr>
          <p:cNvPr id="3" name="Text 1"/>
          <p:cNvSpPr txBox="1"/>
          <p:nvPr/>
        </p:nvSpPr>
        <p:spPr>
          <a:xfrm>
            <a:off x="685800" y="676656"/>
            <a:ext cx="10789920" cy="74980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La pregunta que hay que responder</a:t>
            </a:r>
            <a:endParaRPr lang="en-US" sz="3200" dirty="0"/>
          </a:p>
        </p:txBody>
      </p:sp>
      <p:sp>
        <p:nvSpPr>
          <p:cNvPr id="4" name="Shape 2"/>
          <p:cNvSpPr/>
          <p:nvPr/>
        </p:nvSpPr>
        <p:spPr>
          <a:xfrm>
            <a:off x="685800" y="1664208"/>
            <a:ext cx="10789920" cy="1234440"/>
          </a:xfrm>
          <a:prstGeom prst="roundRect">
            <a:avLst>
              <a:gd name="adj" fmla="val 8889"/>
            </a:avLst>
          </a:prstGeom>
          <a:solidFill>
            <a:srgbClr val="5C3BC4"/>
          </a:solidFill>
          <a:ln/>
        </p:spPr>
      </p:sp>
      <p:sp>
        <p:nvSpPr>
          <p:cNvPr id="5" name="Text 3"/>
          <p:cNvSpPr txBox="1"/>
          <p:nvPr/>
        </p:nvSpPr>
        <p:spPr>
          <a:xfrm>
            <a:off x="1097280" y="1828800"/>
            <a:ext cx="9966960" cy="914400"/>
          </a:xfrm>
          <a:prstGeom prst="rect">
            <a:avLst/>
          </a:prstGeom>
          <a:noFill/>
          <a:ln/>
        </p:spPr>
        <p:txBody>
          <a:bodyPr wrap="square" lIns="0" tIns="0" rIns="0" bIns="0" rtlCol="0" anchor="ctr"/>
          <a:lstStyle/>
          <a:p>
            <a:pPr indent="0" marL="0">
              <a:lnSpc>
                <a:spcPts val="2700"/>
              </a:lnSpc>
              <a:buNone/>
            </a:pPr>
            <a:r>
              <a:rPr lang="en-US" sz="1900" i="1" dirty="0">
                <a:solidFill>
                  <a:srgbClr val="FFFFFF"/>
                </a:solidFill>
                <a:latin typeface="Cambria" pitchFamily="34" charset="0"/>
                <a:ea typeface="Cambria" pitchFamily="34" charset="-122"/>
                <a:cs typeface="Cambria" pitchFamily="34" charset="-120"/>
              </a:rPr>
              <a:t>¿Puede la información contenida en las conversaciones permitirnos evaluar la viabilidad de automatizar parte de la gestión de cobranza que hoy realizan agentes humanos?</a:t>
            </a:r>
            <a:endParaRPr lang="en-US" sz="1900" dirty="0"/>
          </a:p>
        </p:txBody>
      </p:sp>
      <p:sp>
        <p:nvSpPr>
          <p:cNvPr id="6" name="Text 4"/>
          <p:cNvSpPr txBox="1"/>
          <p:nvPr/>
        </p:nvSpPr>
        <p:spPr>
          <a:xfrm>
            <a:off x="685800" y="3172968"/>
            <a:ext cx="4572000" cy="292608"/>
          </a:xfrm>
          <a:prstGeom prst="rect">
            <a:avLst/>
          </a:prstGeom>
          <a:noFill/>
          <a:ln/>
        </p:spPr>
        <p:txBody>
          <a:bodyPr wrap="square" lIns="0" tIns="0" rIns="0" bIns="0" rtlCol="0" anchor="ctr"/>
          <a:lstStyle/>
          <a:p>
            <a:pPr indent="0" marL="0">
              <a:buNone/>
            </a:pPr>
            <a:r>
              <a:rPr lang="en-US" sz="1300" b="1" dirty="0">
                <a:solidFill>
                  <a:srgbClr val="F9BCE8"/>
                </a:solidFill>
                <a:latin typeface="Calibri" pitchFamily="34" charset="0"/>
                <a:ea typeface="Calibri" pitchFamily="34" charset="-122"/>
                <a:cs typeface="Calibri" pitchFamily="34" charset="-120"/>
              </a:rPr>
              <a:t>Preguntas de partida</a:t>
            </a:r>
            <a:endParaRPr lang="en-US" sz="1300" dirty="0"/>
          </a:p>
        </p:txBody>
      </p:sp>
      <p:sp>
        <p:nvSpPr>
          <p:cNvPr id="7" name="Shape 5"/>
          <p:cNvSpPr/>
          <p:nvPr/>
        </p:nvSpPr>
        <p:spPr>
          <a:xfrm>
            <a:off x="731520" y="3639312"/>
            <a:ext cx="109728" cy="109728"/>
          </a:xfrm>
          <a:prstGeom prst="ellipse">
            <a:avLst/>
          </a:prstGeom>
          <a:solidFill>
            <a:srgbClr val="F26ECF"/>
          </a:solidFill>
          <a:ln/>
        </p:spPr>
      </p:sp>
      <p:sp>
        <p:nvSpPr>
          <p:cNvPr id="8" name="Text 6"/>
          <p:cNvSpPr txBox="1"/>
          <p:nvPr/>
        </p:nvSpPr>
        <p:spPr>
          <a:xfrm>
            <a:off x="1069848" y="3547872"/>
            <a:ext cx="10058400"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¿Qué caracteriza a una gestión exitosa?</a:t>
            </a:r>
            <a:endParaRPr lang="en-US" sz="1400" dirty="0"/>
          </a:p>
        </p:txBody>
      </p:sp>
      <p:sp>
        <p:nvSpPr>
          <p:cNvPr id="9" name="Shape 7"/>
          <p:cNvSpPr/>
          <p:nvPr/>
        </p:nvSpPr>
        <p:spPr>
          <a:xfrm>
            <a:off x="731520" y="4096512"/>
            <a:ext cx="109728" cy="109728"/>
          </a:xfrm>
          <a:prstGeom prst="ellipse">
            <a:avLst/>
          </a:prstGeom>
          <a:solidFill>
            <a:srgbClr val="F26ECF"/>
          </a:solidFill>
          <a:ln/>
        </p:spPr>
      </p:sp>
      <p:sp>
        <p:nvSpPr>
          <p:cNvPr id="10" name="Text 8"/>
          <p:cNvSpPr txBox="1"/>
          <p:nvPr/>
        </p:nvSpPr>
        <p:spPr>
          <a:xfrm>
            <a:off x="1069848" y="4005072"/>
            <a:ext cx="10058400"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¿Qué variables se pueden extraer de una conversación?</a:t>
            </a:r>
            <a:endParaRPr lang="en-US" sz="1400" dirty="0"/>
          </a:p>
        </p:txBody>
      </p:sp>
      <p:sp>
        <p:nvSpPr>
          <p:cNvPr id="11" name="Shape 9"/>
          <p:cNvSpPr/>
          <p:nvPr/>
        </p:nvSpPr>
        <p:spPr>
          <a:xfrm>
            <a:off x="731520" y="4553712"/>
            <a:ext cx="109728" cy="109728"/>
          </a:xfrm>
          <a:prstGeom prst="ellipse">
            <a:avLst/>
          </a:prstGeom>
          <a:solidFill>
            <a:srgbClr val="F26ECF"/>
          </a:solidFill>
          <a:ln/>
        </p:spPr>
      </p:sp>
      <p:sp>
        <p:nvSpPr>
          <p:cNvPr id="12" name="Text 10"/>
          <p:cNvSpPr txBox="1"/>
          <p:nvPr/>
        </p:nvSpPr>
        <p:spPr>
          <a:xfrm>
            <a:off x="1069848" y="4462272"/>
            <a:ext cx="10058400"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¿Existen diferencias reales entre ambos grupos?</a:t>
            </a:r>
            <a:endParaRPr lang="en-US" sz="1400" dirty="0"/>
          </a:p>
        </p:txBody>
      </p:sp>
      <p:sp>
        <p:nvSpPr>
          <p:cNvPr id="13" name="Shape 11"/>
          <p:cNvSpPr/>
          <p:nvPr/>
        </p:nvSpPr>
        <p:spPr>
          <a:xfrm>
            <a:off x="731520" y="5010912"/>
            <a:ext cx="109728" cy="109728"/>
          </a:xfrm>
          <a:prstGeom prst="ellipse">
            <a:avLst/>
          </a:prstGeom>
          <a:solidFill>
            <a:srgbClr val="F26ECF"/>
          </a:solidFill>
          <a:ln/>
        </p:spPr>
      </p:sp>
      <p:sp>
        <p:nvSpPr>
          <p:cNvPr id="14" name="Text 12"/>
          <p:cNvSpPr txBox="1"/>
          <p:nvPr/>
        </p:nvSpPr>
        <p:spPr>
          <a:xfrm>
            <a:off x="1069848" y="4919472"/>
            <a:ext cx="10058400"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¿Son comparables las dos muestras?</a:t>
            </a:r>
            <a:endParaRPr lang="en-US" sz="1400" dirty="0"/>
          </a:p>
        </p:txBody>
      </p:sp>
      <p:sp>
        <p:nvSpPr>
          <p:cNvPr id="15" name="Shape 13"/>
          <p:cNvSpPr/>
          <p:nvPr/>
        </p:nvSpPr>
        <p:spPr>
          <a:xfrm>
            <a:off x="731520" y="5468112"/>
            <a:ext cx="109728" cy="109728"/>
          </a:xfrm>
          <a:prstGeom prst="ellipse">
            <a:avLst/>
          </a:prstGeom>
          <a:solidFill>
            <a:srgbClr val="F26ECF"/>
          </a:solidFill>
          <a:ln/>
        </p:spPr>
      </p:sp>
      <p:sp>
        <p:nvSpPr>
          <p:cNvPr id="16" name="Text 14"/>
          <p:cNvSpPr txBox="1"/>
          <p:nvPr/>
        </p:nvSpPr>
        <p:spPr>
          <a:xfrm>
            <a:off x="1069848" y="5376672"/>
            <a:ext cx="10058400"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¿Qué implicaciones tiene para el costo de la operación?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F26ECF"/>
                </a:solidFill>
                <a:latin typeface="Calibri" pitchFamily="34" charset="0"/>
                <a:ea typeface="Calibri" pitchFamily="34" charset="-122"/>
                <a:cs typeface="Calibri" pitchFamily="34" charset="-120"/>
              </a:rPr>
              <a:t>OBJETIVOS</a:t>
            </a:r>
            <a:endParaRPr lang="en-US" sz="1100" dirty="0"/>
          </a:p>
        </p:txBody>
      </p:sp>
      <p:sp>
        <p:nvSpPr>
          <p:cNvPr id="3" name="Text 1"/>
          <p:cNvSpPr txBox="1"/>
          <p:nvPr/>
        </p:nvSpPr>
        <p:spPr>
          <a:xfrm>
            <a:off x="685800" y="676656"/>
            <a:ext cx="10789920" cy="749808"/>
          </a:xfrm>
          <a:prstGeom prst="rect">
            <a:avLst/>
          </a:prstGeom>
          <a:noFill/>
          <a:ln/>
        </p:spPr>
        <p:txBody>
          <a:bodyPr wrap="square" lIns="0" tIns="0" rIns="0" bIns="0" rtlCol="0" anchor="ctr"/>
          <a:lstStyle/>
          <a:p>
            <a:pPr indent="0" marL="0">
              <a:buNone/>
            </a:pPr>
            <a:r>
              <a:rPr lang="en-US" sz="3200" b="1" dirty="0">
                <a:solidFill>
                  <a:srgbClr val="202020"/>
                </a:solidFill>
                <a:latin typeface="Cambria" pitchFamily="34" charset="0"/>
                <a:ea typeface="Cambria" pitchFamily="34" charset="-122"/>
                <a:cs typeface="Cambria" pitchFamily="34" charset="-120"/>
              </a:rPr>
              <a:t>Del audio crudo a una decisión sustentada</a:t>
            </a:r>
            <a:endParaRPr lang="en-US" sz="3200" dirty="0"/>
          </a:p>
        </p:txBody>
      </p:sp>
      <p:sp>
        <p:nvSpPr>
          <p:cNvPr id="4" name="Shape 2"/>
          <p:cNvSpPr/>
          <p:nvPr/>
        </p:nvSpPr>
        <p:spPr>
          <a:xfrm>
            <a:off x="685800" y="1572768"/>
            <a:ext cx="10789920" cy="914400"/>
          </a:xfrm>
          <a:prstGeom prst="roundRect">
            <a:avLst>
              <a:gd name="adj" fmla="val 10000"/>
            </a:avLst>
          </a:prstGeom>
          <a:solidFill>
            <a:srgbClr val="FDEDF9"/>
          </a:solidFill>
          <a:ln/>
        </p:spPr>
      </p:sp>
      <p:sp>
        <p:nvSpPr>
          <p:cNvPr id="5" name="Text 3"/>
          <p:cNvSpPr txBox="1"/>
          <p:nvPr/>
        </p:nvSpPr>
        <p:spPr>
          <a:xfrm>
            <a:off x="1005840" y="1719072"/>
            <a:ext cx="10149840" cy="658368"/>
          </a:xfrm>
          <a:prstGeom prst="rect">
            <a:avLst/>
          </a:prstGeom>
          <a:noFill/>
          <a:ln/>
        </p:spPr>
        <p:txBody>
          <a:bodyPr wrap="square" lIns="0" tIns="0" rIns="0" bIns="0" rtlCol="0" anchor="ctr"/>
          <a:lstStyle/>
          <a:p>
            <a:pPr indent="0" marL="0">
              <a:lnSpc>
                <a:spcPts val="1900"/>
              </a:lnSpc>
              <a:buNone/>
            </a:pPr>
            <a:r>
              <a:rPr lang="en-US" sz="1350" b="1" dirty="0">
                <a:solidFill>
                  <a:srgbClr val="4E2AAE"/>
                </a:solidFill>
                <a:latin typeface="Calibri" pitchFamily="34" charset="0"/>
                <a:ea typeface="Calibri" pitchFamily="34" charset="-122"/>
                <a:cs typeface="Calibri" pitchFamily="34" charset="-120"/>
              </a:rPr>
              <a:t>Objetivo general.  </a:t>
            </a:r>
            <a:pPr indent="0" marL="0">
              <a:lnSpc>
                <a:spcPts val="1900"/>
              </a:lnSpc>
              <a:buNone/>
            </a:pPr>
            <a:r>
              <a:rPr lang="en-US" sz="1350" dirty="0">
                <a:solidFill>
                  <a:srgbClr val="202020"/>
                </a:solidFill>
                <a:latin typeface="Calibri" pitchFamily="34" charset="0"/>
                <a:ea typeface="Calibri" pitchFamily="34" charset="-122"/>
                <a:cs typeface="Calibri" pitchFamily="34" charset="-120"/>
              </a:rPr>
              <a:t>Analizar las conversaciones de cobranza de agentes humanos y de IA, identificando variables de gestión y evaluando su comparabilidad, para generar evidencia que apoye la decisión sobre automatización.</a:t>
            </a:r>
            <a:endParaRPr lang="en-US" sz="1350" dirty="0"/>
          </a:p>
        </p:txBody>
      </p:sp>
      <p:sp>
        <p:nvSpPr>
          <p:cNvPr id="6" name="Shape 4"/>
          <p:cNvSpPr/>
          <p:nvPr/>
        </p:nvSpPr>
        <p:spPr>
          <a:xfrm>
            <a:off x="685800" y="2852928"/>
            <a:ext cx="384048" cy="384048"/>
          </a:xfrm>
          <a:prstGeom prst="ellipse">
            <a:avLst/>
          </a:prstGeom>
          <a:solidFill>
            <a:srgbClr val="7047EB"/>
          </a:solidFill>
          <a:ln/>
        </p:spPr>
      </p:sp>
      <p:sp>
        <p:nvSpPr>
          <p:cNvPr id="7" name="Text 5"/>
          <p:cNvSpPr txBox="1"/>
          <p:nvPr/>
        </p:nvSpPr>
        <p:spPr>
          <a:xfrm>
            <a:off x="685800" y="28529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52728" y="2816352"/>
            <a:ext cx="4645152" cy="274320"/>
          </a:xfrm>
          <a:prstGeom prst="rect">
            <a:avLst/>
          </a:prstGeom>
          <a:noFill/>
          <a:ln/>
        </p:spPr>
        <p:txBody>
          <a:bodyPr wrap="square" lIns="0" tIns="0" rIns="0" bIns="0" rtlCol="0" anchor="ctr"/>
          <a:lstStyle/>
          <a:p>
            <a:pPr indent="0" marL="0">
              <a:buNone/>
            </a:pPr>
            <a:r>
              <a:rPr lang="en-US" sz="1450" b="1" dirty="0">
                <a:solidFill>
                  <a:srgbClr val="202020"/>
                </a:solidFill>
                <a:latin typeface="Calibri" pitchFamily="34" charset="0"/>
                <a:ea typeface="Calibri" pitchFamily="34" charset="-122"/>
                <a:cs typeface="Calibri" pitchFamily="34" charset="-120"/>
              </a:rPr>
              <a:t>Comprender el contexto de las llamadas antes de automatizar nada</a:t>
            </a:r>
            <a:endParaRPr lang="en-US" sz="1450" dirty="0"/>
          </a:p>
        </p:txBody>
      </p:sp>
      <p:sp>
        <p:nvSpPr>
          <p:cNvPr id="9" name="Text 7"/>
          <p:cNvSpPr txBox="1"/>
          <p:nvPr/>
        </p:nvSpPr>
        <p:spPr>
          <a:xfrm>
            <a:off x="1252728" y="3099816"/>
            <a:ext cx="4645152" cy="566928"/>
          </a:xfrm>
          <a:prstGeom prst="rect">
            <a:avLst/>
          </a:prstGeom>
          <a:noFill/>
          <a:ln/>
        </p:spPr>
        <p:txBody>
          <a:bodyPr wrap="square" lIns="0" tIns="0" rIns="0" bIns="0" rtlCol="0" anchor="ctr"/>
          <a:lstStyle/>
          <a:p>
            <a:pPr indent="0" marL="0">
              <a:lnSpc>
                <a:spcPts val="1500"/>
              </a:lnSpc>
              <a:buNone/>
            </a:pPr>
            <a:endParaRPr lang="en-US" sz="1200" dirty="0"/>
          </a:p>
        </p:txBody>
      </p:sp>
      <p:sp>
        <p:nvSpPr>
          <p:cNvPr id="10" name="Shape 8"/>
          <p:cNvSpPr/>
          <p:nvPr/>
        </p:nvSpPr>
        <p:spPr>
          <a:xfrm>
            <a:off x="6309360" y="2852928"/>
            <a:ext cx="384048" cy="384048"/>
          </a:xfrm>
          <a:prstGeom prst="ellipse">
            <a:avLst/>
          </a:prstGeom>
          <a:solidFill>
            <a:srgbClr val="7047EB"/>
          </a:solidFill>
          <a:ln/>
        </p:spPr>
      </p:sp>
      <p:sp>
        <p:nvSpPr>
          <p:cNvPr id="11" name="Text 9"/>
          <p:cNvSpPr txBox="1"/>
          <p:nvPr/>
        </p:nvSpPr>
        <p:spPr>
          <a:xfrm>
            <a:off x="6309360" y="28529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6876288" y="2816352"/>
            <a:ext cx="4645152" cy="274320"/>
          </a:xfrm>
          <a:prstGeom prst="rect">
            <a:avLst/>
          </a:prstGeom>
          <a:noFill/>
          <a:ln/>
        </p:spPr>
        <p:txBody>
          <a:bodyPr wrap="square" lIns="0" tIns="0" rIns="0" bIns="0" rtlCol="0" anchor="ctr"/>
          <a:lstStyle/>
          <a:p>
            <a:pPr indent="0" marL="0">
              <a:buNone/>
            </a:pPr>
            <a:r>
              <a:rPr lang="en-US" sz="1450" b="1" dirty="0">
                <a:solidFill>
                  <a:srgbClr val="202020"/>
                </a:solidFill>
                <a:latin typeface="Calibri" pitchFamily="34" charset="0"/>
                <a:ea typeface="Calibri" pitchFamily="34" charset="-122"/>
                <a:cs typeface="Calibri" pitchFamily="34" charset="-120"/>
              </a:rPr>
              <a:t>Definir las variables que caracterizan una gestión</a:t>
            </a:r>
            <a:endParaRPr lang="en-US" sz="1450" dirty="0"/>
          </a:p>
        </p:txBody>
      </p:sp>
      <p:sp>
        <p:nvSpPr>
          <p:cNvPr id="13" name="Text 11"/>
          <p:cNvSpPr txBox="1"/>
          <p:nvPr/>
        </p:nvSpPr>
        <p:spPr>
          <a:xfrm>
            <a:off x="6876288" y="3099816"/>
            <a:ext cx="4645152" cy="566928"/>
          </a:xfrm>
          <a:prstGeom prst="rect">
            <a:avLst/>
          </a:prstGeom>
          <a:noFill/>
          <a:ln/>
        </p:spPr>
        <p:txBody>
          <a:bodyPr wrap="square" lIns="0" tIns="0" rIns="0" bIns="0" rtlCol="0" anchor="ctr"/>
          <a:lstStyle/>
          <a:p>
            <a:pPr indent="0" marL="0">
              <a:lnSpc>
                <a:spcPts val="1500"/>
              </a:lnSpc>
              <a:buNone/>
            </a:pPr>
            <a:endParaRPr lang="en-US" sz="1200" dirty="0"/>
          </a:p>
        </p:txBody>
      </p:sp>
      <p:sp>
        <p:nvSpPr>
          <p:cNvPr id="14" name="Shape 12"/>
          <p:cNvSpPr/>
          <p:nvPr/>
        </p:nvSpPr>
        <p:spPr>
          <a:xfrm>
            <a:off x="685800" y="3904488"/>
            <a:ext cx="384048" cy="384048"/>
          </a:xfrm>
          <a:prstGeom prst="ellipse">
            <a:avLst/>
          </a:prstGeom>
          <a:solidFill>
            <a:srgbClr val="7047EB"/>
          </a:solidFill>
          <a:ln/>
        </p:spPr>
      </p:sp>
      <p:sp>
        <p:nvSpPr>
          <p:cNvPr id="15" name="Text 13"/>
          <p:cNvSpPr txBox="1"/>
          <p:nvPr/>
        </p:nvSpPr>
        <p:spPr>
          <a:xfrm>
            <a:off x="685800" y="3904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252728" y="3867912"/>
            <a:ext cx="4645152" cy="274320"/>
          </a:xfrm>
          <a:prstGeom prst="rect">
            <a:avLst/>
          </a:prstGeom>
          <a:noFill/>
          <a:ln/>
        </p:spPr>
        <p:txBody>
          <a:bodyPr wrap="square" lIns="0" tIns="0" rIns="0" bIns="0" rtlCol="0" anchor="ctr"/>
          <a:lstStyle/>
          <a:p>
            <a:pPr indent="0" marL="0">
              <a:buNone/>
            </a:pPr>
            <a:r>
              <a:rPr lang="en-US" sz="1450" b="1" dirty="0">
                <a:solidFill>
                  <a:srgbClr val="202020"/>
                </a:solidFill>
                <a:latin typeface="Calibri" pitchFamily="34" charset="0"/>
                <a:ea typeface="Calibri" pitchFamily="34" charset="-122"/>
                <a:cs typeface="Calibri" pitchFamily="34" charset="-120"/>
              </a:rPr>
              <a:t>Evaluar y elegir el motor de transcripción con un benchmark</a:t>
            </a:r>
            <a:endParaRPr lang="en-US" sz="1450" dirty="0"/>
          </a:p>
        </p:txBody>
      </p:sp>
      <p:sp>
        <p:nvSpPr>
          <p:cNvPr id="17" name="Text 15"/>
          <p:cNvSpPr txBox="1"/>
          <p:nvPr/>
        </p:nvSpPr>
        <p:spPr>
          <a:xfrm>
            <a:off x="1252728" y="4151376"/>
            <a:ext cx="4645152" cy="566928"/>
          </a:xfrm>
          <a:prstGeom prst="rect">
            <a:avLst/>
          </a:prstGeom>
          <a:noFill/>
          <a:ln/>
        </p:spPr>
        <p:txBody>
          <a:bodyPr wrap="square" lIns="0" tIns="0" rIns="0" bIns="0" rtlCol="0" anchor="ctr"/>
          <a:lstStyle/>
          <a:p>
            <a:pPr indent="0" marL="0">
              <a:lnSpc>
                <a:spcPts val="1500"/>
              </a:lnSpc>
              <a:buNone/>
            </a:pPr>
            <a:endParaRPr lang="en-US" sz="1200" dirty="0"/>
          </a:p>
        </p:txBody>
      </p:sp>
      <p:sp>
        <p:nvSpPr>
          <p:cNvPr id="18" name="Shape 16"/>
          <p:cNvSpPr/>
          <p:nvPr/>
        </p:nvSpPr>
        <p:spPr>
          <a:xfrm>
            <a:off x="6309360" y="3904488"/>
            <a:ext cx="384048" cy="384048"/>
          </a:xfrm>
          <a:prstGeom prst="ellipse">
            <a:avLst/>
          </a:prstGeom>
          <a:solidFill>
            <a:srgbClr val="7047EB"/>
          </a:solidFill>
          <a:ln/>
        </p:spPr>
      </p:sp>
      <p:sp>
        <p:nvSpPr>
          <p:cNvPr id="19" name="Text 17"/>
          <p:cNvSpPr txBox="1"/>
          <p:nvPr/>
        </p:nvSpPr>
        <p:spPr>
          <a:xfrm>
            <a:off x="6309360" y="3904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6876288" y="3867912"/>
            <a:ext cx="4645152" cy="274320"/>
          </a:xfrm>
          <a:prstGeom prst="rect">
            <a:avLst/>
          </a:prstGeom>
          <a:noFill/>
          <a:ln/>
        </p:spPr>
        <p:txBody>
          <a:bodyPr wrap="square" lIns="0" tIns="0" rIns="0" bIns="0" rtlCol="0" anchor="ctr"/>
          <a:lstStyle/>
          <a:p>
            <a:pPr indent="0" marL="0">
              <a:buNone/>
            </a:pPr>
            <a:r>
              <a:rPr lang="en-US" sz="1450" b="1" dirty="0">
                <a:solidFill>
                  <a:srgbClr val="202020"/>
                </a:solidFill>
                <a:latin typeface="Calibri" pitchFamily="34" charset="0"/>
                <a:ea typeface="Calibri" pitchFamily="34" charset="-122"/>
                <a:cs typeface="Calibri" pitchFamily="34" charset="-120"/>
              </a:rPr>
              <a:t>Automatizar la extracción de variables sobre las 100 llamadas</a:t>
            </a:r>
            <a:endParaRPr lang="en-US" sz="1450" dirty="0"/>
          </a:p>
        </p:txBody>
      </p:sp>
      <p:sp>
        <p:nvSpPr>
          <p:cNvPr id="21" name="Text 19"/>
          <p:cNvSpPr txBox="1"/>
          <p:nvPr/>
        </p:nvSpPr>
        <p:spPr>
          <a:xfrm>
            <a:off x="6876288" y="4151376"/>
            <a:ext cx="4645152" cy="566928"/>
          </a:xfrm>
          <a:prstGeom prst="rect">
            <a:avLst/>
          </a:prstGeom>
          <a:noFill/>
          <a:ln/>
        </p:spPr>
        <p:txBody>
          <a:bodyPr wrap="square" lIns="0" tIns="0" rIns="0" bIns="0" rtlCol="0" anchor="ctr"/>
          <a:lstStyle/>
          <a:p>
            <a:pPr indent="0" marL="0">
              <a:lnSpc>
                <a:spcPts val="1500"/>
              </a:lnSpc>
              <a:buNone/>
            </a:pPr>
            <a:endParaRPr lang="en-US" sz="1200" dirty="0"/>
          </a:p>
        </p:txBody>
      </p:sp>
      <p:sp>
        <p:nvSpPr>
          <p:cNvPr id="22" name="Shape 20"/>
          <p:cNvSpPr/>
          <p:nvPr/>
        </p:nvSpPr>
        <p:spPr>
          <a:xfrm>
            <a:off x="685800" y="4956048"/>
            <a:ext cx="384048" cy="384048"/>
          </a:xfrm>
          <a:prstGeom prst="ellipse">
            <a:avLst/>
          </a:prstGeom>
          <a:solidFill>
            <a:srgbClr val="4E2AAE"/>
          </a:solidFill>
          <a:ln/>
        </p:spPr>
      </p:sp>
      <p:sp>
        <p:nvSpPr>
          <p:cNvPr id="23" name="Text 21"/>
          <p:cNvSpPr txBox="1"/>
          <p:nvPr/>
        </p:nvSpPr>
        <p:spPr>
          <a:xfrm>
            <a:off x="685800" y="4956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txBox="1"/>
          <p:nvPr/>
        </p:nvSpPr>
        <p:spPr>
          <a:xfrm>
            <a:off x="1252728" y="4919472"/>
            <a:ext cx="4645152" cy="274320"/>
          </a:xfrm>
          <a:prstGeom prst="rect">
            <a:avLst/>
          </a:prstGeom>
          <a:noFill/>
          <a:ln/>
        </p:spPr>
        <p:txBody>
          <a:bodyPr wrap="square" lIns="0" tIns="0" rIns="0" bIns="0" rtlCol="0" anchor="ctr"/>
          <a:lstStyle/>
          <a:p>
            <a:pPr indent="0" marL="0">
              <a:buNone/>
            </a:pPr>
            <a:r>
              <a:rPr lang="en-US" sz="1450" b="1" dirty="0">
                <a:solidFill>
                  <a:srgbClr val="202020"/>
                </a:solidFill>
                <a:latin typeface="Calibri" pitchFamily="34" charset="0"/>
                <a:ea typeface="Calibri" pitchFamily="34" charset="-122"/>
                <a:cs typeface="Calibri" pitchFamily="34" charset="-120"/>
              </a:rPr>
              <a:t>Comparar estadísticamente los dos grupos</a:t>
            </a:r>
            <a:endParaRPr lang="en-US" sz="1450" dirty="0"/>
          </a:p>
        </p:txBody>
      </p:sp>
      <p:sp>
        <p:nvSpPr>
          <p:cNvPr id="25" name="Text 23"/>
          <p:cNvSpPr txBox="1"/>
          <p:nvPr/>
        </p:nvSpPr>
        <p:spPr>
          <a:xfrm>
            <a:off x="1252728" y="5202936"/>
            <a:ext cx="4645152" cy="566928"/>
          </a:xfrm>
          <a:prstGeom prst="rect">
            <a:avLst/>
          </a:prstGeom>
          <a:noFill/>
          <a:ln/>
        </p:spPr>
        <p:txBody>
          <a:bodyPr wrap="square" lIns="0" tIns="0" rIns="0" bIns="0" rtlCol="0" anchor="ctr"/>
          <a:lstStyle/>
          <a:p>
            <a:pPr indent="0" marL="0">
              <a:lnSpc>
                <a:spcPts val="1500"/>
              </a:lnSpc>
              <a:buNone/>
            </a:pPr>
            <a:endParaRPr lang="en-US" sz="1200" dirty="0"/>
          </a:p>
        </p:txBody>
      </p:sp>
      <p:sp>
        <p:nvSpPr>
          <p:cNvPr id="26" name="Shape 24"/>
          <p:cNvSpPr/>
          <p:nvPr/>
        </p:nvSpPr>
        <p:spPr>
          <a:xfrm>
            <a:off x="6309360" y="4956048"/>
            <a:ext cx="384048" cy="384048"/>
          </a:xfrm>
          <a:prstGeom prst="ellipse">
            <a:avLst/>
          </a:prstGeom>
          <a:solidFill>
            <a:srgbClr val="4E2AAE"/>
          </a:solidFill>
          <a:ln/>
        </p:spPr>
      </p:sp>
      <p:sp>
        <p:nvSpPr>
          <p:cNvPr id="27" name="Text 25"/>
          <p:cNvSpPr txBox="1"/>
          <p:nvPr/>
        </p:nvSpPr>
        <p:spPr>
          <a:xfrm>
            <a:off x="6309360" y="4956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txBox="1"/>
          <p:nvPr/>
        </p:nvSpPr>
        <p:spPr>
          <a:xfrm>
            <a:off x="6876288" y="4919472"/>
            <a:ext cx="4645152" cy="274320"/>
          </a:xfrm>
          <a:prstGeom prst="rect">
            <a:avLst/>
          </a:prstGeom>
          <a:noFill/>
          <a:ln/>
        </p:spPr>
        <p:txBody>
          <a:bodyPr wrap="square" lIns="0" tIns="0" rIns="0" bIns="0" rtlCol="0" anchor="ctr"/>
          <a:lstStyle/>
          <a:p>
            <a:pPr indent="0" marL="0">
              <a:buNone/>
            </a:pPr>
            <a:r>
              <a:rPr lang="en-US" sz="1450" b="1" dirty="0">
                <a:solidFill>
                  <a:srgbClr val="202020"/>
                </a:solidFill>
                <a:latin typeface="Calibri" pitchFamily="34" charset="0"/>
                <a:ea typeface="Calibri" pitchFamily="34" charset="-122"/>
                <a:cs typeface="Calibri" pitchFamily="34" charset="-120"/>
              </a:rPr>
              <a:t>Identificar los límites de comparabilidad de las muestras</a:t>
            </a:r>
            <a:endParaRPr lang="en-US" sz="1450" dirty="0"/>
          </a:p>
        </p:txBody>
      </p:sp>
      <p:sp>
        <p:nvSpPr>
          <p:cNvPr id="29" name="Text 27"/>
          <p:cNvSpPr txBox="1"/>
          <p:nvPr/>
        </p:nvSpPr>
        <p:spPr>
          <a:xfrm>
            <a:off x="6876288" y="5202936"/>
            <a:ext cx="4645152" cy="566928"/>
          </a:xfrm>
          <a:prstGeom prst="rect">
            <a:avLst/>
          </a:prstGeom>
          <a:noFill/>
          <a:ln/>
        </p:spPr>
        <p:txBody>
          <a:bodyPr wrap="square" lIns="0" tIns="0" rIns="0" bIns="0" rtlCol="0" anchor="ctr"/>
          <a:lstStyle/>
          <a:p>
            <a:pPr indent="0" marL="0">
              <a:lnSpc>
                <a:spcPts val="1500"/>
              </a:lnSpc>
              <a:buNone/>
            </a:pPr>
            <a:endParaRPr lang="en-US" sz="1200" dirty="0"/>
          </a:p>
        </p:txBody>
      </p:sp>
      <p:sp>
        <p:nvSpPr>
          <p:cNvPr id="30" name="Text 28"/>
          <p:cNvSpPr txBox="1"/>
          <p:nvPr/>
        </p:nvSpPr>
        <p:spPr>
          <a:xfrm>
            <a:off x="685800" y="6327648"/>
            <a:ext cx="10789920" cy="274320"/>
          </a:xfrm>
          <a:prstGeom prst="rect">
            <a:avLst/>
          </a:prstGeom>
          <a:noFill/>
          <a:ln/>
        </p:spPr>
        <p:txBody>
          <a:bodyPr wrap="square" lIns="0" tIns="0" rIns="0" bIns="0" rtlCol="0" anchor="ctr"/>
          <a:lstStyle/>
          <a:p>
            <a:pPr indent="0" marL="0">
              <a:buNone/>
            </a:pPr>
            <a:r>
              <a:rPr lang="en-US" sz="950" i="1" dirty="0">
                <a:solidFill>
                  <a:srgbClr val="757275"/>
                </a:solidFill>
                <a:latin typeface="Calibri" pitchFamily="34" charset="0"/>
                <a:ea typeface="Calibri" pitchFamily="34" charset="-122"/>
                <a:cs typeface="Calibri" pitchFamily="34" charset="-120"/>
              </a:rPr>
              <a:t>Los objetivos 5 y 6 se ejecutaron juntos: la comparación estadística fue la que reveló el límite de comparabilidad.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F26ECF"/>
                </a:solidFill>
                <a:latin typeface="Calibri" pitchFamily="34" charset="0"/>
                <a:ea typeface="Calibri" pitchFamily="34" charset="-122"/>
                <a:cs typeface="Calibri" pitchFamily="34" charset="-120"/>
              </a:rPr>
              <a:t>LOS DATOS</a:t>
            </a:r>
            <a:endParaRPr lang="en-US" sz="1100" dirty="0"/>
          </a:p>
        </p:txBody>
      </p:sp>
      <p:sp>
        <p:nvSpPr>
          <p:cNvPr id="3" name="Text 1"/>
          <p:cNvSpPr txBox="1"/>
          <p:nvPr/>
        </p:nvSpPr>
        <p:spPr>
          <a:xfrm>
            <a:off x="685800" y="676656"/>
            <a:ext cx="10789920" cy="749808"/>
          </a:xfrm>
          <a:prstGeom prst="rect">
            <a:avLst/>
          </a:prstGeom>
          <a:noFill/>
          <a:ln/>
        </p:spPr>
        <p:txBody>
          <a:bodyPr wrap="square" lIns="0" tIns="0" rIns="0" bIns="0" rtlCol="0" anchor="ctr"/>
          <a:lstStyle/>
          <a:p>
            <a:pPr indent="0" marL="0">
              <a:buNone/>
            </a:pPr>
            <a:r>
              <a:rPr lang="en-US" sz="3200" b="1" dirty="0">
                <a:solidFill>
                  <a:srgbClr val="202020"/>
                </a:solidFill>
                <a:latin typeface="Cambria" pitchFamily="34" charset="0"/>
                <a:ea typeface="Cambria" pitchFamily="34" charset="-122"/>
                <a:cs typeface="Cambria" pitchFamily="34" charset="-120"/>
              </a:rPr>
              <a:t>100 llamadas, dos poblaciones distintas desde el origen</a:t>
            </a:r>
            <a:endParaRPr lang="en-US" sz="3200" dirty="0"/>
          </a:p>
        </p:txBody>
      </p:sp>
      <p:sp>
        <p:nvSpPr>
          <p:cNvPr id="4" name="Shape 2"/>
          <p:cNvSpPr/>
          <p:nvPr/>
        </p:nvSpPr>
        <p:spPr>
          <a:xfrm>
            <a:off x="685800" y="1572768"/>
            <a:ext cx="2514600" cy="2148840"/>
          </a:xfrm>
          <a:prstGeom prst="roundRect">
            <a:avLst>
              <a:gd name="adj" fmla="val 4255"/>
            </a:avLst>
          </a:prstGeom>
          <a:solidFill>
            <a:srgbClr val="FDEDF9"/>
          </a:solidFill>
          <a:ln/>
          <a:effectLst>
            <a:outerShdw sx="100000" sy="100000" kx="0" ky="0" algn="bl" rotWithShape="0" blurRad="152400" dist="25400" dir="5400000">
              <a:srgbClr val="4E2AAE">
                <a:alpha val="10000"/>
              </a:srgbClr>
            </a:outerShdw>
          </a:effectLst>
        </p:spPr>
      </p:sp>
      <p:sp>
        <p:nvSpPr>
          <p:cNvPr id="5" name="Text 3"/>
          <p:cNvSpPr txBox="1"/>
          <p:nvPr/>
        </p:nvSpPr>
        <p:spPr>
          <a:xfrm>
            <a:off x="941832" y="1773936"/>
            <a:ext cx="2002536" cy="694944"/>
          </a:xfrm>
          <a:prstGeom prst="rect">
            <a:avLst/>
          </a:prstGeom>
          <a:noFill/>
          <a:ln/>
        </p:spPr>
        <p:txBody>
          <a:bodyPr wrap="square" lIns="0" tIns="0" rIns="0" bIns="0" rtlCol="0" anchor="ctr"/>
          <a:lstStyle/>
          <a:p>
            <a:pPr indent="0" marL="0">
              <a:buNone/>
            </a:pPr>
            <a:r>
              <a:rPr lang="en-US" sz="3000" b="1" dirty="0">
                <a:solidFill>
                  <a:srgbClr val="4E2AAE"/>
                </a:solidFill>
                <a:latin typeface="Calibri" pitchFamily="34" charset="0"/>
                <a:ea typeface="Calibri" pitchFamily="34" charset="-122"/>
                <a:cs typeface="Calibri" pitchFamily="34" charset="-120"/>
              </a:rPr>
              <a:t>50 + 50</a:t>
            </a:r>
            <a:endParaRPr lang="en-US" sz="3000" dirty="0"/>
          </a:p>
        </p:txBody>
      </p:sp>
      <p:sp>
        <p:nvSpPr>
          <p:cNvPr id="6" name="Text 4"/>
          <p:cNvSpPr txBox="1"/>
          <p:nvPr/>
        </p:nvSpPr>
        <p:spPr>
          <a:xfrm>
            <a:off x="941832" y="2468880"/>
            <a:ext cx="2002536" cy="310896"/>
          </a:xfrm>
          <a:prstGeom prst="rect">
            <a:avLst/>
          </a:prstGeom>
          <a:noFill/>
          <a:ln/>
        </p:spPr>
        <p:txBody>
          <a:bodyPr wrap="square" lIns="0" tIns="0" rIns="0" bIns="0" rtlCol="0" anchor="ctr"/>
          <a:lstStyle/>
          <a:p>
            <a:pPr indent="0" marL="0">
              <a:buNone/>
            </a:pPr>
            <a:r>
              <a:rPr lang="en-US" sz="1300" b="1" dirty="0">
                <a:solidFill>
                  <a:srgbClr val="202020"/>
                </a:solidFill>
                <a:latin typeface="Calibri" pitchFamily="34" charset="0"/>
                <a:ea typeface="Calibri" pitchFamily="34" charset="-122"/>
                <a:cs typeface="Calibri" pitchFamily="34" charset="-120"/>
              </a:rPr>
              <a:t>llamadas</a:t>
            </a:r>
            <a:endParaRPr lang="en-US" sz="1300" dirty="0"/>
          </a:p>
        </p:txBody>
      </p:sp>
      <p:sp>
        <p:nvSpPr>
          <p:cNvPr id="7" name="Text 5"/>
          <p:cNvSpPr txBox="1"/>
          <p:nvPr/>
        </p:nvSpPr>
        <p:spPr>
          <a:xfrm>
            <a:off x="941832" y="2761488"/>
            <a:ext cx="2002536" cy="850392"/>
          </a:xfrm>
          <a:prstGeom prst="rect">
            <a:avLst/>
          </a:prstGeom>
          <a:noFill/>
          <a:ln/>
        </p:spPr>
        <p:txBody>
          <a:bodyPr wrap="square" lIns="0" tIns="0" rIns="0" bIns="0" rtlCol="0" anchor="ctr"/>
          <a:lstStyle/>
          <a:p>
            <a:pPr indent="0" marL="0">
              <a:lnSpc>
                <a:spcPts val="1400"/>
              </a:lnSpc>
              <a:buNone/>
            </a:pPr>
            <a:r>
              <a:rPr lang="en-US" sz="1050" dirty="0">
                <a:solidFill>
                  <a:srgbClr val="757275"/>
                </a:solidFill>
                <a:latin typeface="Calibri" pitchFamily="34" charset="0"/>
                <a:ea typeface="Calibri" pitchFamily="34" charset="-122"/>
                <a:cs typeface="Calibri" pitchFamily="34" charset="-120"/>
              </a:rPr>
              <a:t>humanas y de IA,</a:t>
            </a:r>
            <a:endParaRPr lang="en-US" sz="1050" dirty="0"/>
          </a:p>
          <a:p>
            <a:pPr indent="0" marL="0">
              <a:lnSpc>
                <a:spcPts val="1400"/>
              </a:lnSpc>
              <a:buNone/>
            </a:pPr>
            <a:r>
              <a:rPr lang="en-US" sz="1050" dirty="0">
                <a:solidFill>
                  <a:srgbClr val="757275"/>
                </a:solidFill>
                <a:latin typeface="Calibri" pitchFamily="34" charset="0"/>
                <a:ea typeface="Calibri" pitchFamily="34" charset="-122"/>
                <a:cs typeface="Calibri" pitchFamily="34" charset="-120"/>
              </a:rPr>
              <a:t>de campañas distintas</a:t>
            </a:r>
            <a:endParaRPr lang="en-US" sz="1050" dirty="0"/>
          </a:p>
        </p:txBody>
      </p:sp>
      <p:sp>
        <p:nvSpPr>
          <p:cNvPr id="8" name="Shape 6"/>
          <p:cNvSpPr/>
          <p:nvPr/>
        </p:nvSpPr>
        <p:spPr>
          <a:xfrm>
            <a:off x="3383280" y="1572768"/>
            <a:ext cx="2514600" cy="2148840"/>
          </a:xfrm>
          <a:prstGeom prst="roundRect">
            <a:avLst>
              <a:gd name="adj" fmla="val 4255"/>
            </a:avLst>
          </a:prstGeom>
          <a:solidFill>
            <a:srgbClr val="FDEDF9"/>
          </a:solidFill>
          <a:ln/>
          <a:effectLst>
            <a:outerShdw sx="100000" sy="100000" kx="0" ky="0" algn="bl" rotWithShape="0" blurRad="152400" dist="25400" dir="5400000">
              <a:srgbClr val="4E2AAE">
                <a:alpha val="10000"/>
              </a:srgbClr>
            </a:outerShdw>
          </a:effectLst>
        </p:spPr>
      </p:sp>
      <p:sp>
        <p:nvSpPr>
          <p:cNvPr id="9" name="Text 7"/>
          <p:cNvSpPr txBox="1"/>
          <p:nvPr/>
        </p:nvSpPr>
        <p:spPr>
          <a:xfrm>
            <a:off x="3639312" y="1773936"/>
            <a:ext cx="2002536" cy="694944"/>
          </a:xfrm>
          <a:prstGeom prst="rect">
            <a:avLst/>
          </a:prstGeom>
          <a:noFill/>
          <a:ln/>
        </p:spPr>
        <p:txBody>
          <a:bodyPr wrap="square" lIns="0" tIns="0" rIns="0" bIns="0" rtlCol="0" anchor="ctr"/>
          <a:lstStyle/>
          <a:p>
            <a:pPr indent="0" marL="0">
              <a:buNone/>
            </a:pPr>
            <a:r>
              <a:rPr lang="en-US" sz="3000" b="1" dirty="0">
                <a:solidFill>
                  <a:srgbClr val="4E2AAE"/>
                </a:solidFill>
                <a:latin typeface="Calibri" pitchFamily="34" charset="0"/>
                <a:ea typeface="Calibri" pitchFamily="34" charset="-122"/>
                <a:cs typeface="Calibri" pitchFamily="34" charset="-120"/>
              </a:rPr>
              <a:t>6.35 h</a:t>
            </a:r>
            <a:endParaRPr lang="en-US" sz="3000" dirty="0"/>
          </a:p>
        </p:txBody>
      </p:sp>
      <p:sp>
        <p:nvSpPr>
          <p:cNvPr id="10" name="Text 8"/>
          <p:cNvSpPr txBox="1"/>
          <p:nvPr/>
        </p:nvSpPr>
        <p:spPr>
          <a:xfrm>
            <a:off x="3639312" y="2468880"/>
            <a:ext cx="2002536" cy="310896"/>
          </a:xfrm>
          <a:prstGeom prst="rect">
            <a:avLst/>
          </a:prstGeom>
          <a:noFill/>
          <a:ln/>
        </p:spPr>
        <p:txBody>
          <a:bodyPr wrap="square" lIns="0" tIns="0" rIns="0" bIns="0" rtlCol="0" anchor="ctr"/>
          <a:lstStyle/>
          <a:p>
            <a:pPr indent="0" marL="0">
              <a:buNone/>
            </a:pPr>
            <a:r>
              <a:rPr lang="en-US" sz="1300" b="1" dirty="0">
                <a:solidFill>
                  <a:srgbClr val="202020"/>
                </a:solidFill>
                <a:latin typeface="Calibri" pitchFamily="34" charset="0"/>
                <a:ea typeface="Calibri" pitchFamily="34" charset="-122"/>
                <a:cs typeface="Calibri" pitchFamily="34" charset="-120"/>
              </a:rPr>
              <a:t>de audio</a:t>
            </a:r>
            <a:endParaRPr lang="en-US" sz="1300" dirty="0"/>
          </a:p>
        </p:txBody>
      </p:sp>
      <p:sp>
        <p:nvSpPr>
          <p:cNvPr id="11" name="Text 9"/>
          <p:cNvSpPr txBox="1"/>
          <p:nvPr/>
        </p:nvSpPr>
        <p:spPr>
          <a:xfrm>
            <a:off x="3639312" y="2761488"/>
            <a:ext cx="2002536" cy="850392"/>
          </a:xfrm>
          <a:prstGeom prst="rect">
            <a:avLst/>
          </a:prstGeom>
          <a:noFill/>
          <a:ln/>
        </p:spPr>
        <p:txBody>
          <a:bodyPr wrap="square" lIns="0" tIns="0" rIns="0" bIns="0" rtlCol="0" anchor="ctr"/>
          <a:lstStyle/>
          <a:p>
            <a:pPr indent="0" marL="0">
              <a:lnSpc>
                <a:spcPts val="1400"/>
              </a:lnSpc>
              <a:buNone/>
            </a:pPr>
            <a:r>
              <a:rPr lang="en-US" sz="1050" dirty="0">
                <a:solidFill>
                  <a:srgbClr val="757275"/>
                </a:solidFill>
                <a:latin typeface="Calibri" pitchFamily="34" charset="0"/>
                <a:ea typeface="Calibri" pitchFamily="34" charset="-122"/>
                <a:cs typeface="Calibri" pitchFamily="34" charset="-120"/>
              </a:rPr>
              <a:t>mediana de 171 s (humano)</a:t>
            </a:r>
            <a:endParaRPr lang="en-US" sz="1050" dirty="0"/>
          </a:p>
          <a:p>
            <a:pPr indent="0" marL="0">
              <a:lnSpc>
                <a:spcPts val="1400"/>
              </a:lnSpc>
              <a:buNone/>
            </a:pPr>
            <a:r>
              <a:rPr lang="en-US" sz="1050" dirty="0">
                <a:solidFill>
                  <a:srgbClr val="757275"/>
                </a:solidFill>
                <a:latin typeface="Calibri" pitchFamily="34" charset="0"/>
                <a:ea typeface="Calibri" pitchFamily="34" charset="-122"/>
                <a:cs typeface="Calibri" pitchFamily="34" charset="-120"/>
              </a:rPr>
              <a:t>y 149 s (IA)</a:t>
            </a:r>
            <a:endParaRPr lang="en-US" sz="1050" dirty="0"/>
          </a:p>
        </p:txBody>
      </p:sp>
      <p:sp>
        <p:nvSpPr>
          <p:cNvPr id="12" name="Shape 10"/>
          <p:cNvSpPr/>
          <p:nvPr/>
        </p:nvSpPr>
        <p:spPr>
          <a:xfrm>
            <a:off x="6080760" y="1572768"/>
            <a:ext cx="2514600" cy="2148840"/>
          </a:xfrm>
          <a:prstGeom prst="roundRect">
            <a:avLst>
              <a:gd name="adj" fmla="val 4255"/>
            </a:avLst>
          </a:prstGeom>
          <a:solidFill>
            <a:srgbClr val="FDEDF9"/>
          </a:solidFill>
          <a:ln/>
          <a:effectLst>
            <a:outerShdw sx="100000" sy="100000" kx="0" ky="0" algn="bl" rotWithShape="0" blurRad="152400" dist="25400" dir="5400000">
              <a:srgbClr val="4E2AAE">
                <a:alpha val="10000"/>
              </a:srgbClr>
            </a:outerShdw>
          </a:effectLst>
        </p:spPr>
      </p:sp>
      <p:sp>
        <p:nvSpPr>
          <p:cNvPr id="13" name="Text 11"/>
          <p:cNvSpPr txBox="1"/>
          <p:nvPr/>
        </p:nvSpPr>
        <p:spPr>
          <a:xfrm>
            <a:off x="6336792" y="1773936"/>
            <a:ext cx="2002536" cy="694944"/>
          </a:xfrm>
          <a:prstGeom prst="rect">
            <a:avLst/>
          </a:prstGeom>
          <a:noFill/>
          <a:ln/>
        </p:spPr>
        <p:txBody>
          <a:bodyPr wrap="square" lIns="0" tIns="0" rIns="0" bIns="0" rtlCol="0" anchor="ctr"/>
          <a:lstStyle/>
          <a:p>
            <a:pPr indent="0" marL="0">
              <a:buNone/>
            </a:pPr>
            <a:r>
              <a:rPr lang="en-US" sz="3000" b="1" dirty="0">
                <a:solidFill>
                  <a:srgbClr val="F26ECF"/>
                </a:solidFill>
                <a:latin typeface="Calibri" pitchFamily="34" charset="0"/>
                <a:ea typeface="Calibri" pitchFamily="34" charset="-122"/>
                <a:cs typeface="Calibri" pitchFamily="34" charset="-120"/>
              </a:rPr>
              <a:t>6.1 %</a:t>
            </a:r>
            <a:endParaRPr lang="en-US" sz="3000" dirty="0"/>
          </a:p>
        </p:txBody>
      </p:sp>
      <p:sp>
        <p:nvSpPr>
          <p:cNvPr id="14" name="Text 12"/>
          <p:cNvSpPr txBox="1"/>
          <p:nvPr/>
        </p:nvSpPr>
        <p:spPr>
          <a:xfrm>
            <a:off x="6336792" y="2468880"/>
            <a:ext cx="2002536" cy="310896"/>
          </a:xfrm>
          <a:prstGeom prst="rect">
            <a:avLst/>
          </a:prstGeom>
          <a:noFill/>
          <a:ln/>
        </p:spPr>
        <p:txBody>
          <a:bodyPr wrap="square" lIns="0" tIns="0" rIns="0" bIns="0" rtlCol="0" anchor="ctr"/>
          <a:lstStyle/>
          <a:p>
            <a:pPr indent="0" marL="0">
              <a:buNone/>
            </a:pPr>
            <a:r>
              <a:rPr lang="en-US" sz="1300" b="1" dirty="0">
                <a:solidFill>
                  <a:srgbClr val="202020"/>
                </a:solidFill>
                <a:latin typeface="Calibri" pitchFamily="34" charset="0"/>
                <a:ea typeface="Calibri" pitchFamily="34" charset="-122"/>
                <a:cs typeface="Calibri" pitchFamily="34" charset="-120"/>
              </a:rPr>
              <a:t>censurado</a:t>
            </a:r>
            <a:endParaRPr lang="en-US" sz="1300" dirty="0"/>
          </a:p>
        </p:txBody>
      </p:sp>
      <p:sp>
        <p:nvSpPr>
          <p:cNvPr id="15" name="Text 13"/>
          <p:cNvSpPr txBox="1"/>
          <p:nvPr/>
        </p:nvSpPr>
        <p:spPr>
          <a:xfrm>
            <a:off x="6336792" y="2761488"/>
            <a:ext cx="2002536" cy="850392"/>
          </a:xfrm>
          <a:prstGeom prst="rect">
            <a:avLst/>
          </a:prstGeom>
          <a:noFill/>
          <a:ln/>
        </p:spPr>
        <p:txBody>
          <a:bodyPr wrap="square" lIns="0" tIns="0" rIns="0" bIns="0" rtlCol="0" anchor="ctr"/>
          <a:lstStyle/>
          <a:p>
            <a:pPr indent="0" marL="0">
              <a:lnSpc>
                <a:spcPts val="1400"/>
              </a:lnSpc>
              <a:buNone/>
            </a:pPr>
            <a:r>
              <a:rPr lang="en-US" sz="1050" dirty="0">
                <a:solidFill>
                  <a:srgbClr val="757275"/>
                </a:solidFill>
                <a:latin typeface="Calibri" pitchFamily="34" charset="0"/>
                <a:ea typeface="Calibri" pitchFamily="34" charset="-122"/>
                <a:cs typeface="Calibri" pitchFamily="34" charset="-120"/>
              </a:rPr>
              <a:t>datos personales tapados</a:t>
            </a:r>
            <a:endParaRPr lang="en-US" sz="1050" dirty="0"/>
          </a:p>
          <a:p>
            <a:pPr indent="0" marL="0">
              <a:lnSpc>
                <a:spcPts val="1400"/>
              </a:lnSpc>
              <a:buNone/>
            </a:pPr>
            <a:r>
              <a:rPr lang="en-US" sz="1050" dirty="0">
                <a:solidFill>
                  <a:srgbClr val="757275"/>
                </a:solidFill>
                <a:latin typeface="Calibri" pitchFamily="34" charset="0"/>
                <a:ea typeface="Calibri" pitchFamily="34" charset="-122"/>
                <a:cs typeface="Calibri" pitchFamily="34" charset="-120"/>
              </a:rPr>
              <a:t>con un pitido</a:t>
            </a:r>
            <a:endParaRPr lang="en-US" sz="1050" dirty="0"/>
          </a:p>
        </p:txBody>
      </p:sp>
      <p:sp>
        <p:nvSpPr>
          <p:cNvPr id="16" name="Shape 14"/>
          <p:cNvSpPr/>
          <p:nvPr/>
        </p:nvSpPr>
        <p:spPr>
          <a:xfrm>
            <a:off x="8778240" y="1572768"/>
            <a:ext cx="2697480" cy="2148840"/>
          </a:xfrm>
          <a:prstGeom prst="roundRect">
            <a:avLst>
              <a:gd name="adj" fmla="val 4255"/>
            </a:avLst>
          </a:prstGeom>
          <a:solidFill>
            <a:srgbClr val="FDEDF9"/>
          </a:solidFill>
          <a:ln/>
          <a:effectLst>
            <a:outerShdw sx="100000" sy="100000" kx="0" ky="0" algn="bl" rotWithShape="0" blurRad="152400" dist="25400" dir="5400000">
              <a:srgbClr val="4E2AAE">
                <a:alpha val="10000"/>
              </a:srgbClr>
            </a:outerShdw>
          </a:effectLst>
        </p:spPr>
      </p:sp>
      <p:sp>
        <p:nvSpPr>
          <p:cNvPr id="17" name="Text 15"/>
          <p:cNvSpPr txBox="1"/>
          <p:nvPr/>
        </p:nvSpPr>
        <p:spPr>
          <a:xfrm>
            <a:off x="9034272" y="1773936"/>
            <a:ext cx="2185416" cy="694944"/>
          </a:xfrm>
          <a:prstGeom prst="rect">
            <a:avLst/>
          </a:prstGeom>
          <a:noFill/>
          <a:ln/>
        </p:spPr>
        <p:txBody>
          <a:bodyPr wrap="square" lIns="0" tIns="0" rIns="0" bIns="0" rtlCol="0" anchor="ctr"/>
          <a:lstStyle/>
          <a:p>
            <a:pPr indent="0" marL="0">
              <a:buNone/>
            </a:pPr>
            <a:r>
              <a:rPr lang="en-US" sz="3000" b="1" dirty="0">
                <a:solidFill>
                  <a:srgbClr val="C2410C"/>
                </a:solidFill>
                <a:latin typeface="Calibri" pitchFamily="34" charset="0"/>
                <a:ea typeface="Calibri" pitchFamily="34" charset="-122"/>
                <a:cs typeface="Calibri" pitchFamily="34" charset="-120"/>
              </a:rPr>
              <a:t>0</a:t>
            </a:r>
            <a:endParaRPr lang="en-US" sz="3000" dirty="0"/>
          </a:p>
        </p:txBody>
      </p:sp>
      <p:sp>
        <p:nvSpPr>
          <p:cNvPr id="18" name="Text 16"/>
          <p:cNvSpPr txBox="1"/>
          <p:nvPr/>
        </p:nvSpPr>
        <p:spPr>
          <a:xfrm>
            <a:off x="9034272" y="2468880"/>
            <a:ext cx="2185416" cy="310896"/>
          </a:xfrm>
          <a:prstGeom prst="rect">
            <a:avLst/>
          </a:prstGeom>
          <a:noFill/>
          <a:ln/>
        </p:spPr>
        <p:txBody>
          <a:bodyPr wrap="square" lIns="0" tIns="0" rIns="0" bIns="0" rtlCol="0" anchor="ctr"/>
          <a:lstStyle/>
          <a:p>
            <a:pPr indent="0" marL="0">
              <a:buNone/>
            </a:pPr>
            <a:r>
              <a:rPr lang="en-US" sz="1300" b="1" dirty="0">
                <a:solidFill>
                  <a:srgbClr val="202020"/>
                </a:solidFill>
                <a:latin typeface="Calibri" pitchFamily="34" charset="0"/>
                <a:ea typeface="Calibri" pitchFamily="34" charset="-122"/>
                <a:cs typeface="Calibri" pitchFamily="34" charset="-120"/>
              </a:rPr>
              <a:t>metadatos</a:t>
            </a:r>
            <a:endParaRPr lang="en-US" sz="1300" dirty="0"/>
          </a:p>
        </p:txBody>
      </p:sp>
      <p:sp>
        <p:nvSpPr>
          <p:cNvPr id="19" name="Text 17"/>
          <p:cNvSpPr txBox="1"/>
          <p:nvPr/>
        </p:nvSpPr>
        <p:spPr>
          <a:xfrm>
            <a:off x="9034272" y="2761488"/>
            <a:ext cx="2185416" cy="850392"/>
          </a:xfrm>
          <a:prstGeom prst="rect">
            <a:avLst/>
          </a:prstGeom>
          <a:noFill/>
          <a:ln/>
        </p:spPr>
        <p:txBody>
          <a:bodyPr wrap="square" lIns="0" tIns="0" rIns="0" bIns="0" rtlCol="0" anchor="ctr"/>
          <a:lstStyle/>
          <a:p>
            <a:pPr indent="0" marL="0">
              <a:lnSpc>
                <a:spcPts val="1400"/>
              </a:lnSpc>
              <a:buNone/>
            </a:pPr>
            <a:r>
              <a:rPr lang="en-US" sz="1050" dirty="0">
                <a:solidFill>
                  <a:srgbClr val="757275"/>
                </a:solidFill>
                <a:latin typeface="Calibri" pitchFamily="34" charset="0"/>
                <a:ea typeface="Calibri" pitchFamily="34" charset="-122"/>
                <a:cs typeface="Calibri" pitchFamily="34" charset="-120"/>
              </a:rPr>
              <a:t>ni campaña, ni resultado,</a:t>
            </a:r>
            <a:endParaRPr lang="en-US" sz="1050" dirty="0"/>
          </a:p>
          <a:p>
            <a:pPr indent="0" marL="0">
              <a:lnSpc>
                <a:spcPts val="1400"/>
              </a:lnSpc>
              <a:buNone/>
            </a:pPr>
            <a:r>
              <a:rPr lang="en-US" sz="1050" dirty="0">
                <a:solidFill>
                  <a:srgbClr val="757275"/>
                </a:solidFill>
                <a:latin typeface="Calibri" pitchFamily="34" charset="0"/>
                <a:ea typeface="Calibri" pitchFamily="34" charset="-122"/>
                <a:cs typeface="Calibri" pitchFamily="34" charset="-120"/>
              </a:rPr>
              <a:t>ni tipo de gestión</a:t>
            </a:r>
            <a:endParaRPr lang="en-US" sz="1050" dirty="0"/>
          </a:p>
        </p:txBody>
      </p:sp>
      <p:sp>
        <p:nvSpPr>
          <p:cNvPr id="20" name="Shape 18"/>
          <p:cNvSpPr/>
          <p:nvPr/>
        </p:nvSpPr>
        <p:spPr>
          <a:xfrm>
            <a:off x="685800" y="4041648"/>
            <a:ext cx="10789920" cy="1965960"/>
          </a:xfrm>
          <a:prstGeom prst="roundRect">
            <a:avLst>
              <a:gd name="adj" fmla="val 5581"/>
            </a:avLst>
          </a:prstGeom>
          <a:solidFill>
            <a:srgbClr val="4E2AAE"/>
          </a:solidFill>
          <a:ln/>
        </p:spPr>
      </p:sp>
      <p:sp>
        <p:nvSpPr>
          <p:cNvPr id="21" name="Text 19"/>
          <p:cNvSpPr txBox="1"/>
          <p:nvPr/>
        </p:nvSpPr>
        <p:spPr>
          <a:xfrm>
            <a:off x="1097280" y="4315968"/>
            <a:ext cx="9144000" cy="274320"/>
          </a:xfrm>
          <a:prstGeom prst="rect">
            <a:avLst/>
          </a:prstGeom>
          <a:noFill/>
          <a:ln/>
        </p:spPr>
        <p:txBody>
          <a:bodyPr wrap="square" lIns="0" tIns="0" rIns="0" bIns="0" rtlCol="0" anchor="ctr"/>
          <a:lstStyle/>
          <a:p>
            <a:pPr indent="0" marL="0">
              <a:buNone/>
            </a:pPr>
            <a:r>
              <a:rPr lang="en-US" sz="1200" b="1" dirty="0">
                <a:solidFill>
                  <a:srgbClr val="F9BCE8"/>
                </a:solidFill>
                <a:latin typeface="Calibri" pitchFamily="34" charset="0"/>
                <a:ea typeface="Calibri" pitchFamily="34" charset="-122"/>
                <a:cs typeface="Calibri" pitchFamily="34" charset="-120"/>
              </a:rPr>
              <a:t>Lo que el brief advierte desde el principio</a:t>
            </a:r>
            <a:endParaRPr lang="en-US" sz="1200" dirty="0"/>
          </a:p>
        </p:txBody>
      </p:sp>
      <p:sp>
        <p:nvSpPr>
          <p:cNvPr id="22" name="Text 20"/>
          <p:cNvSpPr txBox="1"/>
          <p:nvPr/>
        </p:nvSpPr>
        <p:spPr>
          <a:xfrm>
            <a:off x="1097280" y="4663440"/>
            <a:ext cx="9966960" cy="1188720"/>
          </a:xfrm>
          <a:prstGeom prst="rect">
            <a:avLst/>
          </a:prstGeom>
          <a:noFill/>
          <a:ln/>
        </p:spPr>
        <p:txBody>
          <a:bodyPr wrap="square" lIns="0" tIns="0" rIns="0" bIns="0" rtlCol="0" anchor="ctr"/>
          <a:lstStyle/>
          <a:p>
            <a:pPr indent="0" marL="0">
              <a:lnSpc>
                <a:spcPts val="2100"/>
              </a:lnSpc>
              <a:buNone/>
            </a:pPr>
            <a:r>
              <a:rPr lang="en-US" sz="1400" dirty="0">
                <a:solidFill>
                  <a:srgbClr val="FFFFFF"/>
                </a:solidFill>
                <a:latin typeface="Calibri" pitchFamily="34" charset="0"/>
                <a:ea typeface="Calibri" pitchFamily="34" charset="-122"/>
                <a:cs typeface="Calibri" pitchFamily="34" charset="-120"/>
              </a:rPr>
              <a:t>Los audios provienen de distintas campañas y momentos de gestión. No es un experimento controlado: no es el mismo caso repartido al azar entre un agente humano y uno de IA, son poblaciones de llamadas distintas desde el origen. Eso hay que asumirlo antes de comparar nada — y resultó ser el hallazgo que reorientó todo el análisis.</a:t>
            </a:r>
            <a:endParaRPr lang="en-US" sz="1400" dirty="0"/>
          </a:p>
        </p:txBody>
      </p:sp>
      <p:sp>
        <p:nvSpPr>
          <p:cNvPr id="23" name="Text 21"/>
          <p:cNvSpPr txBox="1"/>
          <p:nvPr/>
        </p:nvSpPr>
        <p:spPr>
          <a:xfrm>
            <a:off x="685800" y="6327648"/>
            <a:ext cx="10789920" cy="274320"/>
          </a:xfrm>
          <a:prstGeom prst="rect">
            <a:avLst/>
          </a:prstGeom>
          <a:noFill/>
          <a:ln/>
        </p:spPr>
        <p:txBody>
          <a:bodyPr wrap="square" lIns="0" tIns="0" rIns="0" bIns="0" rtlCol="0" anchor="ctr"/>
          <a:lstStyle/>
          <a:p>
            <a:pPr indent="0" marL="0">
              <a:buNone/>
            </a:pPr>
            <a:r>
              <a:rPr lang="en-US" sz="950" i="1" dirty="0">
                <a:solidFill>
                  <a:srgbClr val="757275"/>
                </a:solidFill>
                <a:latin typeface="Calibri" pitchFamily="34" charset="0"/>
                <a:ea typeface="Calibri" pitchFamily="34" charset="-122"/>
                <a:cs typeface="Calibri" pitchFamily="34" charset="-120"/>
              </a:rPr>
              <a:t>Fuente: carpeta de audios de la prueba + perfilado técnico propio (analisis/data/perfil_audio.csv).</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F26ECF"/>
                </a:solidFill>
                <a:latin typeface="Calibri" pitchFamily="34" charset="0"/>
                <a:ea typeface="Calibri" pitchFamily="34" charset="-122"/>
                <a:cs typeface="Calibri" pitchFamily="34" charset="-120"/>
              </a:rPr>
              <a:t>METODOLOGÍA</a:t>
            </a:r>
            <a:endParaRPr lang="en-US" sz="1100" dirty="0"/>
          </a:p>
        </p:txBody>
      </p:sp>
      <p:sp>
        <p:nvSpPr>
          <p:cNvPr id="3" name="Text 1"/>
          <p:cNvSpPr txBox="1"/>
          <p:nvPr/>
        </p:nvSpPr>
        <p:spPr>
          <a:xfrm>
            <a:off x="685800" y="676656"/>
            <a:ext cx="10789920" cy="749808"/>
          </a:xfrm>
          <a:prstGeom prst="rect">
            <a:avLst/>
          </a:prstGeom>
          <a:noFill/>
          <a:ln/>
        </p:spPr>
        <p:txBody>
          <a:bodyPr wrap="square" lIns="0" tIns="0" rIns="0" bIns="0" rtlCol="0" anchor="ctr"/>
          <a:lstStyle/>
          <a:p>
            <a:pPr indent="0" marL="0">
              <a:buNone/>
            </a:pPr>
            <a:r>
              <a:rPr lang="en-US" sz="3200" b="1" dirty="0">
                <a:solidFill>
                  <a:srgbClr val="202020"/>
                </a:solidFill>
                <a:latin typeface="Cambria" pitchFamily="34" charset="0"/>
                <a:ea typeface="Cambria" pitchFamily="34" charset="-122"/>
                <a:cs typeface="Cambria" pitchFamily="34" charset="-120"/>
              </a:rPr>
              <a:t>CRISP-DM, pero recorrido en espiral</a:t>
            </a:r>
            <a:endParaRPr lang="en-US" sz="3200" dirty="0"/>
          </a:p>
        </p:txBody>
      </p:sp>
      <p:sp>
        <p:nvSpPr>
          <p:cNvPr id="4" name="Text 2"/>
          <p:cNvSpPr txBox="1"/>
          <p:nvPr/>
        </p:nvSpPr>
        <p:spPr>
          <a:xfrm>
            <a:off x="685800" y="1572768"/>
            <a:ext cx="10789920" cy="548640"/>
          </a:xfrm>
          <a:prstGeom prst="rect">
            <a:avLst/>
          </a:prstGeom>
          <a:noFill/>
          <a:ln/>
        </p:spPr>
        <p:txBody>
          <a:bodyPr wrap="square" lIns="0" tIns="0" rIns="0" bIns="0" rtlCol="0" anchor="ctr"/>
          <a:lstStyle/>
          <a:p>
            <a:pPr indent="0" marL="0">
              <a:lnSpc>
                <a:spcPts val="2000"/>
              </a:lnSpc>
              <a:buNone/>
            </a:pPr>
            <a:r>
              <a:rPr lang="en-US" sz="1400" dirty="0">
                <a:solidFill>
                  <a:srgbClr val="757275"/>
                </a:solidFill>
                <a:latin typeface="Calibri" pitchFamily="34" charset="0"/>
                <a:ea typeface="Calibri" pitchFamily="34" charset="-122"/>
                <a:cs typeface="Calibri" pitchFamily="34" charset="-120"/>
              </a:rPr>
              <a:t>El proyecto no avanzó en línea recta. La evaluación de resultados cambió la comprensión del problema y obligó a volver al principio con una pregunta distinta.</a:t>
            </a:r>
            <a:endParaRPr lang="en-US" sz="1400" dirty="0"/>
          </a:p>
        </p:txBody>
      </p:sp>
      <p:sp>
        <p:nvSpPr>
          <p:cNvPr id="5" name="Shape 3"/>
          <p:cNvSpPr/>
          <p:nvPr/>
        </p:nvSpPr>
        <p:spPr>
          <a:xfrm>
            <a:off x="685800" y="2350008"/>
            <a:ext cx="1975104" cy="1737360"/>
          </a:xfrm>
          <a:prstGeom prst="roundRect">
            <a:avLst>
              <a:gd name="adj" fmla="val 5263"/>
            </a:avLst>
          </a:prstGeom>
          <a:solidFill>
            <a:srgbClr val="FFFFFF"/>
          </a:solidFill>
          <a:ln w="12700">
            <a:solidFill>
              <a:srgbClr val="E9E4EF"/>
            </a:solidFill>
            <a:prstDash val="solid"/>
          </a:ln>
          <a:effectLst>
            <a:outerShdw sx="100000" sy="100000" kx="0" ky="0" algn="bl" rotWithShape="0" blurRad="152400" dist="25400" dir="5400000">
              <a:srgbClr val="4E2AAE">
                <a:alpha val="10000"/>
              </a:srgbClr>
            </a:outerShdw>
          </a:effectLst>
        </p:spPr>
      </p:sp>
      <p:sp>
        <p:nvSpPr>
          <p:cNvPr id="6" name="Shape 4"/>
          <p:cNvSpPr/>
          <p:nvPr/>
        </p:nvSpPr>
        <p:spPr>
          <a:xfrm>
            <a:off x="886968" y="2532888"/>
            <a:ext cx="310896" cy="310896"/>
          </a:xfrm>
          <a:prstGeom prst="ellipse">
            <a:avLst/>
          </a:prstGeom>
          <a:solidFill>
            <a:srgbClr val="7047EB"/>
          </a:solidFill>
          <a:ln/>
        </p:spPr>
      </p:sp>
      <p:sp>
        <p:nvSpPr>
          <p:cNvPr id="7" name="Text 5"/>
          <p:cNvSpPr txBox="1"/>
          <p:nvPr/>
        </p:nvSpPr>
        <p:spPr>
          <a:xfrm>
            <a:off x="886968" y="25328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886968" y="2944368"/>
            <a:ext cx="1600200" cy="566928"/>
          </a:xfrm>
          <a:prstGeom prst="rect">
            <a:avLst/>
          </a:prstGeom>
          <a:noFill/>
          <a:ln/>
        </p:spPr>
        <p:txBody>
          <a:bodyPr wrap="square" lIns="0" tIns="0" rIns="0" bIns="0" rtlCol="0" anchor="ctr"/>
          <a:lstStyle/>
          <a:p>
            <a:pPr indent="0" marL="0">
              <a:lnSpc>
                <a:spcPts val="1600"/>
              </a:lnSpc>
              <a:buNone/>
            </a:pPr>
            <a:r>
              <a:rPr lang="en-US" sz="1300" b="1" dirty="0">
                <a:solidFill>
                  <a:srgbClr val="202020"/>
                </a:solidFill>
                <a:latin typeface="Calibri" pitchFamily="34" charset="0"/>
                <a:ea typeface="Calibri" pitchFamily="34" charset="-122"/>
                <a:cs typeface="Calibri" pitchFamily="34" charset="-120"/>
              </a:rPr>
              <a:t>Comprensión</a:t>
            </a:r>
            <a:endParaRPr lang="en-US" sz="1300" dirty="0"/>
          </a:p>
          <a:p>
            <a:pPr indent="0" marL="0">
              <a:lnSpc>
                <a:spcPts val="1600"/>
              </a:lnSpc>
              <a:buNone/>
            </a:pPr>
            <a:r>
              <a:rPr lang="en-US" sz="1300" b="1" dirty="0">
                <a:solidFill>
                  <a:srgbClr val="202020"/>
                </a:solidFill>
                <a:latin typeface="Calibri" pitchFamily="34" charset="0"/>
                <a:ea typeface="Calibri" pitchFamily="34" charset="-122"/>
                <a:cs typeface="Calibri" pitchFamily="34" charset="-120"/>
              </a:rPr>
              <a:t>del negocio</a:t>
            </a:r>
            <a:endParaRPr lang="en-US" sz="1300" dirty="0"/>
          </a:p>
        </p:txBody>
      </p:sp>
      <p:sp>
        <p:nvSpPr>
          <p:cNvPr id="9" name="Text 7"/>
          <p:cNvSpPr txBox="1"/>
          <p:nvPr/>
        </p:nvSpPr>
        <p:spPr>
          <a:xfrm>
            <a:off x="886968" y="3511296"/>
            <a:ext cx="1645920" cy="502920"/>
          </a:xfrm>
          <a:prstGeom prst="rect">
            <a:avLst/>
          </a:prstGeom>
          <a:noFill/>
          <a:ln/>
        </p:spPr>
        <p:txBody>
          <a:bodyPr wrap="square" lIns="0" tIns="0" rIns="0" bIns="0" rtlCol="0" anchor="ctr"/>
          <a:lstStyle/>
          <a:p>
            <a:pPr indent="0" marL="0">
              <a:lnSpc>
                <a:spcPts val="1300"/>
              </a:lnSpc>
              <a:buNone/>
            </a:pPr>
            <a:r>
              <a:rPr lang="en-US" sz="1000" dirty="0">
                <a:solidFill>
                  <a:srgbClr val="757275"/>
                </a:solidFill>
                <a:latin typeface="Calibri" pitchFamily="34" charset="0"/>
                <a:ea typeface="Calibri" pitchFamily="34" charset="-122"/>
                <a:cs typeface="Calibri" pitchFamily="34" charset="-120"/>
              </a:rPr>
              <a:t>Escucha manual</a:t>
            </a:r>
            <a:endParaRPr lang="en-US" sz="1000" dirty="0"/>
          </a:p>
          <a:p>
            <a:pPr indent="0" marL="0">
              <a:lnSpc>
                <a:spcPts val="1300"/>
              </a:lnSpc>
              <a:buNone/>
            </a:pPr>
            <a:r>
              <a:rPr lang="en-US" sz="1000" dirty="0">
                <a:solidFill>
                  <a:srgbClr val="757275"/>
                </a:solidFill>
                <a:latin typeface="Calibri" pitchFamily="34" charset="0"/>
                <a:ea typeface="Calibri" pitchFamily="34" charset="-122"/>
                <a:cs typeface="Calibri" pitchFamily="34" charset="-120"/>
              </a:rPr>
              <a:t>de 20 llamadas</a:t>
            </a:r>
            <a:endParaRPr lang="en-US" sz="1000" dirty="0"/>
          </a:p>
        </p:txBody>
      </p:sp>
      <p:sp>
        <p:nvSpPr>
          <p:cNvPr id="10" name="Text 8"/>
          <p:cNvSpPr txBox="1"/>
          <p:nvPr/>
        </p:nvSpPr>
        <p:spPr>
          <a:xfrm>
            <a:off x="2642616" y="2990088"/>
            <a:ext cx="274320" cy="365760"/>
          </a:xfrm>
          <a:prstGeom prst="rect">
            <a:avLst/>
          </a:prstGeom>
          <a:noFill/>
          <a:ln/>
        </p:spPr>
        <p:txBody>
          <a:bodyPr wrap="square" lIns="0" tIns="0" rIns="0" bIns="0" rtlCol="0" anchor="ctr"/>
          <a:lstStyle/>
          <a:p>
            <a:pPr algn="ctr" indent="0" marL="0">
              <a:buNone/>
            </a:pPr>
            <a:r>
              <a:rPr lang="en-US" sz="2000" b="1" dirty="0">
                <a:solidFill>
                  <a:srgbClr val="F9BCE8"/>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2898648" y="2350008"/>
            <a:ext cx="1975104" cy="1737360"/>
          </a:xfrm>
          <a:prstGeom prst="roundRect">
            <a:avLst>
              <a:gd name="adj" fmla="val 5263"/>
            </a:avLst>
          </a:prstGeom>
          <a:solidFill>
            <a:srgbClr val="FFFFFF"/>
          </a:solidFill>
          <a:ln w="12700">
            <a:solidFill>
              <a:srgbClr val="E9E4EF"/>
            </a:solidFill>
            <a:prstDash val="solid"/>
          </a:ln>
          <a:effectLst>
            <a:outerShdw sx="100000" sy="100000" kx="0" ky="0" algn="bl" rotWithShape="0" blurRad="152400" dist="25400" dir="5400000">
              <a:srgbClr val="4E2AAE">
                <a:alpha val="10000"/>
              </a:srgbClr>
            </a:outerShdw>
          </a:effectLst>
        </p:spPr>
      </p:sp>
      <p:sp>
        <p:nvSpPr>
          <p:cNvPr id="12" name="Shape 10"/>
          <p:cNvSpPr/>
          <p:nvPr/>
        </p:nvSpPr>
        <p:spPr>
          <a:xfrm>
            <a:off x="3099816" y="2532888"/>
            <a:ext cx="310896" cy="310896"/>
          </a:xfrm>
          <a:prstGeom prst="ellipse">
            <a:avLst/>
          </a:prstGeom>
          <a:solidFill>
            <a:srgbClr val="7047EB"/>
          </a:solidFill>
          <a:ln/>
        </p:spPr>
      </p:sp>
      <p:sp>
        <p:nvSpPr>
          <p:cNvPr id="13" name="Text 11"/>
          <p:cNvSpPr txBox="1"/>
          <p:nvPr/>
        </p:nvSpPr>
        <p:spPr>
          <a:xfrm>
            <a:off x="3099816" y="25328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3099816" y="2944368"/>
            <a:ext cx="1600200" cy="566928"/>
          </a:xfrm>
          <a:prstGeom prst="rect">
            <a:avLst/>
          </a:prstGeom>
          <a:noFill/>
          <a:ln/>
        </p:spPr>
        <p:txBody>
          <a:bodyPr wrap="square" lIns="0" tIns="0" rIns="0" bIns="0" rtlCol="0" anchor="ctr"/>
          <a:lstStyle/>
          <a:p>
            <a:pPr indent="0" marL="0">
              <a:lnSpc>
                <a:spcPts val="1600"/>
              </a:lnSpc>
              <a:buNone/>
            </a:pPr>
            <a:r>
              <a:rPr lang="en-US" sz="1300" b="1" dirty="0">
                <a:solidFill>
                  <a:srgbClr val="202020"/>
                </a:solidFill>
                <a:latin typeface="Calibri" pitchFamily="34" charset="0"/>
                <a:ea typeface="Calibri" pitchFamily="34" charset="-122"/>
                <a:cs typeface="Calibri" pitchFamily="34" charset="-120"/>
              </a:rPr>
              <a:t>Comprensión</a:t>
            </a:r>
            <a:endParaRPr lang="en-US" sz="1300" dirty="0"/>
          </a:p>
          <a:p>
            <a:pPr indent="0" marL="0">
              <a:lnSpc>
                <a:spcPts val="1600"/>
              </a:lnSpc>
              <a:buNone/>
            </a:pPr>
            <a:r>
              <a:rPr lang="en-US" sz="1300" b="1" dirty="0">
                <a:solidFill>
                  <a:srgbClr val="202020"/>
                </a:solidFill>
                <a:latin typeface="Calibri" pitchFamily="34" charset="0"/>
                <a:ea typeface="Calibri" pitchFamily="34" charset="-122"/>
                <a:cs typeface="Calibri" pitchFamily="34" charset="-120"/>
              </a:rPr>
              <a:t>de los datos</a:t>
            </a:r>
            <a:endParaRPr lang="en-US" sz="1300" dirty="0"/>
          </a:p>
        </p:txBody>
      </p:sp>
      <p:sp>
        <p:nvSpPr>
          <p:cNvPr id="15" name="Text 13"/>
          <p:cNvSpPr txBox="1"/>
          <p:nvPr/>
        </p:nvSpPr>
        <p:spPr>
          <a:xfrm>
            <a:off x="3099816" y="3511296"/>
            <a:ext cx="1645920" cy="502920"/>
          </a:xfrm>
          <a:prstGeom prst="rect">
            <a:avLst/>
          </a:prstGeom>
          <a:noFill/>
          <a:ln/>
        </p:spPr>
        <p:txBody>
          <a:bodyPr wrap="square" lIns="0" tIns="0" rIns="0" bIns="0" rtlCol="0" anchor="ctr"/>
          <a:lstStyle/>
          <a:p>
            <a:pPr indent="0" marL="0">
              <a:lnSpc>
                <a:spcPts val="1300"/>
              </a:lnSpc>
              <a:buNone/>
            </a:pPr>
            <a:r>
              <a:rPr lang="en-US" sz="1000" dirty="0">
                <a:solidFill>
                  <a:srgbClr val="757275"/>
                </a:solidFill>
                <a:latin typeface="Calibri" pitchFamily="34" charset="0"/>
                <a:ea typeface="Calibri" pitchFamily="34" charset="-122"/>
                <a:cs typeface="Calibri" pitchFamily="34" charset="-120"/>
              </a:rPr>
              <a:t>Perfilado técnico</a:t>
            </a:r>
            <a:endParaRPr lang="en-US" sz="1000" dirty="0"/>
          </a:p>
          <a:p>
            <a:pPr indent="0" marL="0">
              <a:lnSpc>
                <a:spcPts val="1300"/>
              </a:lnSpc>
              <a:buNone/>
            </a:pPr>
            <a:r>
              <a:rPr lang="en-US" sz="1000" dirty="0">
                <a:solidFill>
                  <a:srgbClr val="757275"/>
                </a:solidFill>
                <a:latin typeface="Calibri" pitchFamily="34" charset="0"/>
                <a:ea typeface="Calibri" pitchFamily="34" charset="-122"/>
                <a:cs typeface="Calibri" pitchFamily="34" charset="-120"/>
              </a:rPr>
              <a:t>de 100 audios</a:t>
            </a:r>
            <a:endParaRPr lang="en-US" sz="1000" dirty="0"/>
          </a:p>
        </p:txBody>
      </p:sp>
      <p:sp>
        <p:nvSpPr>
          <p:cNvPr id="16" name="Text 14"/>
          <p:cNvSpPr txBox="1"/>
          <p:nvPr/>
        </p:nvSpPr>
        <p:spPr>
          <a:xfrm>
            <a:off x="4855464" y="2990088"/>
            <a:ext cx="274320" cy="365760"/>
          </a:xfrm>
          <a:prstGeom prst="rect">
            <a:avLst/>
          </a:prstGeom>
          <a:noFill/>
          <a:ln/>
        </p:spPr>
        <p:txBody>
          <a:bodyPr wrap="square" lIns="0" tIns="0" rIns="0" bIns="0" rtlCol="0" anchor="ctr"/>
          <a:lstStyle/>
          <a:p>
            <a:pPr algn="ctr" indent="0" marL="0">
              <a:buNone/>
            </a:pPr>
            <a:r>
              <a:rPr lang="en-US" sz="2000" b="1" dirty="0">
                <a:solidFill>
                  <a:srgbClr val="F9BCE8"/>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5111496" y="2350008"/>
            <a:ext cx="1975104" cy="1737360"/>
          </a:xfrm>
          <a:prstGeom prst="roundRect">
            <a:avLst>
              <a:gd name="adj" fmla="val 5263"/>
            </a:avLst>
          </a:prstGeom>
          <a:solidFill>
            <a:srgbClr val="FFFFFF"/>
          </a:solidFill>
          <a:ln w="12700">
            <a:solidFill>
              <a:srgbClr val="E9E4EF"/>
            </a:solidFill>
            <a:prstDash val="solid"/>
          </a:ln>
          <a:effectLst>
            <a:outerShdw sx="100000" sy="100000" kx="0" ky="0" algn="bl" rotWithShape="0" blurRad="152400" dist="25400" dir="5400000">
              <a:srgbClr val="4E2AAE">
                <a:alpha val="10000"/>
              </a:srgbClr>
            </a:outerShdw>
          </a:effectLst>
        </p:spPr>
      </p:sp>
      <p:sp>
        <p:nvSpPr>
          <p:cNvPr id="18" name="Shape 16"/>
          <p:cNvSpPr/>
          <p:nvPr/>
        </p:nvSpPr>
        <p:spPr>
          <a:xfrm>
            <a:off x="5312664" y="2532888"/>
            <a:ext cx="310896" cy="310896"/>
          </a:xfrm>
          <a:prstGeom prst="ellipse">
            <a:avLst/>
          </a:prstGeom>
          <a:solidFill>
            <a:srgbClr val="7047EB"/>
          </a:solidFill>
          <a:ln/>
        </p:spPr>
      </p:sp>
      <p:sp>
        <p:nvSpPr>
          <p:cNvPr id="19" name="Text 17"/>
          <p:cNvSpPr txBox="1"/>
          <p:nvPr/>
        </p:nvSpPr>
        <p:spPr>
          <a:xfrm>
            <a:off x="5312664" y="25328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5312664" y="2944368"/>
            <a:ext cx="1600200" cy="566928"/>
          </a:xfrm>
          <a:prstGeom prst="rect">
            <a:avLst/>
          </a:prstGeom>
          <a:noFill/>
          <a:ln/>
        </p:spPr>
        <p:txBody>
          <a:bodyPr wrap="square" lIns="0" tIns="0" rIns="0" bIns="0" rtlCol="0" anchor="ctr"/>
          <a:lstStyle/>
          <a:p>
            <a:pPr indent="0" marL="0">
              <a:lnSpc>
                <a:spcPts val="1600"/>
              </a:lnSpc>
              <a:buNone/>
            </a:pPr>
            <a:r>
              <a:rPr lang="en-US" sz="1300" b="1" dirty="0">
                <a:solidFill>
                  <a:srgbClr val="202020"/>
                </a:solidFill>
                <a:latin typeface="Calibri" pitchFamily="34" charset="0"/>
                <a:ea typeface="Calibri" pitchFamily="34" charset="-122"/>
                <a:cs typeface="Calibri" pitchFamily="34" charset="-120"/>
              </a:rPr>
              <a:t>Preparación</a:t>
            </a:r>
            <a:endParaRPr lang="en-US" sz="1300" dirty="0"/>
          </a:p>
          <a:p>
            <a:pPr indent="0" marL="0">
              <a:lnSpc>
                <a:spcPts val="1600"/>
              </a:lnSpc>
              <a:buNone/>
            </a:pPr>
            <a:r>
              <a:rPr lang="en-US" sz="1300" b="1" dirty="0">
                <a:solidFill>
                  <a:srgbClr val="202020"/>
                </a:solidFill>
                <a:latin typeface="Calibri" pitchFamily="34" charset="0"/>
                <a:ea typeface="Calibri" pitchFamily="34" charset="-122"/>
                <a:cs typeface="Calibri" pitchFamily="34" charset="-120"/>
              </a:rPr>
              <a:t>de datos</a:t>
            </a:r>
            <a:endParaRPr lang="en-US" sz="1300" dirty="0"/>
          </a:p>
        </p:txBody>
      </p:sp>
      <p:sp>
        <p:nvSpPr>
          <p:cNvPr id="21" name="Text 19"/>
          <p:cNvSpPr txBox="1"/>
          <p:nvPr/>
        </p:nvSpPr>
        <p:spPr>
          <a:xfrm>
            <a:off x="5312664" y="3511296"/>
            <a:ext cx="1645920" cy="502920"/>
          </a:xfrm>
          <a:prstGeom prst="rect">
            <a:avLst/>
          </a:prstGeom>
          <a:noFill/>
          <a:ln/>
        </p:spPr>
        <p:txBody>
          <a:bodyPr wrap="square" lIns="0" tIns="0" rIns="0" bIns="0" rtlCol="0" anchor="ctr"/>
          <a:lstStyle/>
          <a:p>
            <a:pPr indent="0" marL="0">
              <a:lnSpc>
                <a:spcPts val="1300"/>
              </a:lnSpc>
              <a:buNone/>
            </a:pPr>
            <a:r>
              <a:rPr lang="en-US" sz="1000" dirty="0">
                <a:solidFill>
                  <a:srgbClr val="757275"/>
                </a:solidFill>
                <a:latin typeface="Calibri" pitchFamily="34" charset="0"/>
                <a:ea typeface="Calibri" pitchFamily="34" charset="-122"/>
                <a:cs typeface="Calibri" pitchFamily="34" charset="-120"/>
              </a:rPr>
              <a:t>Transcripción</a:t>
            </a:r>
            <a:endParaRPr lang="en-US" sz="1000" dirty="0"/>
          </a:p>
          <a:p>
            <a:pPr indent="0" marL="0">
              <a:lnSpc>
                <a:spcPts val="1300"/>
              </a:lnSpc>
              <a:buNone/>
            </a:pPr>
            <a:r>
              <a:rPr lang="en-US" sz="1000" dirty="0">
                <a:solidFill>
                  <a:srgbClr val="757275"/>
                </a:solidFill>
                <a:latin typeface="Calibri" pitchFamily="34" charset="0"/>
                <a:ea typeface="Calibri" pitchFamily="34" charset="-122"/>
                <a:cs typeface="Calibri" pitchFamily="34" charset="-120"/>
              </a:rPr>
              <a:t>con diarización</a:t>
            </a:r>
            <a:endParaRPr lang="en-US" sz="1000" dirty="0"/>
          </a:p>
        </p:txBody>
      </p:sp>
      <p:sp>
        <p:nvSpPr>
          <p:cNvPr id="22" name="Text 20"/>
          <p:cNvSpPr txBox="1"/>
          <p:nvPr/>
        </p:nvSpPr>
        <p:spPr>
          <a:xfrm>
            <a:off x="7068312" y="2990088"/>
            <a:ext cx="274320" cy="365760"/>
          </a:xfrm>
          <a:prstGeom prst="rect">
            <a:avLst/>
          </a:prstGeom>
          <a:noFill/>
          <a:ln/>
        </p:spPr>
        <p:txBody>
          <a:bodyPr wrap="square" lIns="0" tIns="0" rIns="0" bIns="0" rtlCol="0" anchor="ctr"/>
          <a:lstStyle/>
          <a:p>
            <a:pPr algn="ctr" indent="0" marL="0">
              <a:buNone/>
            </a:pPr>
            <a:r>
              <a:rPr lang="en-US" sz="2000" b="1" dirty="0">
                <a:solidFill>
                  <a:srgbClr val="F9BCE8"/>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7324344" y="2350008"/>
            <a:ext cx="1975104" cy="1737360"/>
          </a:xfrm>
          <a:prstGeom prst="roundRect">
            <a:avLst>
              <a:gd name="adj" fmla="val 5263"/>
            </a:avLst>
          </a:prstGeom>
          <a:solidFill>
            <a:srgbClr val="FFFFFF"/>
          </a:solidFill>
          <a:ln w="12700">
            <a:solidFill>
              <a:srgbClr val="E9E4EF"/>
            </a:solidFill>
            <a:prstDash val="solid"/>
          </a:ln>
          <a:effectLst>
            <a:outerShdw sx="100000" sy="100000" kx="0" ky="0" algn="bl" rotWithShape="0" blurRad="152400" dist="25400" dir="5400000">
              <a:srgbClr val="4E2AAE">
                <a:alpha val="10000"/>
              </a:srgbClr>
            </a:outerShdw>
          </a:effectLst>
        </p:spPr>
      </p:sp>
      <p:sp>
        <p:nvSpPr>
          <p:cNvPr id="24" name="Shape 22"/>
          <p:cNvSpPr/>
          <p:nvPr/>
        </p:nvSpPr>
        <p:spPr>
          <a:xfrm>
            <a:off x="7525512" y="2532888"/>
            <a:ext cx="310896" cy="310896"/>
          </a:xfrm>
          <a:prstGeom prst="ellipse">
            <a:avLst/>
          </a:prstGeom>
          <a:solidFill>
            <a:srgbClr val="4E2AAE"/>
          </a:solidFill>
          <a:ln/>
        </p:spPr>
      </p:sp>
      <p:sp>
        <p:nvSpPr>
          <p:cNvPr id="25" name="Text 23"/>
          <p:cNvSpPr txBox="1"/>
          <p:nvPr/>
        </p:nvSpPr>
        <p:spPr>
          <a:xfrm>
            <a:off x="7525512" y="25328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txBox="1"/>
          <p:nvPr/>
        </p:nvSpPr>
        <p:spPr>
          <a:xfrm>
            <a:off x="7525512" y="2944368"/>
            <a:ext cx="1600200" cy="566928"/>
          </a:xfrm>
          <a:prstGeom prst="rect">
            <a:avLst/>
          </a:prstGeom>
          <a:noFill/>
          <a:ln/>
        </p:spPr>
        <p:txBody>
          <a:bodyPr wrap="square" lIns="0" tIns="0" rIns="0" bIns="0" rtlCol="0" anchor="ctr"/>
          <a:lstStyle/>
          <a:p>
            <a:pPr indent="0" marL="0">
              <a:lnSpc>
                <a:spcPts val="1600"/>
              </a:lnSpc>
              <a:buNone/>
            </a:pPr>
            <a:r>
              <a:rPr lang="en-US" sz="1300" b="1" dirty="0">
                <a:solidFill>
                  <a:srgbClr val="202020"/>
                </a:solidFill>
                <a:latin typeface="Calibri" pitchFamily="34" charset="0"/>
                <a:ea typeface="Calibri" pitchFamily="34" charset="-122"/>
                <a:cs typeface="Calibri" pitchFamily="34" charset="-120"/>
              </a:rPr>
              <a:t>Modelado</a:t>
            </a:r>
            <a:endParaRPr lang="en-US" sz="1300" dirty="0"/>
          </a:p>
        </p:txBody>
      </p:sp>
      <p:sp>
        <p:nvSpPr>
          <p:cNvPr id="27" name="Text 25"/>
          <p:cNvSpPr txBox="1"/>
          <p:nvPr/>
        </p:nvSpPr>
        <p:spPr>
          <a:xfrm>
            <a:off x="7525512" y="3511296"/>
            <a:ext cx="1645920" cy="502920"/>
          </a:xfrm>
          <a:prstGeom prst="rect">
            <a:avLst/>
          </a:prstGeom>
          <a:noFill/>
          <a:ln/>
        </p:spPr>
        <p:txBody>
          <a:bodyPr wrap="square" lIns="0" tIns="0" rIns="0" bIns="0" rtlCol="0" anchor="ctr"/>
          <a:lstStyle/>
          <a:p>
            <a:pPr indent="0" marL="0">
              <a:lnSpc>
                <a:spcPts val="1300"/>
              </a:lnSpc>
              <a:buNone/>
            </a:pPr>
            <a:r>
              <a:rPr lang="en-US" sz="1000" dirty="0">
                <a:solidFill>
                  <a:srgbClr val="757275"/>
                </a:solidFill>
                <a:latin typeface="Calibri" pitchFamily="34" charset="0"/>
                <a:ea typeface="Calibri" pitchFamily="34" charset="-122"/>
                <a:cs typeface="Calibri" pitchFamily="34" charset="-120"/>
              </a:rPr>
              <a:t>Extracción de</a:t>
            </a:r>
            <a:endParaRPr lang="en-US" sz="1000" dirty="0"/>
          </a:p>
          <a:p>
            <a:pPr indent="0" marL="0">
              <a:lnSpc>
                <a:spcPts val="1300"/>
              </a:lnSpc>
              <a:buNone/>
            </a:pPr>
            <a:r>
              <a:rPr lang="en-US" sz="1000" dirty="0">
                <a:solidFill>
                  <a:srgbClr val="757275"/>
                </a:solidFill>
                <a:latin typeface="Calibri" pitchFamily="34" charset="0"/>
                <a:ea typeface="Calibri" pitchFamily="34" charset="-122"/>
                <a:cs typeface="Calibri" pitchFamily="34" charset="-120"/>
              </a:rPr>
              <a:t>28 variables</a:t>
            </a:r>
            <a:endParaRPr lang="en-US" sz="1000" dirty="0"/>
          </a:p>
        </p:txBody>
      </p:sp>
      <p:sp>
        <p:nvSpPr>
          <p:cNvPr id="28" name="Text 26"/>
          <p:cNvSpPr txBox="1"/>
          <p:nvPr/>
        </p:nvSpPr>
        <p:spPr>
          <a:xfrm>
            <a:off x="9281160" y="2990088"/>
            <a:ext cx="274320" cy="365760"/>
          </a:xfrm>
          <a:prstGeom prst="rect">
            <a:avLst/>
          </a:prstGeom>
          <a:noFill/>
          <a:ln/>
        </p:spPr>
        <p:txBody>
          <a:bodyPr wrap="square" lIns="0" tIns="0" rIns="0" bIns="0" rtlCol="0" anchor="ctr"/>
          <a:lstStyle/>
          <a:p>
            <a:pPr algn="ctr" indent="0" marL="0">
              <a:buNone/>
            </a:pPr>
            <a:r>
              <a:rPr lang="en-US" sz="2000" b="1" dirty="0">
                <a:solidFill>
                  <a:srgbClr val="F9BCE8"/>
                </a:solidFill>
                <a:latin typeface="Calibri" pitchFamily="34" charset="0"/>
                <a:ea typeface="Calibri" pitchFamily="34" charset="-122"/>
                <a:cs typeface="Calibri" pitchFamily="34" charset="-120"/>
              </a:rPr>
              <a:t>›</a:t>
            </a:r>
            <a:endParaRPr lang="en-US" sz="2000" dirty="0"/>
          </a:p>
        </p:txBody>
      </p:sp>
      <p:sp>
        <p:nvSpPr>
          <p:cNvPr id="29" name="Shape 27"/>
          <p:cNvSpPr/>
          <p:nvPr/>
        </p:nvSpPr>
        <p:spPr>
          <a:xfrm>
            <a:off x="9537192" y="2350008"/>
            <a:ext cx="1975104" cy="1737360"/>
          </a:xfrm>
          <a:prstGeom prst="roundRect">
            <a:avLst>
              <a:gd name="adj" fmla="val 5263"/>
            </a:avLst>
          </a:prstGeom>
          <a:solidFill>
            <a:srgbClr val="FDEDF9"/>
          </a:solidFill>
          <a:ln w="22225">
            <a:solidFill>
              <a:srgbClr val="F26ECF"/>
            </a:solidFill>
            <a:prstDash val="solid"/>
          </a:ln>
          <a:effectLst>
            <a:outerShdw sx="100000" sy="100000" kx="0" ky="0" algn="bl" rotWithShape="0" blurRad="152400" dist="25400" dir="5400000">
              <a:srgbClr val="4E2AAE">
                <a:alpha val="10000"/>
              </a:srgbClr>
            </a:outerShdw>
          </a:effectLst>
        </p:spPr>
      </p:sp>
      <p:sp>
        <p:nvSpPr>
          <p:cNvPr id="30" name="Shape 28"/>
          <p:cNvSpPr/>
          <p:nvPr/>
        </p:nvSpPr>
        <p:spPr>
          <a:xfrm>
            <a:off x="9738360" y="2532888"/>
            <a:ext cx="310896" cy="310896"/>
          </a:xfrm>
          <a:prstGeom prst="ellipse">
            <a:avLst/>
          </a:prstGeom>
          <a:solidFill>
            <a:srgbClr val="F26ECF"/>
          </a:solidFill>
          <a:ln/>
        </p:spPr>
      </p:sp>
      <p:sp>
        <p:nvSpPr>
          <p:cNvPr id="31" name="Text 29"/>
          <p:cNvSpPr txBox="1"/>
          <p:nvPr/>
        </p:nvSpPr>
        <p:spPr>
          <a:xfrm>
            <a:off x="9738360" y="25328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30"/>
          <p:cNvSpPr txBox="1"/>
          <p:nvPr/>
        </p:nvSpPr>
        <p:spPr>
          <a:xfrm>
            <a:off x="9738360" y="2944368"/>
            <a:ext cx="1600200" cy="566928"/>
          </a:xfrm>
          <a:prstGeom prst="rect">
            <a:avLst/>
          </a:prstGeom>
          <a:noFill/>
          <a:ln/>
        </p:spPr>
        <p:txBody>
          <a:bodyPr wrap="square" lIns="0" tIns="0" rIns="0" bIns="0" rtlCol="0" anchor="ctr"/>
          <a:lstStyle/>
          <a:p>
            <a:pPr indent="0" marL="0">
              <a:lnSpc>
                <a:spcPts val="1600"/>
              </a:lnSpc>
              <a:buNone/>
            </a:pPr>
            <a:r>
              <a:rPr lang="en-US" sz="1300" b="1" dirty="0">
                <a:solidFill>
                  <a:srgbClr val="202020"/>
                </a:solidFill>
                <a:latin typeface="Calibri" pitchFamily="34" charset="0"/>
                <a:ea typeface="Calibri" pitchFamily="34" charset="-122"/>
                <a:cs typeface="Calibri" pitchFamily="34" charset="-120"/>
              </a:rPr>
              <a:t>Evaluación</a:t>
            </a:r>
            <a:endParaRPr lang="en-US" sz="1300" dirty="0"/>
          </a:p>
        </p:txBody>
      </p:sp>
      <p:sp>
        <p:nvSpPr>
          <p:cNvPr id="33" name="Text 31"/>
          <p:cNvSpPr txBox="1"/>
          <p:nvPr/>
        </p:nvSpPr>
        <p:spPr>
          <a:xfrm>
            <a:off x="9738360" y="3511296"/>
            <a:ext cx="1645920" cy="502920"/>
          </a:xfrm>
          <a:prstGeom prst="rect">
            <a:avLst/>
          </a:prstGeom>
          <a:noFill/>
          <a:ln/>
        </p:spPr>
        <p:txBody>
          <a:bodyPr wrap="square" lIns="0" tIns="0" rIns="0" bIns="0" rtlCol="0" anchor="ctr"/>
          <a:lstStyle/>
          <a:p>
            <a:pPr indent="0" marL="0">
              <a:lnSpc>
                <a:spcPts val="1300"/>
              </a:lnSpc>
              <a:buNone/>
            </a:pPr>
            <a:r>
              <a:rPr lang="en-US" sz="1000" dirty="0">
                <a:solidFill>
                  <a:srgbClr val="757275"/>
                </a:solidFill>
                <a:latin typeface="Calibri" pitchFamily="34" charset="0"/>
                <a:ea typeface="Calibri" pitchFamily="34" charset="-122"/>
                <a:cs typeface="Calibri" pitchFamily="34" charset="-120"/>
              </a:rPr>
              <a:t>Comparación</a:t>
            </a:r>
            <a:endParaRPr lang="en-US" sz="1000" dirty="0"/>
          </a:p>
          <a:p>
            <a:pPr indent="0" marL="0">
              <a:lnSpc>
                <a:spcPts val="1300"/>
              </a:lnSpc>
              <a:buNone/>
            </a:pPr>
            <a:r>
              <a:rPr lang="en-US" sz="1000" dirty="0">
                <a:solidFill>
                  <a:srgbClr val="757275"/>
                </a:solidFill>
                <a:latin typeface="Calibri" pitchFamily="34" charset="0"/>
                <a:ea typeface="Calibri" pitchFamily="34" charset="-122"/>
                <a:cs typeface="Calibri" pitchFamily="34" charset="-120"/>
              </a:rPr>
              <a:t>estadística</a:t>
            </a:r>
            <a:endParaRPr lang="en-US" sz="1000" dirty="0"/>
          </a:p>
        </p:txBody>
      </p:sp>
      <p:sp>
        <p:nvSpPr>
          <p:cNvPr id="34" name="Shape 32"/>
          <p:cNvSpPr/>
          <p:nvPr/>
        </p:nvSpPr>
        <p:spPr>
          <a:xfrm>
            <a:off x="685800" y="4315968"/>
            <a:ext cx="10789920" cy="1143000"/>
          </a:xfrm>
          <a:prstGeom prst="roundRect">
            <a:avLst>
              <a:gd name="adj" fmla="val 9600"/>
            </a:avLst>
          </a:prstGeom>
          <a:solidFill>
            <a:srgbClr val="FDEDF9"/>
          </a:solidFill>
          <a:ln/>
        </p:spPr>
      </p:sp>
      <p:sp>
        <p:nvSpPr>
          <p:cNvPr id="35" name="Shape 33"/>
          <p:cNvSpPr/>
          <p:nvPr/>
        </p:nvSpPr>
        <p:spPr>
          <a:xfrm>
            <a:off x="1051560" y="4700016"/>
            <a:ext cx="384048" cy="384048"/>
          </a:xfrm>
          <a:prstGeom prst="ellipse">
            <a:avLst/>
          </a:prstGeom>
          <a:solidFill>
            <a:srgbClr val="F26ECF"/>
          </a:solidFill>
          <a:ln/>
        </p:spPr>
      </p:sp>
      <p:sp>
        <p:nvSpPr>
          <p:cNvPr id="36" name="Text 34"/>
          <p:cNvSpPr txBox="1"/>
          <p:nvPr/>
        </p:nvSpPr>
        <p:spPr>
          <a:xfrm>
            <a:off x="1051560" y="4681728"/>
            <a:ext cx="384048" cy="38404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37" name="Text 35"/>
          <p:cNvSpPr txBox="1"/>
          <p:nvPr/>
        </p:nvSpPr>
        <p:spPr>
          <a:xfrm>
            <a:off x="1600200" y="4544568"/>
            <a:ext cx="9418320" cy="777240"/>
          </a:xfrm>
          <a:prstGeom prst="rect">
            <a:avLst/>
          </a:prstGeom>
          <a:noFill/>
          <a:ln/>
        </p:spPr>
        <p:txBody>
          <a:bodyPr wrap="square" lIns="0" tIns="0" rIns="0" bIns="0" rtlCol="0" anchor="ctr"/>
          <a:lstStyle/>
          <a:p>
            <a:pPr indent="0" marL="0">
              <a:lnSpc>
                <a:spcPts val="1900"/>
              </a:lnSpc>
              <a:buNone/>
            </a:pPr>
            <a:r>
              <a:rPr lang="en-US" sz="1300" b="1" dirty="0">
                <a:solidFill>
                  <a:srgbClr val="4E2AAE"/>
                </a:solidFill>
                <a:latin typeface="Calibri" pitchFamily="34" charset="0"/>
                <a:ea typeface="Calibri" pitchFamily="34" charset="-122"/>
                <a:cs typeface="Calibri" pitchFamily="34" charset="-120"/>
              </a:rPr>
              <a:t>La evaluación devolvió el proyecto a la comprensión del negocio.  </a:t>
            </a:r>
            <a:pPr indent="0" marL="0">
              <a:lnSpc>
                <a:spcPts val="1900"/>
              </a:lnSpc>
              <a:buNone/>
            </a:pPr>
            <a:r>
              <a:rPr lang="en-US" sz="1300" dirty="0">
                <a:solidFill>
                  <a:srgbClr val="202020"/>
                </a:solidFill>
                <a:latin typeface="Calibri" pitchFamily="34" charset="0"/>
                <a:ea typeface="Calibri" pitchFamily="34" charset="-122"/>
                <a:cs typeface="Calibri" pitchFamily="34" charset="-120"/>
              </a:rPr>
              <a:t>Al comparar los grupos apareció un problema de composición de muestra que invalidaba la pregunta original — y obligó a reformularla en vez de responderla mal.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F26ECF"/>
                </a:solidFill>
                <a:latin typeface="Calibri" pitchFamily="34" charset="0"/>
                <a:ea typeface="Calibri" pitchFamily="34" charset="-122"/>
                <a:cs typeface="Calibri" pitchFamily="34" charset="-120"/>
              </a:rPr>
              <a:t>COMPRENSIÓN DEL NEGOCIO</a:t>
            </a:r>
            <a:endParaRPr lang="en-US" sz="1100" dirty="0"/>
          </a:p>
        </p:txBody>
      </p:sp>
      <p:sp>
        <p:nvSpPr>
          <p:cNvPr id="3" name="Text 1"/>
          <p:cNvSpPr txBox="1"/>
          <p:nvPr/>
        </p:nvSpPr>
        <p:spPr>
          <a:xfrm>
            <a:off x="685800" y="676656"/>
            <a:ext cx="10789920" cy="749808"/>
          </a:xfrm>
          <a:prstGeom prst="rect">
            <a:avLst/>
          </a:prstGeom>
          <a:noFill/>
          <a:ln/>
        </p:spPr>
        <p:txBody>
          <a:bodyPr wrap="square" lIns="0" tIns="0" rIns="0" bIns="0" rtlCol="0" anchor="ctr"/>
          <a:lstStyle/>
          <a:p>
            <a:pPr indent="0" marL="0">
              <a:buNone/>
            </a:pPr>
            <a:r>
              <a:rPr lang="en-US" sz="3200" b="1" dirty="0">
                <a:solidFill>
                  <a:srgbClr val="202020"/>
                </a:solidFill>
                <a:latin typeface="Cambria" pitchFamily="34" charset="0"/>
                <a:ea typeface="Cambria" pitchFamily="34" charset="-122"/>
                <a:cs typeface="Cambria" pitchFamily="34" charset="-120"/>
              </a:rPr>
              <a:t>Primero escuché; después decidí qué medir</a:t>
            </a:r>
            <a:endParaRPr lang="en-US" sz="3200" dirty="0"/>
          </a:p>
        </p:txBody>
      </p:sp>
      <p:sp>
        <p:nvSpPr>
          <p:cNvPr id="4" name="Text 2"/>
          <p:cNvSpPr txBox="1"/>
          <p:nvPr/>
        </p:nvSpPr>
        <p:spPr>
          <a:xfrm>
            <a:off x="685800" y="1572768"/>
            <a:ext cx="5669280" cy="1234440"/>
          </a:xfrm>
          <a:prstGeom prst="rect">
            <a:avLst/>
          </a:prstGeom>
          <a:noFill/>
          <a:ln/>
        </p:spPr>
        <p:txBody>
          <a:bodyPr wrap="square" lIns="0" tIns="0" rIns="0" bIns="0" rtlCol="0" anchor="ctr"/>
          <a:lstStyle/>
          <a:p>
            <a:pPr indent="0" marL="0">
              <a:lnSpc>
                <a:spcPts val="2100"/>
              </a:lnSpc>
              <a:buNone/>
            </a:pPr>
            <a:r>
              <a:rPr lang="en-US" sz="1400" dirty="0">
                <a:solidFill>
                  <a:srgbClr val="202020"/>
                </a:solidFill>
                <a:latin typeface="Calibri" pitchFamily="34" charset="0"/>
                <a:ea typeface="Calibri" pitchFamily="34" charset="-122"/>
                <a:cs typeface="Calibri" pitchFamily="34" charset="-120"/>
              </a:rPr>
              <a:t>No quise definir las variables desde una perspectiva técnica. Antes de escribir código escuché una muestra de llamadas completas para entender qué es una «gestión» dentro del negocio: cómo abre el agente, qué ofrece, qué objeta el cliente, cómo termina.</a:t>
            </a:r>
            <a:endParaRPr lang="en-US" sz="1400" dirty="0"/>
          </a:p>
        </p:txBody>
      </p:sp>
      <p:sp>
        <p:nvSpPr>
          <p:cNvPr id="5" name="Shape 3"/>
          <p:cNvSpPr/>
          <p:nvPr/>
        </p:nvSpPr>
        <p:spPr>
          <a:xfrm>
            <a:off x="685800" y="2944368"/>
            <a:ext cx="5669280" cy="1051560"/>
          </a:xfrm>
          <a:prstGeom prst="roundRect">
            <a:avLst>
              <a:gd name="adj" fmla="val 8696"/>
            </a:avLst>
          </a:prstGeom>
          <a:solidFill>
            <a:srgbClr val="FDEDF9"/>
          </a:solidFill>
          <a:ln/>
        </p:spPr>
      </p:sp>
      <p:sp>
        <p:nvSpPr>
          <p:cNvPr id="6" name="Text 4"/>
          <p:cNvSpPr txBox="1"/>
          <p:nvPr/>
        </p:nvSpPr>
        <p:spPr>
          <a:xfrm>
            <a:off x="1005840" y="3108960"/>
            <a:ext cx="5029200" cy="731520"/>
          </a:xfrm>
          <a:prstGeom prst="rect">
            <a:avLst/>
          </a:prstGeom>
          <a:noFill/>
          <a:ln/>
        </p:spPr>
        <p:txBody>
          <a:bodyPr wrap="square" lIns="0" tIns="0" rIns="0" bIns="0" rtlCol="0" anchor="ctr"/>
          <a:lstStyle/>
          <a:p>
            <a:pPr indent="0" marL="0">
              <a:lnSpc>
                <a:spcPts val="2100"/>
              </a:lnSpc>
              <a:buNone/>
            </a:pPr>
            <a:r>
              <a:rPr lang="en-US" sz="1500" i="1" dirty="0">
                <a:solidFill>
                  <a:srgbClr val="4E2AAE"/>
                </a:solidFill>
                <a:latin typeface="Cambria" pitchFamily="34" charset="0"/>
                <a:ea typeface="Cambria" pitchFamily="34" charset="-122"/>
                <a:cs typeface="Cambria" pitchFamily="34" charset="-120"/>
              </a:rPr>
              <a:t>“Primero entendí el problema; después decidí qué datos necesitaba extraer.”</a:t>
            </a:r>
            <a:endParaRPr lang="en-US" sz="1500" dirty="0"/>
          </a:p>
        </p:txBody>
      </p:sp>
      <p:sp>
        <p:nvSpPr>
          <p:cNvPr id="7" name="Text 5"/>
          <p:cNvSpPr txBox="1"/>
          <p:nvPr/>
        </p:nvSpPr>
        <p:spPr>
          <a:xfrm>
            <a:off x="685800" y="4224528"/>
            <a:ext cx="5669280" cy="274320"/>
          </a:xfrm>
          <a:prstGeom prst="rect">
            <a:avLst/>
          </a:prstGeom>
          <a:noFill/>
          <a:ln/>
        </p:spPr>
        <p:txBody>
          <a:bodyPr wrap="square" lIns="0" tIns="0" rIns="0" bIns="0" rtlCol="0" anchor="ctr"/>
          <a:lstStyle/>
          <a:p>
            <a:pPr indent="0" marL="0">
              <a:buNone/>
            </a:pPr>
            <a:r>
              <a:rPr lang="en-US" sz="1250" b="1" dirty="0">
                <a:solidFill>
                  <a:srgbClr val="202020"/>
                </a:solidFill>
                <a:latin typeface="Calibri" pitchFamily="34" charset="0"/>
                <a:ea typeface="Calibri" pitchFamily="34" charset="-122"/>
                <a:cs typeface="Calibri" pitchFamily="34" charset="-120"/>
              </a:rPr>
              <a:t>De esa escucha salieron las categorías de variables:</a:t>
            </a:r>
            <a:endParaRPr lang="en-US" sz="1250" dirty="0"/>
          </a:p>
        </p:txBody>
      </p:sp>
      <p:sp>
        <p:nvSpPr>
          <p:cNvPr id="8" name="Shape 6"/>
          <p:cNvSpPr/>
          <p:nvPr/>
        </p:nvSpPr>
        <p:spPr>
          <a:xfrm>
            <a:off x="740664" y="4626864"/>
            <a:ext cx="100584" cy="100584"/>
          </a:xfrm>
          <a:prstGeom prst="ellipse">
            <a:avLst/>
          </a:prstGeom>
          <a:solidFill>
            <a:srgbClr val="7047EB"/>
          </a:solidFill>
          <a:ln/>
        </p:spPr>
      </p:sp>
      <p:sp>
        <p:nvSpPr>
          <p:cNvPr id="9" name="Text 7"/>
          <p:cNvSpPr txBox="1"/>
          <p:nvPr/>
        </p:nvSpPr>
        <p:spPr>
          <a:xfrm>
            <a:off x="1051560" y="4553712"/>
            <a:ext cx="5303520" cy="292608"/>
          </a:xfrm>
          <a:prstGeom prst="rect">
            <a:avLst/>
          </a:prstGeom>
          <a:noFill/>
          <a:ln/>
        </p:spPr>
        <p:txBody>
          <a:bodyPr wrap="square" lIns="0" tIns="0" rIns="0" bIns="0" rtlCol="0" anchor="t"/>
          <a:lstStyle/>
          <a:p>
            <a:pPr indent="0" marL="0">
              <a:buNone/>
            </a:pPr>
            <a:r>
              <a:rPr lang="en-US" sz="1250" dirty="0">
                <a:solidFill>
                  <a:srgbClr val="202020"/>
                </a:solidFill>
                <a:latin typeface="Calibri" pitchFamily="34" charset="0"/>
                <a:ea typeface="Calibri" pitchFamily="34" charset="-122"/>
                <a:cs typeface="Calibri" pitchFamily="34" charset="-120"/>
              </a:rPr>
              <a:t>Características y tipo de la gestión</a:t>
            </a:r>
            <a:endParaRPr lang="en-US" sz="1250" dirty="0"/>
          </a:p>
        </p:txBody>
      </p:sp>
      <p:sp>
        <p:nvSpPr>
          <p:cNvPr id="10" name="Shape 8"/>
          <p:cNvSpPr/>
          <p:nvPr/>
        </p:nvSpPr>
        <p:spPr>
          <a:xfrm>
            <a:off x="740664" y="4956048"/>
            <a:ext cx="100584" cy="100584"/>
          </a:xfrm>
          <a:prstGeom prst="ellipse">
            <a:avLst/>
          </a:prstGeom>
          <a:solidFill>
            <a:srgbClr val="7047EB"/>
          </a:solidFill>
          <a:ln/>
        </p:spPr>
      </p:sp>
      <p:sp>
        <p:nvSpPr>
          <p:cNvPr id="11" name="Text 9"/>
          <p:cNvSpPr txBox="1"/>
          <p:nvPr/>
        </p:nvSpPr>
        <p:spPr>
          <a:xfrm>
            <a:off x="1051560" y="4882896"/>
            <a:ext cx="5303520" cy="292608"/>
          </a:xfrm>
          <a:prstGeom prst="rect">
            <a:avLst/>
          </a:prstGeom>
          <a:noFill/>
          <a:ln/>
        </p:spPr>
        <p:txBody>
          <a:bodyPr wrap="square" lIns="0" tIns="0" rIns="0" bIns="0" rtlCol="0" anchor="t"/>
          <a:lstStyle/>
          <a:p>
            <a:pPr indent="0" marL="0">
              <a:buNone/>
            </a:pPr>
            <a:r>
              <a:rPr lang="en-US" sz="1250" dirty="0">
                <a:solidFill>
                  <a:srgbClr val="202020"/>
                </a:solidFill>
                <a:latin typeface="Calibri" pitchFamily="34" charset="0"/>
                <a:ea typeface="Calibri" pitchFamily="34" charset="-122"/>
                <a:cs typeface="Calibri" pitchFamily="34" charset="-120"/>
              </a:rPr>
              <a:t>Propuesta económica ofrecida</a:t>
            </a:r>
            <a:endParaRPr lang="en-US" sz="1250" dirty="0"/>
          </a:p>
        </p:txBody>
      </p:sp>
      <p:sp>
        <p:nvSpPr>
          <p:cNvPr id="12" name="Shape 10"/>
          <p:cNvSpPr/>
          <p:nvPr/>
        </p:nvSpPr>
        <p:spPr>
          <a:xfrm>
            <a:off x="740664" y="5285232"/>
            <a:ext cx="100584" cy="100584"/>
          </a:xfrm>
          <a:prstGeom prst="ellipse">
            <a:avLst/>
          </a:prstGeom>
          <a:solidFill>
            <a:srgbClr val="7047EB"/>
          </a:solidFill>
          <a:ln/>
        </p:spPr>
      </p:sp>
      <p:sp>
        <p:nvSpPr>
          <p:cNvPr id="13" name="Text 11"/>
          <p:cNvSpPr txBox="1"/>
          <p:nvPr/>
        </p:nvSpPr>
        <p:spPr>
          <a:xfrm>
            <a:off x="1051560" y="5212080"/>
            <a:ext cx="5303520" cy="292608"/>
          </a:xfrm>
          <a:prstGeom prst="rect">
            <a:avLst/>
          </a:prstGeom>
          <a:noFill/>
          <a:ln/>
        </p:spPr>
        <p:txBody>
          <a:bodyPr wrap="square" lIns="0" tIns="0" rIns="0" bIns="0" rtlCol="0" anchor="t"/>
          <a:lstStyle/>
          <a:p>
            <a:pPr indent="0" marL="0">
              <a:buNone/>
            </a:pPr>
            <a:r>
              <a:rPr lang="en-US" sz="1250" dirty="0">
                <a:solidFill>
                  <a:srgbClr val="202020"/>
                </a:solidFill>
                <a:latin typeface="Calibri" pitchFamily="34" charset="0"/>
                <a:ea typeface="Calibri" pitchFamily="34" charset="-122"/>
                <a:cs typeface="Calibri" pitchFamily="34" charset="-120"/>
              </a:rPr>
              <a:t>Objeciones del cliente y respuesta del agente</a:t>
            </a:r>
            <a:endParaRPr lang="en-US" sz="1250" dirty="0"/>
          </a:p>
        </p:txBody>
      </p:sp>
      <p:sp>
        <p:nvSpPr>
          <p:cNvPr id="14" name="Shape 12"/>
          <p:cNvSpPr/>
          <p:nvPr/>
        </p:nvSpPr>
        <p:spPr>
          <a:xfrm>
            <a:off x="740664" y="5614416"/>
            <a:ext cx="100584" cy="100584"/>
          </a:xfrm>
          <a:prstGeom prst="ellipse">
            <a:avLst/>
          </a:prstGeom>
          <a:solidFill>
            <a:srgbClr val="7047EB"/>
          </a:solidFill>
          <a:ln/>
        </p:spPr>
      </p:sp>
      <p:sp>
        <p:nvSpPr>
          <p:cNvPr id="15" name="Text 13"/>
          <p:cNvSpPr txBox="1"/>
          <p:nvPr/>
        </p:nvSpPr>
        <p:spPr>
          <a:xfrm>
            <a:off x="1051560" y="5541264"/>
            <a:ext cx="5303520" cy="292608"/>
          </a:xfrm>
          <a:prstGeom prst="rect">
            <a:avLst/>
          </a:prstGeom>
          <a:noFill/>
          <a:ln/>
        </p:spPr>
        <p:txBody>
          <a:bodyPr wrap="square" lIns="0" tIns="0" rIns="0" bIns="0" rtlCol="0" anchor="t"/>
          <a:lstStyle/>
          <a:p>
            <a:pPr indent="0" marL="0">
              <a:buNone/>
            </a:pPr>
            <a:r>
              <a:rPr lang="en-US" sz="1250" dirty="0">
                <a:solidFill>
                  <a:srgbClr val="202020"/>
                </a:solidFill>
                <a:latin typeface="Calibri" pitchFamily="34" charset="0"/>
                <a:ea typeface="Calibri" pitchFamily="34" charset="-122"/>
                <a:cs typeface="Calibri" pitchFamily="34" charset="-120"/>
              </a:rPr>
              <a:t>Resultado y motivo de cierre de la llamada</a:t>
            </a:r>
            <a:endParaRPr lang="en-US" sz="1250" dirty="0"/>
          </a:p>
        </p:txBody>
      </p:sp>
      <p:sp>
        <p:nvSpPr>
          <p:cNvPr id="16" name="Shape 14"/>
          <p:cNvSpPr/>
          <p:nvPr/>
        </p:nvSpPr>
        <p:spPr>
          <a:xfrm>
            <a:off x="740664" y="5943600"/>
            <a:ext cx="100584" cy="100584"/>
          </a:xfrm>
          <a:prstGeom prst="ellipse">
            <a:avLst/>
          </a:prstGeom>
          <a:solidFill>
            <a:srgbClr val="7047EB"/>
          </a:solidFill>
          <a:ln/>
        </p:spPr>
      </p:sp>
      <p:sp>
        <p:nvSpPr>
          <p:cNvPr id="17" name="Text 15"/>
          <p:cNvSpPr txBox="1"/>
          <p:nvPr/>
        </p:nvSpPr>
        <p:spPr>
          <a:xfrm>
            <a:off x="1051560" y="5870448"/>
            <a:ext cx="5303520" cy="292608"/>
          </a:xfrm>
          <a:prstGeom prst="rect">
            <a:avLst/>
          </a:prstGeom>
          <a:noFill/>
          <a:ln/>
        </p:spPr>
        <p:txBody>
          <a:bodyPr wrap="square" lIns="0" tIns="0" rIns="0" bIns="0" rtlCol="0" anchor="t"/>
          <a:lstStyle/>
          <a:p>
            <a:pPr indent="0" marL="0">
              <a:buNone/>
            </a:pPr>
            <a:r>
              <a:rPr lang="en-US" sz="1250" dirty="0">
                <a:solidFill>
                  <a:srgbClr val="202020"/>
                </a:solidFill>
                <a:latin typeface="Calibri" pitchFamily="34" charset="0"/>
                <a:ea typeface="Calibri" pitchFamily="34" charset="-122"/>
                <a:cs typeface="Calibri" pitchFamily="34" charset="-120"/>
              </a:rPr>
              <a:t>Tono del cliente y adaptación del agente</a:t>
            </a:r>
            <a:endParaRPr lang="en-US" sz="1250" dirty="0"/>
          </a:p>
        </p:txBody>
      </p:sp>
      <p:sp>
        <p:nvSpPr>
          <p:cNvPr id="18" name="Shape 16"/>
          <p:cNvSpPr/>
          <p:nvPr/>
        </p:nvSpPr>
        <p:spPr>
          <a:xfrm>
            <a:off x="6720840" y="1527048"/>
            <a:ext cx="4754880" cy="4754880"/>
          </a:xfrm>
          <a:prstGeom prst="roundRect">
            <a:avLst>
              <a:gd name="adj" fmla="val 2308"/>
            </a:avLst>
          </a:prstGeom>
          <a:solidFill>
            <a:srgbClr val="4E2AAE"/>
          </a:solidFill>
          <a:ln/>
        </p:spPr>
      </p:sp>
      <p:sp>
        <p:nvSpPr>
          <p:cNvPr id="19" name="Text 17"/>
          <p:cNvSpPr txBox="1"/>
          <p:nvPr/>
        </p:nvSpPr>
        <p:spPr>
          <a:xfrm>
            <a:off x="7086600" y="1801368"/>
            <a:ext cx="4023360" cy="292608"/>
          </a:xfrm>
          <a:prstGeom prst="rect">
            <a:avLst/>
          </a:prstGeom>
          <a:noFill/>
          <a:ln/>
        </p:spPr>
        <p:txBody>
          <a:bodyPr wrap="square" lIns="0" tIns="0" rIns="0" bIns="0" rtlCol="0" anchor="ctr"/>
          <a:lstStyle/>
          <a:p>
            <a:pPr indent="0" marL="0">
              <a:buNone/>
            </a:pPr>
            <a:r>
              <a:rPr lang="en-US" sz="1300" b="1" dirty="0">
                <a:solidFill>
                  <a:srgbClr val="F9BCE8"/>
                </a:solidFill>
                <a:latin typeface="Calibri" pitchFamily="34" charset="0"/>
                <a:ea typeface="Calibri" pitchFamily="34" charset="-122"/>
                <a:cs typeface="Calibri" pitchFamily="34" charset="-120"/>
              </a:rPr>
              <a:t>Lo que la escucha reveló</a:t>
            </a:r>
            <a:endParaRPr lang="en-US" sz="1300" dirty="0"/>
          </a:p>
        </p:txBody>
      </p:sp>
      <p:sp>
        <p:nvSpPr>
          <p:cNvPr id="20" name="Shape 18"/>
          <p:cNvSpPr/>
          <p:nvPr/>
        </p:nvSpPr>
        <p:spPr>
          <a:xfrm>
            <a:off x="7104888" y="2322576"/>
            <a:ext cx="118872" cy="118872"/>
          </a:xfrm>
          <a:prstGeom prst="ellipse">
            <a:avLst/>
          </a:prstGeom>
          <a:solidFill>
            <a:srgbClr val="F26ECF"/>
          </a:solidFill>
          <a:ln/>
        </p:spPr>
      </p:sp>
      <p:sp>
        <p:nvSpPr>
          <p:cNvPr id="21" name="Text 19"/>
          <p:cNvSpPr txBox="1"/>
          <p:nvPr/>
        </p:nvSpPr>
        <p:spPr>
          <a:xfrm>
            <a:off x="7406640" y="2221992"/>
            <a:ext cx="37490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todas las llamadas son lo mismo</a:t>
            </a:r>
            <a:endParaRPr lang="en-US" sz="1300" dirty="0"/>
          </a:p>
        </p:txBody>
      </p:sp>
      <p:sp>
        <p:nvSpPr>
          <p:cNvPr id="22" name="Text 20"/>
          <p:cNvSpPr txBox="1"/>
          <p:nvPr/>
        </p:nvSpPr>
        <p:spPr>
          <a:xfrm>
            <a:off x="7406640" y="2496312"/>
            <a:ext cx="3749040" cy="603504"/>
          </a:xfrm>
          <a:prstGeom prst="rect">
            <a:avLst/>
          </a:prstGeom>
          <a:noFill/>
          <a:ln/>
        </p:spPr>
        <p:txBody>
          <a:bodyPr wrap="square" lIns="0" tIns="0" rIns="0" bIns="0" rtlCol="0" anchor="ctr"/>
          <a:lstStyle/>
          <a:p>
            <a:pPr indent="0" marL="0">
              <a:lnSpc>
                <a:spcPts val="1500"/>
              </a:lnSpc>
              <a:buNone/>
            </a:pPr>
            <a:r>
              <a:rPr lang="en-US" sz="1100" dirty="0">
                <a:solidFill>
                  <a:srgbClr val="F9BCE8"/>
                </a:solidFill>
                <a:latin typeface="Calibri" pitchFamily="34" charset="0"/>
                <a:ea typeface="Calibri" pitchFamily="34" charset="-122"/>
                <a:cs typeface="Calibri" pitchFamily="34" charset="-120"/>
              </a:rPr>
              <a:t>unas negocian un descuento nuevo; otras solo recuerdan una cuota ya pactada</a:t>
            </a:r>
            <a:endParaRPr lang="en-US" sz="1100" dirty="0"/>
          </a:p>
        </p:txBody>
      </p:sp>
      <p:sp>
        <p:nvSpPr>
          <p:cNvPr id="23" name="Shape 21"/>
          <p:cNvSpPr/>
          <p:nvPr/>
        </p:nvSpPr>
        <p:spPr>
          <a:xfrm>
            <a:off x="7104888" y="3310128"/>
            <a:ext cx="118872" cy="118872"/>
          </a:xfrm>
          <a:prstGeom prst="ellipse">
            <a:avLst/>
          </a:prstGeom>
          <a:solidFill>
            <a:srgbClr val="F26ECF"/>
          </a:solidFill>
          <a:ln/>
        </p:spPr>
      </p:sp>
      <p:sp>
        <p:nvSpPr>
          <p:cNvPr id="24" name="Text 22"/>
          <p:cNvSpPr txBox="1"/>
          <p:nvPr/>
        </p:nvSpPr>
        <p:spPr>
          <a:xfrm>
            <a:off x="7406640" y="3209544"/>
            <a:ext cx="37490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Los datos sensibles están tapados</a:t>
            </a:r>
            <a:endParaRPr lang="en-US" sz="1300" dirty="0"/>
          </a:p>
        </p:txBody>
      </p:sp>
      <p:sp>
        <p:nvSpPr>
          <p:cNvPr id="25" name="Text 23"/>
          <p:cNvSpPr txBox="1"/>
          <p:nvPr/>
        </p:nvSpPr>
        <p:spPr>
          <a:xfrm>
            <a:off x="7406640" y="3483864"/>
            <a:ext cx="3749040" cy="603504"/>
          </a:xfrm>
          <a:prstGeom prst="rect">
            <a:avLst/>
          </a:prstGeom>
          <a:noFill/>
          <a:ln/>
        </p:spPr>
        <p:txBody>
          <a:bodyPr wrap="square" lIns="0" tIns="0" rIns="0" bIns="0" rtlCol="0" anchor="ctr"/>
          <a:lstStyle/>
          <a:p>
            <a:pPr indent="0" marL="0">
              <a:lnSpc>
                <a:spcPts val="1500"/>
              </a:lnSpc>
              <a:buNone/>
            </a:pPr>
            <a:r>
              <a:rPr lang="en-US" sz="1100" dirty="0">
                <a:solidFill>
                  <a:srgbClr val="F9BCE8"/>
                </a:solidFill>
                <a:latin typeface="Calibri" pitchFamily="34" charset="0"/>
                <a:ea typeface="Calibri" pitchFamily="34" charset="-122"/>
                <a:cs typeface="Calibri" pitchFamily="34" charset="-120"/>
              </a:rPr>
              <a:t>un pitido cubre nombres, cédulas y montos</a:t>
            </a:r>
            <a:endParaRPr lang="en-US" sz="1100" dirty="0"/>
          </a:p>
        </p:txBody>
      </p:sp>
      <p:sp>
        <p:nvSpPr>
          <p:cNvPr id="26" name="Shape 24"/>
          <p:cNvSpPr/>
          <p:nvPr/>
        </p:nvSpPr>
        <p:spPr>
          <a:xfrm>
            <a:off x="7104888" y="4297680"/>
            <a:ext cx="118872" cy="118872"/>
          </a:xfrm>
          <a:prstGeom prst="ellipse">
            <a:avLst/>
          </a:prstGeom>
          <a:solidFill>
            <a:srgbClr val="F26ECF"/>
          </a:solidFill>
          <a:ln/>
        </p:spPr>
      </p:sp>
      <p:sp>
        <p:nvSpPr>
          <p:cNvPr id="27" name="Text 25"/>
          <p:cNvSpPr txBox="1"/>
          <p:nvPr/>
        </p:nvSpPr>
        <p:spPr>
          <a:xfrm>
            <a:off x="7406640" y="4197096"/>
            <a:ext cx="37490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El éxito no es una sola cosa</a:t>
            </a:r>
            <a:endParaRPr lang="en-US" sz="1300" dirty="0"/>
          </a:p>
        </p:txBody>
      </p:sp>
      <p:sp>
        <p:nvSpPr>
          <p:cNvPr id="28" name="Text 26"/>
          <p:cNvSpPr txBox="1"/>
          <p:nvPr/>
        </p:nvSpPr>
        <p:spPr>
          <a:xfrm>
            <a:off x="7406640" y="4471416"/>
            <a:ext cx="3749040" cy="603504"/>
          </a:xfrm>
          <a:prstGeom prst="rect">
            <a:avLst/>
          </a:prstGeom>
          <a:noFill/>
          <a:ln/>
        </p:spPr>
        <p:txBody>
          <a:bodyPr wrap="square" lIns="0" tIns="0" rIns="0" bIns="0" rtlCol="0" anchor="ctr"/>
          <a:lstStyle/>
          <a:p>
            <a:pPr indent="0" marL="0">
              <a:lnSpc>
                <a:spcPts val="1500"/>
              </a:lnSpc>
              <a:buNone/>
            </a:pPr>
            <a:r>
              <a:rPr lang="en-US" sz="1100" dirty="0">
                <a:solidFill>
                  <a:srgbClr val="F9BCE8"/>
                </a:solidFill>
                <a:latin typeface="Calibri" pitchFamily="34" charset="0"/>
                <a:ea typeface="Calibri" pitchFamily="34" charset="-122"/>
                <a:cs typeface="Calibri" pitchFamily="34" charset="-120"/>
              </a:rPr>
              <a:t>cerrar a la primera, cerrar tras negociar, o dejar una fecha acordada</a:t>
            </a:r>
            <a:endParaRPr lang="en-US" sz="1100" dirty="0"/>
          </a:p>
        </p:txBody>
      </p:sp>
      <p:sp>
        <p:nvSpPr>
          <p:cNvPr id="29" name="Shape 27"/>
          <p:cNvSpPr/>
          <p:nvPr/>
        </p:nvSpPr>
        <p:spPr>
          <a:xfrm>
            <a:off x="7104888" y="5285232"/>
            <a:ext cx="118872" cy="118872"/>
          </a:xfrm>
          <a:prstGeom prst="ellipse">
            <a:avLst/>
          </a:prstGeom>
          <a:solidFill>
            <a:srgbClr val="F26ECF"/>
          </a:solidFill>
          <a:ln/>
        </p:spPr>
      </p:sp>
      <p:sp>
        <p:nvSpPr>
          <p:cNvPr id="30" name="Text 28"/>
          <p:cNvSpPr txBox="1"/>
          <p:nvPr/>
        </p:nvSpPr>
        <p:spPr>
          <a:xfrm>
            <a:off x="7406640" y="5184648"/>
            <a:ext cx="37490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Hay llamadas que ni siquiera arrancan</a:t>
            </a:r>
            <a:endParaRPr lang="en-US" sz="1300" dirty="0"/>
          </a:p>
        </p:txBody>
      </p:sp>
      <p:sp>
        <p:nvSpPr>
          <p:cNvPr id="31" name="Text 29"/>
          <p:cNvSpPr txBox="1"/>
          <p:nvPr/>
        </p:nvSpPr>
        <p:spPr>
          <a:xfrm>
            <a:off x="7406640" y="5458968"/>
            <a:ext cx="3749040" cy="603504"/>
          </a:xfrm>
          <a:prstGeom prst="rect">
            <a:avLst/>
          </a:prstGeom>
          <a:noFill/>
          <a:ln/>
        </p:spPr>
        <p:txBody>
          <a:bodyPr wrap="square" lIns="0" tIns="0" rIns="0" bIns="0" rtlCol="0" anchor="ctr"/>
          <a:lstStyle/>
          <a:p>
            <a:pPr indent="0" marL="0">
              <a:lnSpc>
                <a:spcPts val="1500"/>
              </a:lnSpc>
              <a:buNone/>
            </a:pPr>
            <a:r>
              <a:rPr lang="en-US" sz="1100" dirty="0">
                <a:solidFill>
                  <a:srgbClr val="F9BCE8"/>
                </a:solidFill>
                <a:latin typeface="Calibri" pitchFamily="34" charset="0"/>
                <a:ea typeface="Calibri" pitchFamily="34" charset="-122"/>
                <a:cs typeface="Calibri" pitchFamily="34" charset="-120"/>
              </a:rPr>
              <a:t>no contesta el titular, o la línea se cae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F26ECF"/>
                </a:solidFill>
                <a:latin typeface="Calibri" pitchFamily="34" charset="0"/>
                <a:ea typeface="Calibri" pitchFamily="34" charset="-122"/>
                <a:cs typeface="Calibri" pitchFamily="34" charset="-120"/>
              </a:rPr>
              <a:t>PREPARACIÓN · ETAPA 1</a:t>
            </a:r>
            <a:endParaRPr lang="en-US" sz="1100" dirty="0"/>
          </a:p>
        </p:txBody>
      </p:sp>
      <p:sp>
        <p:nvSpPr>
          <p:cNvPr id="3" name="Text 1"/>
          <p:cNvSpPr txBox="1"/>
          <p:nvPr/>
        </p:nvSpPr>
        <p:spPr>
          <a:xfrm>
            <a:off x="685800" y="676656"/>
            <a:ext cx="10789920" cy="749808"/>
          </a:xfrm>
          <a:prstGeom prst="rect">
            <a:avLst/>
          </a:prstGeom>
          <a:noFill/>
          <a:ln/>
        </p:spPr>
        <p:txBody>
          <a:bodyPr wrap="square" lIns="0" tIns="0" rIns="0" bIns="0" rtlCol="0" anchor="ctr"/>
          <a:lstStyle/>
          <a:p>
            <a:pPr indent="0" marL="0">
              <a:buNone/>
            </a:pPr>
            <a:r>
              <a:rPr lang="en-US" sz="3200" b="1" dirty="0">
                <a:solidFill>
                  <a:srgbClr val="202020"/>
                </a:solidFill>
                <a:latin typeface="Cambria" pitchFamily="34" charset="0"/>
                <a:ea typeface="Cambria" pitchFamily="34" charset="-122"/>
                <a:cs typeface="Cambria" pitchFamily="34" charset="-120"/>
              </a:rPr>
              <a:t>Perfilar el audio antes de gastar en transcripción</a:t>
            </a:r>
            <a:endParaRPr lang="en-US" sz="3200" dirty="0"/>
          </a:p>
        </p:txBody>
      </p:sp>
      <p:sp>
        <p:nvSpPr>
          <p:cNvPr id="4" name="Text 2"/>
          <p:cNvSpPr txBox="1"/>
          <p:nvPr/>
        </p:nvSpPr>
        <p:spPr>
          <a:xfrm>
            <a:off x="685800" y="1572768"/>
            <a:ext cx="10789920" cy="457200"/>
          </a:xfrm>
          <a:prstGeom prst="rect">
            <a:avLst/>
          </a:prstGeom>
          <a:noFill/>
          <a:ln/>
        </p:spPr>
        <p:txBody>
          <a:bodyPr wrap="square" lIns="0" tIns="0" rIns="0" bIns="0" rtlCol="0" anchor="ctr"/>
          <a:lstStyle/>
          <a:p>
            <a:pPr indent="0" marL="0">
              <a:lnSpc>
                <a:spcPts val="2000"/>
              </a:lnSpc>
              <a:buNone/>
            </a:pPr>
            <a:r>
              <a:rPr lang="en-US" sz="1400" dirty="0">
                <a:solidFill>
                  <a:srgbClr val="757275"/>
                </a:solidFill>
                <a:latin typeface="Calibri" pitchFamily="34" charset="0"/>
                <a:ea typeface="Calibri" pitchFamily="34" charset="-122"/>
                <a:cs typeface="Calibri" pitchFamily="34" charset="-120"/>
              </a:rPr>
              <a:t>Antes de transcribir medí los 100 audios en crudo: formato, ruido, actividad de voz y censura. Tres decisiones del pipeline dependían de eso.</a:t>
            </a:r>
            <a:endParaRPr lang="en-US" sz="1400" dirty="0"/>
          </a:p>
        </p:txBody>
      </p:sp>
      <p:sp>
        <p:nvSpPr>
          <p:cNvPr id="5" name="Shape 3"/>
          <p:cNvSpPr/>
          <p:nvPr/>
        </p:nvSpPr>
        <p:spPr>
          <a:xfrm>
            <a:off x="685800" y="2167128"/>
            <a:ext cx="3429000" cy="2743200"/>
          </a:xfrm>
          <a:prstGeom prst="roundRect">
            <a:avLst>
              <a:gd name="adj" fmla="val 4000"/>
            </a:avLst>
          </a:prstGeom>
          <a:solidFill>
            <a:srgbClr val="FFFFFF"/>
          </a:solidFill>
          <a:ln w="12700">
            <a:solidFill>
              <a:srgbClr val="E9E4EF"/>
            </a:solidFill>
            <a:prstDash val="solid"/>
          </a:ln>
          <a:effectLst>
            <a:outerShdw sx="100000" sy="100000" kx="0" ky="0" algn="bl" rotWithShape="0" blurRad="152400" dist="25400" dir="5400000">
              <a:srgbClr val="4E2AAE">
                <a:alpha val="10000"/>
              </a:srgbClr>
            </a:outerShdw>
          </a:effectLst>
        </p:spPr>
      </p:sp>
      <p:sp>
        <p:nvSpPr>
          <p:cNvPr id="6" name="Text 4"/>
          <p:cNvSpPr txBox="1"/>
          <p:nvPr/>
        </p:nvSpPr>
        <p:spPr>
          <a:xfrm>
            <a:off x="978408" y="2377440"/>
            <a:ext cx="2834640" cy="457200"/>
          </a:xfrm>
          <a:prstGeom prst="rect">
            <a:avLst/>
          </a:prstGeom>
          <a:noFill/>
          <a:ln/>
        </p:spPr>
        <p:txBody>
          <a:bodyPr wrap="square" lIns="0" tIns="0" rIns="0" bIns="0" rtlCol="0" anchor="ctr"/>
          <a:lstStyle/>
          <a:p>
            <a:pPr indent="0" marL="0">
              <a:buNone/>
            </a:pPr>
            <a:r>
              <a:rPr lang="en-US" sz="2500" b="1" dirty="0">
                <a:solidFill>
                  <a:srgbClr val="4E2AAE"/>
                </a:solidFill>
                <a:latin typeface="Calibri" pitchFamily="34" charset="0"/>
                <a:ea typeface="Calibri" pitchFamily="34" charset="-122"/>
                <a:cs typeface="Calibri" pitchFamily="34" charset="-120"/>
              </a:rPr>
              <a:t>8 kHz · mono</a:t>
            </a:r>
            <a:endParaRPr lang="en-US" sz="2500" dirty="0"/>
          </a:p>
        </p:txBody>
      </p:sp>
      <p:sp>
        <p:nvSpPr>
          <p:cNvPr id="7" name="Text 5"/>
          <p:cNvSpPr txBox="1"/>
          <p:nvPr/>
        </p:nvSpPr>
        <p:spPr>
          <a:xfrm>
            <a:off x="978408" y="2834640"/>
            <a:ext cx="2834640" cy="274320"/>
          </a:xfrm>
          <a:prstGeom prst="rect">
            <a:avLst/>
          </a:prstGeom>
          <a:noFill/>
          <a:ln/>
        </p:spPr>
        <p:txBody>
          <a:bodyPr wrap="square" lIns="0" tIns="0" rIns="0" bIns="0" rtlCol="0" anchor="ctr"/>
          <a:lstStyle/>
          <a:p>
            <a:pPr indent="0" marL="0">
              <a:buNone/>
            </a:pPr>
            <a:r>
              <a:rPr lang="en-US" sz="1250" b="1" dirty="0">
                <a:solidFill>
                  <a:srgbClr val="202020"/>
                </a:solidFill>
                <a:latin typeface="Calibri" pitchFamily="34" charset="0"/>
                <a:ea typeface="Calibri" pitchFamily="34" charset="-122"/>
                <a:cs typeface="Calibri" pitchFamily="34" charset="-120"/>
              </a:rPr>
              <a:t>Formato idéntico en 100/100</a:t>
            </a:r>
            <a:endParaRPr lang="en-US" sz="1250" dirty="0"/>
          </a:p>
        </p:txBody>
      </p:sp>
      <p:sp>
        <p:nvSpPr>
          <p:cNvPr id="8" name="Text 6"/>
          <p:cNvSpPr txBox="1"/>
          <p:nvPr/>
        </p:nvSpPr>
        <p:spPr>
          <a:xfrm>
            <a:off x="978408" y="3163824"/>
            <a:ext cx="2834640" cy="1554480"/>
          </a:xfrm>
          <a:prstGeom prst="rect">
            <a:avLst/>
          </a:prstGeom>
          <a:noFill/>
          <a:ln/>
        </p:spPr>
        <p:txBody>
          <a:bodyPr wrap="square" lIns="0" tIns="0" rIns="0" bIns="0" rtlCol="0" anchor="ctr"/>
          <a:lstStyle/>
          <a:p>
            <a:pPr indent="0" marL="0">
              <a:lnSpc>
                <a:spcPts val="1500"/>
              </a:lnSpc>
              <a:buNone/>
            </a:pPr>
            <a:r>
              <a:rPr lang="en-US" sz="1100" dirty="0">
                <a:solidFill>
                  <a:srgbClr val="757275"/>
                </a:solidFill>
                <a:latin typeface="Calibri" pitchFamily="34" charset="0"/>
                <a:ea typeface="Calibri" pitchFamily="34" charset="-122"/>
                <a:cs typeface="Calibri" pitchFamily="34" charset="-120"/>
              </a:rPr>
              <a:t>Un solo canal: no hay una pista por interlocutor, así que la diarización deja de ser opcional. Sobre 3 400 Hz vive el 0.03 % de la energía — pedir más calidad no recuperaría nada.</a:t>
            </a:r>
            <a:endParaRPr lang="en-US" sz="1100" dirty="0"/>
          </a:p>
        </p:txBody>
      </p:sp>
      <p:sp>
        <p:nvSpPr>
          <p:cNvPr id="9" name="Shape 7"/>
          <p:cNvSpPr/>
          <p:nvPr/>
        </p:nvSpPr>
        <p:spPr>
          <a:xfrm>
            <a:off x="4343400" y="2167128"/>
            <a:ext cx="3429000" cy="2743200"/>
          </a:xfrm>
          <a:prstGeom prst="roundRect">
            <a:avLst>
              <a:gd name="adj" fmla="val 4000"/>
            </a:avLst>
          </a:prstGeom>
          <a:solidFill>
            <a:srgbClr val="FFFFFF"/>
          </a:solidFill>
          <a:ln w="12700">
            <a:solidFill>
              <a:srgbClr val="E9E4EF"/>
            </a:solidFill>
            <a:prstDash val="solid"/>
          </a:ln>
          <a:effectLst>
            <a:outerShdw sx="100000" sy="100000" kx="0" ky="0" algn="bl" rotWithShape="0" blurRad="152400" dist="25400" dir="5400000">
              <a:srgbClr val="4E2AAE">
                <a:alpha val="10000"/>
              </a:srgbClr>
            </a:outerShdw>
          </a:effectLst>
        </p:spPr>
      </p:sp>
      <p:sp>
        <p:nvSpPr>
          <p:cNvPr id="10" name="Text 8"/>
          <p:cNvSpPr txBox="1"/>
          <p:nvPr/>
        </p:nvSpPr>
        <p:spPr>
          <a:xfrm>
            <a:off x="4636008" y="2377440"/>
            <a:ext cx="2834640" cy="457200"/>
          </a:xfrm>
          <a:prstGeom prst="rect">
            <a:avLst/>
          </a:prstGeom>
          <a:noFill/>
          <a:ln/>
        </p:spPr>
        <p:txBody>
          <a:bodyPr wrap="square" lIns="0" tIns="0" rIns="0" bIns="0" rtlCol="0" anchor="ctr"/>
          <a:lstStyle/>
          <a:p>
            <a:pPr indent="0" marL="0">
              <a:buNone/>
            </a:pPr>
            <a:r>
              <a:rPr lang="en-US" sz="2500" b="1" dirty="0">
                <a:solidFill>
                  <a:srgbClr val="F26ECF"/>
                </a:solidFill>
                <a:latin typeface="Calibri" pitchFamily="34" charset="0"/>
                <a:ea typeface="Calibri" pitchFamily="34" charset="-122"/>
                <a:cs typeface="Calibri" pitchFamily="34" charset="-120"/>
              </a:rPr>
              <a:t>1 000.0 Hz</a:t>
            </a:r>
            <a:endParaRPr lang="en-US" sz="2500" dirty="0"/>
          </a:p>
        </p:txBody>
      </p:sp>
      <p:sp>
        <p:nvSpPr>
          <p:cNvPr id="11" name="Text 9"/>
          <p:cNvSpPr txBox="1"/>
          <p:nvPr/>
        </p:nvSpPr>
        <p:spPr>
          <a:xfrm>
            <a:off x="4636008" y="2834640"/>
            <a:ext cx="2834640" cy="274320"/>
          </a:xfrm>
          <a:prstGeom prst="rect">
            <a:avLst/>
          </a:prstGeom>
          <a:noFill/>
          <a:ln/>
        </p:spPr>
        <p:txBody>
          <a:bodyPr wrap="square" lIns="0" tIns="0" rIns="0" bIns="0" rtlCol="0" anchor="ctr"/>
          <a:lstStyle/>
          <a:p>
            <a:pPr indent="0" marL="0">
              <a:buNone/>
            </a:pPr>
            <a:r>
              <a:rPr lang="en-US" sz="1250" b="1" dirty="0">
                <a:solidFill>
                  <a:srgbClr val="202020"/>
                </a:solidFill>
                <a:latin typeface="Calibri" pitchFamily="34" charset="0"/>
                <a:ea typeface="Calibri" pitchFamily="34" charset="-122"/>
                <a:cs typeface="Calibri" pitchFamily="34" charset="-120"/>
              </a:rPr>
              <a:t>El pitido de censura</a:t>
            </a:r>
            <a:endParaRPr lang="en-US" sz="1250" dirty="0"/>
          </a:p>
        </p:txBody>
      </p:sp>
      <p:sp>
        <p:nvSpPr>
          <p:cNvPr id="12" name="Text 10"/>
          <p:cNvSpPr txBox="1"/>
          <p:nvPr/>
        </p:nvSpPr>
        <p:spPr>
          <a:xfrm>
            <a:off x="4636008" y="3163824"/>
            <a:ext cx="2834640" cy="1554480"/>
          </a:xfrm>
          <a:prstGeom prst="rect">
            <a:avLst/>
          </a:prstGeom>
          <a:noFill/>
          <a:ln/>
        </p:spPr>
        <p:txBody>
          <a:bodyPr wrap="square" lIns="0" tIns="0" rIns="0" bIns="0" rtlCol="0" anchor="ctr"/>
          <a:lstStyle/>
          <a:p>
            <a:pPr indent="0" marL="0">
              <a:lnSpc>
                <a:spcPts val="1500"/>
              </a:lnSpc>
              <a:buNone/>
            </a:pPr>
            <a:r>
              <a:rPr lang="en-US" sz="1100" dirty="0">
                <a:solidFill>
                  <a:srgbClr val="757275"/>
                </a:solidFill>
                <a:latin typeface="Calibri" pitchFamily="34" charset="0"/>
                <a:ea typeface="Calibri" pitchFamily="34" charset="-122"/>
                <a:cs typeface="Calibri" pitchFamily="34" charset="-120"/>
              </a:rPr>
              <a:t>Tono sintético a −15.0 dBFS, amplitud plana. Detectado con reglas, sin modelos: 1 623 pitidos que tapan el 6.1 % del corpus. Se cruza con la transcripción por marca de tiempo.</a:t>
            </a:r>
            <a:endParaRPr lang="en-US" sz="1100" dirty="0"/>
          </a:p>
        </p:txBody>
      </p:sp>
      <p:sp>
        <p:nvSpPr>
          <p:cNvPr id="13" name="Shape 11"/>
          <p:cNvSpPr/>
          <p:nvPr/>
        </p:nvSpPr>
        <p:spPr>
          <a:xfrm>
            <a:off x="8001000" y="2167128"/>
            <a:ext cx="3429000" cy="2743200"/>
          </a:xfrm>
          <a:prstGeom prst="roundRect">
            <a:avLst>
              <a:gd name="adj" fmla="val 4000"/>
            </a:avLst>
          </a:prstGeom>
          <a:solidFill>
            <a:srgbClr val="FFFFFF"/>
          </a:solidFill>
          <a:ln w="12700">
            <a:solidFill>
              <a:srgbClr val="E9E4EF"/>
            </a:solidFill>
            <a:prstDash val="solid"/>
          </a:ln>
          <a:effectLst>
            <a:outerShdw sx="100000" sy="100000" kx="0" ky="0" algn="bl" rotWithShape="0" blurRad="152400" dist="25400" dir="5400000">
              <a:srgbClr val="4E2AAE">
                <a:alpha val="10000"/>
              </a:srgbClr>
            </a:outerShdw>
          </a:effectLst>
        </p:spPr>
      </p:sp>
      <p:sp>
        <p:nvSpPr>
          <p:cNvPr id="14" name="Text 12"/>
          <p:cNvSpPr txBox="1"/>
          <p:nvPr/>
        </p:nvSpPr>
        <p:spPr>
          <a:xfrm>
            <a:off x="8293608" y="2377440"/>
            <a:ext cx="2834640" cy="457200"/>
          </a:xfrm>
          <a:prstGeom prst="rect">
            <a:avLst/>
          </a:prstGeom>
          <a:noFill/>
          <a:ln/>
        </p:spPr>
        <p:txBody>
          <a:bodyPr wrap="square" lIns="0" tIns="0" rIns="0" bIns="0" rtlCol="0" anchor="ctr"/>
          <a:lstStyle/>
          <a:p>
            <a:pPr indent="0" marL="0">
              <a:buNone/>
            </a:pPr>
            <a:r>
              <a:rPr lang="en-US" sz="2500" b="1" dirty="0">
                <a:solidFill>
                  <a:srgbClr val="C2410C"/>
                </a:solidFill>
                <a:latin typeface="Calibri" pitchFamily="34" charset="0"/>
                <a:ea typeface="Calibri" pitchFamily="34" charset="-122"/>
                <a:cs typeface="Calibri" pitchFamily="34" charset="-120"/>
              </a:rPr>
              <a:t>12 dB</a:t>
            </a:r>
            <a:endParaRPr lang="en-US" sz="2500" dirty="0"/>
          </a:p>
        </p:txBody>
      </p:sp>
      <p:sp>
        <p:nvSpPr>
          <p:cNvPr id="15" name="Text 13"/>
          <p:cNvSpPr txBox="1"/>
          <p:nvPr/>
        </p:nvSpPr>
        <p:spPr>
          <a:xfrm>
            <a:off x="8293608" y="2834640"/>
            <a:ext cx="2834640" cy="274320"/>
          </a:xfrm>
          <a:prstGeom prst="rect">
            <a:avLst/>
          </a:prstGeom>
          <a:noFill/>
          <a:ln/>
        </p:spPr>
        <p:txBody>
          <a:bodyPr wrap="square" lIns="0" tIns="0" rIns="0" bIns="0" rtlCol="0" anchor="ctr"/>
          <a:lstStyle/>
          <a:p>
            <a:pPr indent="0" marL="0">
              <a:buNone/>
            </a:pPr>
            <a:r>
              <a:rPr lang="en-US" sz="1250" b="1" dirty="0">
                <a:solidFill>
                  <a:srgbClr val="202020"/>
                </a:solidFill>
                <a:latin typeface="Calibri" pitchFamily="34" charset="0"/>
                <a:ea typeface="Calibri" pitchFamily="34" charset="-122"/>
                <a:cs typeface="Calibri" pitchFamily="34" charset="-120"/>
              </a:rPr>
              <a:t>de diferencia en ruido</a:t>
            </a:r>
            <a:endParaRPr lang="en-US" sz="1250" dirty="0"/>
          </a:p>
        </p:txBody>
      </p:sp>
      <p:sp>
        <p:nvSpPr>
          <p:cNvPr id="16" name="Text 14"/>
          <p:cNvSpPr txBox="1"/>
          <p:nvPr/>
        </p:nvSpPr>
        <p:spPr>
          <a:xfrm>
            <a:off x="8293608" y="3163824"/>
            <a:ext cx="2834640" cy="1554480"/>
          </a:xfrm>
          <a:prstGeom prst="rect">
            <a:avLst/>
          </a:prstGeom>
          <a:noFill/>
          <a:ln/>
        </p:spPr>
        <p:txBody>
          <a:bodyPr wrap="square" lIns="0" tIns="0" rIns="0" bIns="0" rtlCol="0" anchor="ctr"/>
          <a:lstStyle/>
          <a:p>
            <a:pPr indent="0" marL="0">
              <a:lnSpc>
                <a:spcPts val="1500"/>
              </a:lnSpc>
              <a:buNone/>
            </a:pPr>
            <a:r>
              <a:rPr lang="en-US" sz="1100" dirty="0">
                <a:solidFill>
                  <a:srgbClr val="757275"/>
                </a:solidFill>
                <a:latin typeface="Calibri" pitchFamily="34" charset="0"/>
                <a:ea typeface="Calibri" pitchFamily="34" charset="-122"/>
                <a:cs typeface="Calibri" pitchFamily="34" charset="-120"/>
              </a:rPr>
              <a:t>Los audios humanos tienen peor relación señal/ruido que los de IA (41.5 vs 53.8 dB). 9 de 50 humanos bajan de 35 dB; ninguno de IA. El ruido no se reparte por igual.</a:t>
            </a:r>
            <a:endParaRPr lang="en-US" sz="1100" dirty="0"/>
          </a:p>
        </p:txBody>
      </p:sp>
      <p:sp>
        <p:nvSpPr>
          <p:cNvPr id="17" name="Shape 15"/>
          <p:cNvSpPr/>
          <p:nvPr/>
        </p:nvSpPr>
        <p:spPr>
          <a:xfrm>
            <a:off x="685800" y="5093208"/>
            <a:ext cx="10789920" cy="868680"/>
          </a:xfrm>
          <a:prstGeom prst="roundRect">
            <a:avLst>
              <a:gd name="adj" fmla="val 10526"/>
            </a:avLst>
          </a:prstGeom>
          <a:solidFill>
            <a:srgbClr val="FDEDF9"/>
          </a:solidFill>
          <a:ln/>
        </p:spPr>
      </p:sp>
      <p:sp>
        <p:nvSpPr>
          <p:cNvPr id="18" name="Text 16"/>
          <p:cNvSpPr txBox="1"/>
          <p:nvPr/>
        </p:nvSpPr>
        <p:spPr>
          <a:xfrm>
            <a:off x="1005840" y="5276088"/>
            <a:ext cx="10149840" cy="548640"/>
          </a:xfrm>
          <a:prstGeom prst="rect">
            <a:avLst/>
          </a:prstGeom>
          <a:noFill/>
          <a:ln/>
        </p:spPr>
        <p:txBody>
          <a:bodyPr wrap="square" lIns="0" tIns="0" rIns="0" bIns="0" rtlCol="0" anchor="ctr"/>
          <a:lstStyle/>
          <a:p>
            <a:pPr indent="0" marL="0">
              <a:lnSpc>
                <a:spcPts val="1800"/>
              </a:lnSpc>
              <a:buNone/>
            </a:pPr>
            <a:r>
              <a:rPr lang="en-US" sz="1250" b="1" dirty="0">
                <a:solidFill>
                  <a:srgbClr val="4E2AAE"/>
                </a:solidFill>
                <a:latin typeface="Calibri" pitchFamily="34" charset="0"/>
                <a:ea typeface="Calibri" pitchFamily="34" charset="-122"/>
                <a:cs typeface="Calibri" pitchFamily="34" charset="-120"/>
              </a:rPr>
              <a:t>Consecuencia metodológica.  </a:t>
            </a:r>
            <a:pPr indent="0" marL="0">
              <a:lnSpc>
                <a:spcPts val="1800"/>
              </a:lnSpc>
              <a:buNone/>
            </a:pPr>
            <a:r>
              <a:rPr lang="en-US" sz="1250" dirty="0">
                <a:solidFill>
                  <a:srgbClr val="202020"/>
                </a:solidFill>
                <a:latin typeface="Calibri" pitchFamily="34" charset="0"/>
                <a:ea typeface="Calibri" pitchFamily="34" charset="-122"/>
                <a:cs typeface="Calibri" pitchFamily="34" charset="-120"/>
              </a:rPr>
              <a:t>Si el motor de transcripción falla más donde hay ruido, fallará sistemáticamente más en el grupo humano. La calidad del audio entra al estudio como variable de control, no como nota al pie.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F26ECF"/>
                </a:solidFill>
                <a:latin typeface="Calibri" pitchFamily="34" charset="0"/>
                <a:ea typeface="Calibri" pitchFamily="34" charset="-122"/>
                <a:cs typeface="Calibri" pitchFamily="34" charset="-120"/>
              </a:rPr>
              <a:t>PREPARACIÓN · ETAPA 1</a:t>
            </a:r>
            <a:endParaRPr lang="en-US" sz="1100" dirty="0"/>
          </a:p>
        </p:txBody>
      </p:sp>
      <p:sp>
        <p:nvSpPr>
          <p:cNvPr id="3" name="Text 1"/>
          <p:cNvSpPr txBox="1"/>
          <p:nvPr/>
        </p:nvSpPr>
        <p:spPr>
          <a:xfrm>
            <a:off x="685800" y="676656"/>
            <a:ext cx="10789920" cy="749808"/>
          </a:xfrm>
          <a:prstGeom prst="rect">
            <a:avLst/>
          </a:prstGeom>
          <a:noFill/>
          <a:ln/>
        </p:spPr>
        <p:txBody>
          <a:bodyPr wrap="square" lIns="0" tIns="0" rIns="0" bIns="0" rtlCol="0" anchor="ctr"/>
          <a:lstStyle/>
          <a:p>
            <a:pPr indent="0" marL="0">
              <a:buNone/>
            </a:pPr>
            <a:r>
              <a:rPr lang="en-US" sz="3200" b="1" dirty="0">
                <a:solidFill>
                  <a:srgbClr val="202020"/>
                </a:solidFill>
                <a:latin typeface="Cambria" pitchFamily="34" charset="0"/>
                <a:ea typeface="Cambria" pitchFamily="34" charset="-122"/>
                <a:cs typeface="Cambria" pitchFamily="34" charset="-120"/>
              </a:rPr>
              <a:t>El motor se eligió con una prueba, no con un folleto</a:t>
            </a:r>
            <a:endParaRPr lang="en-US" sz="3200" dirty="0"/>
          </a:p>
        </p:txBody>
      </p:sp>
      <p:sp>
        <p:nvSpPr>
          <p:cNvPr id="4" name="Text 2"/>
          <p:cNvSpPr txBox="1"/>
          <p:nvPr/>
        </p:nvSpPr>
        <p:spPr>
          <a:xfrm>
            <a:off x="685800" y="1572768"/>
            <a:ext cx="6492240" cy="914400"/>
          </a:xfrm>
          <a:prstGeom prst="rect">
            <a:avLst/>
          </a:prstGeom>
          <a:noFill/>
          <a:ln/>
        </p:spPr>
        <p:txBody>
          <a:bodyPr wrap="square" lIns="0" tIns="0" rIns="0" bIns="0" rtlCol="0" anchor="ctr"/>
          <a:lstStyle/>
          <a:p>
            <a:pPr indent="0" marL="0">
              <a:lnSpc>
                <a:spcPts val="2000"/>
              </a:lnSpc>
              <a:buNone/>
            </a:pPr>
            <a:r>
              <a:rPr lang="en-US" sz="1350" dirty="0">
                <a:solidFill>
                  <a:srgbClr val="202020"/>
                </a:solidFill>
                <a:latin typeface="Calibri" pitchFamily="34" charset="0"/>
                <a:ea typeface="Calibri" pitchFamily="34" charset="-122"/>
                <a:cs typeface="Calibri" pitchFamily="34" charset="-120"/>
              </a:rPr>
              <a:t>Mismos 6 audios (el más corto, el mediano y el más largo de cada grupo), misma configuración, dos motores. Google Chirp 3 quedó descartado antes de probarlo: no entrega marcas de tiempo por palabra ni variante de español latino.</a:t>
            </a:r>
            <a:endParaRPr lang="en-US" sz="1350" dirty="0"/>
          </a:p>
        </p:txBody>
      </p:sp>
      <p:sp>
        <p:nvSpPr>
          <p:cNvPr id="5" name="Text 3"/>
          <p:cNvSpPr txBox="1"/>
          <p:nvPr/>
        </p:nvSpPr>
        <p:spPr>
          <a:xfrm>
            <a:off x="795528" y="2670048"/>
            <a:ext cx="3017520" cy="566928"/>
          </a:xfrm>
          <a:prstGeom prst="rect">
            <a:avLst/>
          </a:prstGeom>
          <a:noFill/>
          <a:ln/>
        </p:spPr>
        <p:txBody>
          <a:bodyPr wrap="square" lIns="0" tIns="0" rIns="0" bIns="0" rtlCol="0" anchor="ctr"/>
          <a:lstStyle/>
          <a:p>
            <a:pPr indent="0" marL="0">
              <a:buNone/>
            </a:pPr>
            <a:endParaRPr lang="en-US" sz="1000" dirty="0"/>
          </a:p>
        </p:txBody>
      </p:sp>
      <p:sp>
        <p:nvSpPr>
          <p:cNvPr id="6" name="Text 4"/>
          <p:cNvSpPr txBox="1"/>
          <p:nvPr/>
        </p:nvSpPr>
        <p:spPr>
          <a:xfrm>
            <a:off x="3840480" y="2670048"/>
            <a:ext cx="1600200" cy="566928"/>
          </a:xfrm>
          <a:prstGeom prst="rect">
            <a:avLst/>
          </a:prstGeom>
          <a:noFill/>
          <a:ln/>
        </p:spPr>
        <p:txBody>
          <a:bodyPr wrap="square" lIns="0" tIns="0" rIns="0" bIns="0" rtlCol="0" anchor="ctr"/>
          <a:lstStyle/>
          <a:p>
            <a:pPr algn="ctr" indent="0" marL="0">
              <a:buNone/>
            </a:pPr>
            <a:r>
              <a:rPr lang="en-US" sz="1100" b="1" dirty="0">
                <a:solidFill>
                  <a:srgbClr val="202020"/>
                </a:solidFill>
                <a:latin typeface="Calibri" pitchFamily="34" charset="0"/>
                <a:ea typeface="Calibri" pitchFamily="34" charset="-122"/>
                <a:cs typeface="Calibri" pitchFamily="34" charset="-120"/>
              </a:rPr>
              <a:t>Deepgram Nova-3</a:t>
            </a:r>
            <a:endParaRPr lang="en-US" sz="1100" dirty="0"/>
          </a:p>
        </p:txBody>
      </p:sp>
      <p:sp>
        <p:nvSpPr>
          <p:cNvPr id="7" name="Text 5"/>
          <p:cNvSpPr txBox="1"/>
          <p:nvPr/>
        </p:nvSpPr>
        <p:spPr>
          <a:xfrm>
            <a:off x="5486400" y="2670048"/>
            <a:ext cx="1600200" cy="566928"/>
          </a:xfrm>
          <a:prstGeom prst="rect">
            <a:avLst/>
          </a:prstGeom>
          <a:noFill/>
          <a:ln/>
        </p:spPr>
        <p:txBody>
          <a:bodyPr wrap="square" lIns="0" tIns="0" rIns="0" bIns="0" rtlCol="0" anchor="ctr"/>
          <a:lstStyle/>
          <a:p>
            <a:pPr algn="ctr" indent="0" marL="0">
              <a:buNone/>
            </a:pPr>
            <a:r>
              <a:rPr lang="en-US" sz="1100" b="1" dirty="0">
                <a:solidFill>
                  <a:srgbClr val="4E2AAE"/>
                </a:solidFill>
                <a:latin typeface="Calibri" pitchFamily="34" charset="0"/>
                <a:ea typeface="Calibri" pitchFamily="34" charset="-122"/>
                <a:cs typeface="Calibri" pitchFamily="34" charset="-120"/>
              </a:rPr>
              <a:t>ElevenLabs Scribe v2</a:t>
            </a:r>
            <a:endParaRPr lang="en-US" sz="1100" dirty="0"/>
          </a:p>
        </p:txBody>
      </p:sp>
      <p:sp>
        <p:nvSpPr>
          <p:cNvPr id="8" name="Shape 6"/>
          <p:cNvSpPr/>
          <p:nvPr/>
        </p:nvSpPr>
        <p:spPr>
          <a:xfrm>
            <a:off x="685800" y="3236976"/>
            <a:ext cx="6492240" cy="566928"/>
          </a:xfrm>
          <a:prstGeom prst="rect">
            <a:avLst/>
          </a:prstGeom>
          <a:solidFill>
            <a:srgbClr val="FAF8FC"/>
          </a:solidFill>
          <a:ln/>
        </p:spPr>
      </p:sp>
      <p:sp>
        <p:nvSpPr>
          <p:cNvPr id="9" name="Text 7"/>
          <p:cNvSpPr txBox="1"/>
          <p:nvPr/>
        </p:nvSpPr>
        <p:spPr>
          <a:xfrm>
            <a:off x="795528" y="3236976"/>
            <a:ext cx="3017520" cy="566928"/>
          </a:xfrm>
          <a:prstGeom prst="rect">
            <a:avLst/>
          </a:prstGeom>
          <a:noFill/>
          <a:ln/>
        </p:spPr>
        <p:txBody>
          <a:bodyPr wrap="square" lIns="0" tIns="0" rIns="0" bIns="0" rtlCol="0" anchor="ctr"/>
          <a:lstStyle/>
          <a:p>
            <a:pPr indent="0" marL="0">
              <a:buNone/>
            </a:pPr>
            <a:r>
              <a:rPr lang="en-US" sz="1150" dirty="0">
                <a:solidFill>
                  <a:srgbClr val="202020"/>
                </a:solidFill>
                <a:latin typeface="Calibri" pitchFamily="34" charset="0"/>
                <a:ea typeface="Calibri" pitchFamily="34" charset="-122"/>
                <a:cs typeface="Calibri" pitchFamily="34" charset="-120"/>
              </a:rPr>
              <a:t>Hablantes detectados (esperado: 2)</a:t>
            </a:r>
            <a:endParaRPr lang="en-US" sz="1150" dirty="0"/>
          </a:p>
        </p:txBody>
      </p:sp>
      <p:sp>
        <p:nvSpPr>
          <p:cNvPr id="10" name="Text 8"/>
          <p:cNvSpPr txBox="1"/>
          <p:nvPr/>
        </p:nvSpPr>
        <p:spPr>
          <a:xfrm>
            <a:off x="3840480" y="3236976"/>
            <a:ext cx="1600200" cy="566928"/>
          </a:xfrm>
          <a:prstGeom prst="rect">
            <a:avLst/>
          </a:prstGeom>
          <a:noFill/>
          <a:ln/>
        </p:spPr>
        <p:txBody>
          <a:bodyPr wrap="square" lIns="0" tIns="0" rIns="0" bIns="0" rtlCol="0" anchor="ctr"/>
          <a:lstStyle/>
          <a:p>
            <a:pPr algn="ctr" indent="0" marL="0">
              <a:buNone/>
            </a:pPr>
            <a:r>
              <a:rPr lang="en-US" sz="1150" dirty="0">
                <a:solidFill>
                  <a:srgbClr val="757275"/>
                </a:solidFill>
                <a:latin typeface="Calibri" pitchFamily="34" charset="0"/>
                <a:ea typeface="Calibri" pitchFamily="34" charset="-122"/>
                <a:cs typeface="Calibri" pitchFamily="34" charset="-120"/>
              </a:rPr>
              <a:t>2 de 6 casos</a:t>
            </a:r>
            <a:endParaRPr lang="en-US" sz="1150" dirty="0"/>
          </a:p>
        </p:txBody>
      </p:sp>
      <p:sp>
        <p:nvSpPr>
          <p:cNvPr id="11" name="Text 9"/>
          <p:cNvSpPr txBox="1"/>
          <p:nvPr/>
        </p:nvSpPr>
        <p:spPr>
          <a:xfrm>
            <a:off x="5486400" y="3236976"/>
            <a:ext cx="1600200" cy="566928"/>
          </a:xfrm>
          <a:prstGeom prst="rect">
            <a:avLst/>
          </a:prstGeom>
          <a:noFill/>
          <a:ln/>
        </p:spPr>
        <p:txBody>
          <a:bodyPr wrap="square" lIns="0" tIns="0" rIns="0" bIns="0" rtlCol="0" anchor="ctr"/>
          <a:lstStyle/>
          <a:p>
            <a:pPr algn="ctr" indent="0" marL="0">
              <a:buNone/>
            </a:pPr>
            <a:r>
              <a:rPr lang="en-US" sz="1200" b="1" dirty="0">
                <a:solidFill>
                  <a:srgbClr val="4E2AAE"/>
                </a:solidFill>
                <a:latin typeface="Calibri" pitchFamily="34" charset="0"/>
                <a:ea typeface="Calibri" pitchFamily="34" charset="-122"/>
                <a:cs typeface="Calibri" pitchFamily="34" charset="-120"/>
              </a:rPr>
              <a:t>6 de 6 casos</a:t>
            </a:r>
            <a:endParaRPr lang="en-US" sz="1200" dirty="0"/>
          </a:p>
        </p:txBody>
      </p:sp>
      <p:sp>
        <p:nvSpPr>
          <p:cNvPr id="12" name="Text 10"/>
          <p:cNvSpPr txBox="1"/>
          <p:nvPr/>
        </p:nvSpPr>
        <p:spPr>
          <a:xfrm>
            <a:off x="795528" y="3803904"/>
            <a:ext cx="3017520" cy="566928"/>
          </a:xfrm>
          <a:prstGeom prst="rect">
            <a:avLst/>
          </a:prstGeom>
          <a:noFill/>
          <a:ln/>
        </p:spPr>
        <p:txBody>
          <a:bodyPr wrap="square" lIns="0" tIns="0" rIns="0" bIns="0" rtlCol="0" anchor="ctr"/>
          <a:lstStyle/>
          <a:p>
            <a:pPr indent="0" marL="0">
              <a:buNone/>
            </a:pPr>
            <a:r>
              <a:rPr lang="en-US" sz="1150" dirty="0">
                <a:solidFill>
                  <a:srgbClr val="202020"/>
                </a:solidFill>
                <a:latin typeface="Calibri" pitchFamily="34" charset="0"/>
                <a:ea typeface="Calibri" pitchFamily="34" charset="-122"/>
                <a:cs typeface="Calibri" pitchFamily="34" charset="-120"/>
              </a:rPr>
              <a:t>Confianza media</a:t>
            </a:r>
            <a:endParaRPr lang="en-US" sz="1150" dirty="0"/>
          </a:p>
        </p:txBody>
      </p:sp>
      <p:sp>
        <p:nvSpPr>
          <p:cNvPr id="13" name="Text 11"/>
          <p:cNvSpPr txBox="1"/>
          <p:nvPr/>
        </p:nvSpPr>
        <p:spPr>
          <a:xfrm>
            <a:off x="3840480" y="3803904"/>
            <a:ext cx="1600200" cy="566928"/>
          </a:xfrm>
          <a:prstGeom prst="rect">
            <a:avLst/>
          </a:prstGeom>
          <a:noFill/>
          <a:ln/>
        </p:spPr>
        <p:txBody>
          <a:bodyPr wrap="square" lIns="0" tIns="0" rIns="0" bIns="0" rtlCol="0" anchor="ctr"/>
          <a:lstStyle/>
          <a:p>
            <a:pPr algn="ctr" indent="0" marL="0">
              <a:buNone/>
            </a:pPr>
            <a:r>
              <a:rPr lang="en-US" sz="1150" dirty="0">
                <a:solidFill>
                  <a:srgbClr val="757275"/>
                </a:solidFill>
                <a:latin typeface="Calibri" pitchFamily="34" charset="0"/>
                <a:ea typeface="Calibri" pitchFamily="34" charset="-122"/>
                <a:cs typeface="Calibri" pitchFamily="34" charset="-120"/>
              </a:rPr>
              <a:t>0.885 – 0.978</a:t>
            </a:r>
            <a:endParaRPr lang="en-US" sz="1150" dirty="0"/>
          </a:p>
        </p:txBody>
      </p:sp>
      <p:sp>
        <p:nvSpPr>
          <p:cNvPr id="14" name="Text 12"/>
          <p:cNvSpPr txBox="1"/>
          <p:nvPr/>
        </p:nvSpPr>
        <p:spPr>
          <a:xfrm>
            <a:off x="5486400" y="3803904"/>
            <a:ext cx="1600200" cy="566928"/>
          </a:xfrm>
          <a:prstGeom prst="rect">
            <a:avLst/>
          </a:prstGeom>
          <a:noFill/>
          <a:ln/>
        </p:spPr>
        <p:txBody>
          <a:bodyPr wrap="square" lIns="0" tIns="0" rIns="0" bIns="0" rtlCol="0" anchor="ctr"/>
          <a:lstStyle/>
          <a:p>
            <a:pPr algn="ctr" indent="0" marL="0">
              <a:buNone/>
            </a:pPr>
            <a:r>
              <a:rPr lang="en-US" sz="1200" b="1" dirty="0">
                <a:solidFill>
                  <a:srgbClr val="4E2AAE"/>
                </a:solidFill>
                <a:latin typeface="Calibri" pitchFamily="34" charset="0"/>
                <a:ea typeface="Calibri" pitchFamily="34" charset="-122"/>
                <a:cs typeface="Calibri" pitchFamily="34" charset="-120"/>
              </a:rPr>
              <a:t>0.963 – 0.985</a:t>
            </a:r>
            <a:endParaRPr lang="en-US" sz="1200" dirty="0"/>
          </a:p>
        </p:txBody>
      </p:sp>
      <p:sp>
        <p:nvSpPr>
          <p:cNvPr id="15" name="Shape 13"/>
          <p:cNvSpPr/>
          <p:nvPr/>
        </p:nvSpPr>
        <p:spPr>
          <a:xfrm>
            <a:off x="685800" y="4370832"/>
            <a:ext cx="6492240" cy="566928"/>
          </a:xfrm>
          <a:prstGeom prst="rect">
            <a:avLst/>
          </a:prstGeom>
          <a:solidFill>
            <a:srgbClr val="FAF8FC"/>
          </a:solidFill>
          <a:ln/>
        </p:spPr>
      </p:sp>
      <p:sp>
        <p:nvSpPr>
          <p:cNvPr id="16" name="Text 14"/>
          <p:cNvSpPr txBox="1"/>
          <p:nvPr/>
        </p:nvSpPr>
        <p:spPr>
          <a:xfrm>
            <a:off x="795528" y="4370832"/>
            <a:ext cx="3017520" cy="566928"/>
          </a:xfrm>
          <a:prstGeom prst="rect">
            <a:avLst/>
          </a:prstGeom>
          <a:noFill/>
          <a:ln/>
        </p:spPr>
        <p:txBody>
          <a:bodyPr wrap="square" lIns="0" tIns="0" rIns="0" bIns="0" rtlCol="0" anchor="ctr"/>
          <a:lstStyle/>
          <a:p>
            <a:pPr indent="0" marL="0">
              <a:buNone/>
            </a:pPr>
            <a:r>
              <a:rPr lang="en-US" sz="1150" dirty="0">
                <a:solidFill>
                  <a:srgbClr val="202020"/>
                </a:solidFill>
                <a:latin typeface="Calibri" pitchFamily="34" charset="0"/>
                <a:ea typeface="Calibri" pitchFamily="34" charset="-122"/>
                <a:cs typeface="Calibri" pitchFamily="34" charset="-120"/>
              </a:rPr>
              <a:t>Palabras de baja confianza</a:t>
            </a:r>
            <a:endParaRPr lang="en-US" sz="1150" dirty="0"/>
          </a:p>
        </p:txBody>
      </p:sp>
      <p:sp>
        <p:nvSpPr>
          <p:cNvPr id="17" name="Text 15"/>
          <p:cNvSpPr txBox="1"/>
          <p:nvPr/>
        </p:nvSpPr>
        <p:spPr>
          <a:xfrm>
            <a:off x="3840480" y="4370832"/>
            <a:ext cx="1600200" cy="566928"/>
          </a:xfrm>
          <a:prstGeom prst="rect">
            <a:avLst/>
          </a:prstGeom>
          <a:noFill/>
          <a:ln/>
        </p:spPr>
        <p:txBody>
          <a:bodyPr wrap="square" lIns="0" tIns="0" rIns="0" bIns="0" rtlCol="0" anchor="ctr"/>
          <a:lstStyle/>
          <a:p>
            <a:pPr algn="ctr" indent="0" marL="0">
              <a:buNone/>
            </a:pPr>
            <a:r>
              <a:rPr lang="en-US" sz="1150" dirty="0">
                <a:solidFill>
                  <a:srgbClr val="757275"/>
                </a:solidFill>
                <a:latin typeface="Calibri" pitchFamily="34" charset="0"/>
                <a:ea typeface="Calibri" pitchFamily="34" charset="-122"/>
                <a:cs typeface="Calibri" pitchFamily="34" charset="-120"/>
              </a:rPr>
              <a:t>1.3 – 10.4 %</a:t>
            </a:r>
            <a:endParaRPr lang="en-US" sz="1150" dirty="0"/>
          </a:p>
        </p:txBody>
      </p:sp>
      <p:sp>
        <p:nvSpPr>
          <p:cNvPr id="18" name="Text 16"/>
          <p:cNvSpPr txBox="1"/>
          <p:nvPr/>
        </p:nvSpPr>
        <p:spPr>
          <a:xfrm>
            <a:off x="5486400" y="4370832"/>
            <a:ext cx="1600200" cy="566928"/>
          </a:xfrm>
          <a:prstGeom prst="rect">
            <a:avLst/>
          </a:prstGeom>
          <a:noFill/>
          <a:ln/>
        </p:spPr>
        <p:txBody>
          <a:bodyPr wrap="square" lIns="0" tIns="0" rIns="0" bIns="0" rtlCol="0" anchor="ctr"/>
          <a:lstStyle/>
          <a:p>
            <a:pPr algn="ctr" indent="0" marL="0">
              <a:buNone/>
            </a:pPr>
            <a:r>
              <a:rPr lang="en-US" sz="1200" b="1" dirty="0">
                <a:solidFill>
                  <a:srgbClr val="4E2AAE"/>
                </a:solidFill>
                <a:latin typeface="Calibri" pitchFamily="34" charset="0"/>
                <a:ea typeface="Calibri" pitchFamily="34" charset="-122"/>
                <a:cs typeface="Calibri" pitchFamily="34" charset="-120"/>
              </a:rPr>
              <a:t>1.1 – 3.2 %</a:t>
            </a:r>
            <a:endParaRPr lang="en-US" sz="1200" dirty="0"/>
          </a:p>
        </p:txBody>
      </p:sp>
      <p:sp>
        <p:nvSpPr>
          <p:cNvPr id="19" name="Text 17"/>
          <p:cNvSpPr txBox="1"/>
          <p:nvPr/>
        </p:nvSpPr>
        <p:spPr>
          <a:xfrm>
            <a:off x="795528" y="4937760"/>
            <a:ext cx="3017520" cy="566928"/>
          </a:xfrm>
          <a:prstGeom prst="rect">
            <a:avLst/>
          </a:prstGeom>
          <a:noFill/>
          <a:ln/>
        </p:spPr>
        <p:txBody>
          <a:bodyPr wrap="square" lIns="0" tIns="0" rIns="0" bIns="0" rtlCol="0" anchor="ctr"/>
          <a:lstStyle/>
          <a:p>
            <a:pPr indent="0" marL="0">
              <a:buNone/>
            </a:pPr>
            <a:r>
              <a:rPr lang="en-US" sz="1150" dirty="0">
                <a:solidFill>
                  <a:srgbClr val="202020"/>
                </a:solidFill>
                <a:latin typeface="Calibri" pitchFamily="34" charset="0"/>
                <a:ea typeface="Calibri" pitchFamily="34" charset="-122"/>
                <a:cs typeface="Calibri" pitchFamily="34" charset="-120"/>
              </a:rPr>
              <a:t>Peor caso (audio humano largo)</a:t>
            </a:r>
            <a:endParaRPr lang="en-US" sz="1150" dirty="0"/>
          </a:p>
        </p:txBody>
      </p:sp>
      <p:sp>
        <p:nvSpPr>
          <p:cNvPr id="20" name="Text 18"/>
          <p:cNvSpPr txBox="1"/>
          <p:nvPr/>
        </p:nvSpPr>
        <p:spPr>
          <a:xfrm>
            <a:off x="3840480" y="4937760"/>
            <a:ext cx="1600200" cy="566928"/>
          </a:xfrm>
          <a:prstGeom prst="rect">
            <a:avLst/>
          </a:prstGeom>
          <a:noFill/>
          <a:ln/>
        </p:spPr>
        <p:txBody>
          <a:bodyPr wrap="square" lIns="0" tIns="0" rIns="0" bIns="0" rtlCol="0" anchor="ctr"/>
          <a:lstStyle/>
          <a:p>
            <a:pPr algn="ctr" indent="0" marL="0">
              <a:buNone/>
            </a:pPr>
            <a:r>
              <a:rPr lang="en-US" sz="1150" dirty="0">
                <a:solidFill>
                  <a:srgbClr val="757275"/>
                </a:solidFill>
                <a:latin typeface="Calibri" pitchFamily="34" charset="0"/>
                <a:ea typeface="Calibri" pitchFamily="34" charset="-122"/>
                <a:cs typeface="Calibri" pitchFamily="34" charset="-120"/>
              </a:rPr>
              <a:t>3 hablantes · 10.4 %</a:t>
            </a:r>
            <a:endParaRPr lang="en-US" sz="1150" dirty="0"/>
          </a:p>
        </p:txBody>
      </p:sp>
      <p:sp>
        <p:nvSpPr>
          <p:cNvPr id="21" name="Text 19"/>
          <p:cNvSpPr txBox="1"/>
          <p:nvPr/>
        </p:nvSpPr>
        <p:spPr>
          <a:xfrm>
            <a:off x="5486400" y="4937760"/>
            <a:ext cx="1600200" cy="566928"/>
          </a:xfrm>
          <a:prstGeom prst="rect">
            <a:avLst/>
          </a:prstGeom>
          <a:noFill/>
          <a:ln/>
        </p:spPr>
        <p:txBody>
          <a:bodyPr wrap="square" lIns="0" tIns="0" rIns="0" bIns="0" rtlCol="0" anchor="ctr"/>
          <a:lstStyle/>
          <a:p>
            <a:pPr algn="ctr" indent="0" marL="0">
              <a:buNone/>
            </a:pPr>
            <a:r>
              <a:rPr lang="en-US" sz="1200" b="1" dirty="0">
                <a:solidFill>
                  <a:srgbClr val="4E2AAE"/>
                </a:solidFill>
                <a:latin typeface="Calibri" pitchFamily="34" charset="0"/>
                <a:ea typeface="Calibri" pitchFamily="34" charset="-122"/>
                <a:cs typeface="Calibri" pitchFamily="34" charset="-120"/>
              </a:rPr>
              <a:t>2 hablantes · 3.2 %</a:t>
            </a:r>
            <a:endParaRPr lang="en-US" sz="1200" dirty="0"/>
          </a:p>
        </p:txBody>
      </p:sp>
      <p:sp>
        <p:nvSpPr>
          <p:cNvPr id="22" name="Shape 20"/>
          <p:cNvSpPr/>
          <p:nvPr/>
        </p:nvSpPr>
        <p:spPr>
          <a:xfrm>
            <a:off x="5440680" y="2670048"/>
            <a:ext cx="1691640" cy="2834640"/>
          </a:xfrm>
          <a:prstGeom prst="rect">
            <a:avLst/>
          </a:prstGeom>
          <a:solidFill>
            <a:srgbClr val="FDEDF9">
              <a:alpha val="45000"/>
            </a:srgbClr>
          </a:solidFill>
          <a:ln w="15875">
            <a:solidFill>
              <a:srgbClr val="F26ECF"/>
            </a:solidFill>
            <a:prstDash val="solid"/>
          </a:ln>
        </p:spPr>
      </p:sp>
      <p:sp>
        <p:nvSpPr>
          <p:cNvPr id="23" name="Shape 21"/>
          <p:cNvSpPr/>
          <p:nvPr/>
        </p:nvSpPr>
        <p:spPr>
          <a:xfrm>
            <a:off x="7178040" y="1709928"/>
            <a:ext cx="4297680" cy="2148840"/>
          </a:xfrm>
          <a:prstGeom prst="roundRect">
            <a:avLst>
              <a:gd name="adj" fmla="val 5106"/>
            </a:avLst>
          </a:prstGeom>
          <a:solidFill>
            <a:srgbClr val="4E2AAE"/>
          </a:solidFill>
          <a:ln/>
        </p:spPr>
      </p:sp>
      <p:sp>
        <p:nvSpPr>
          <p:cNvPr id="24" name="Text 22"/>
          <p:cNvSpPr txBox="1"/>
          <p:nvPr/>
        </p:nvSpPr>
        <p:spPr>
          <a:xfrm>
            <a:off x="7543800" y="1956816"/>
            <a:ext cx="3566160" cy="347472"/>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Gana ElevenLabs</a:t>
            </a:r>
            <a:endParaRPr lang="en-US" sz="1900" dirty="0"/>
          </a:p>
        </p:txBody>
      </p:sp>
      <p:sp>
        <p:nvSpPr>
          <p:cNvPr id="25" name="Text 23"/>
          <p:cNvSpPr txBox="1"/>
          <p:nvPr/>
        </p:nvSpPr>
        <p:spPr>
          <a:xfrm>
            <a:off x="7543800" y="2414016"/>
            <a:ext cx="3566160" cy="1280160"/>
          </a:xfrm>
          <a:prstGeom prst="rect">
            <a:avLst/>
          </a:prstGeom>
          <a:noFill/>
          <a:ln/>
        </p:spPr>
        <p:txBody>
          <a:bodyPr wrap="square" lIns="0" tIns="0" rIns="0" bIns="0" rtlCol="0" anchor="ctr"/>
          <a:lstStyle/>
          <a:p>
            <a:pPr indent="0" marL="0">
              <a:lnSpc>
                <a:spcPts val="1700"/>
              </a:lnSpc>
              <a:buNone/>
            </a:pPr>
            <a:r>
              <a:rPr lang="en-US" sz="1200" dirty="0">
                <a:solidFill>
                  <a:srgbClr val="F9BCE8"/>
                </a:solidFill>
                <a:latin typeface="Calibri" pitchFamily="34" charset="0"/>
                <a:ea typeface="Calibri" pitchFamily="34" charset="-122"/>
                <a:cs typeface="Calibri" pitchFamily="34" charset="-120"/>
              </a:rPr>
              <a:t>El criterio que decide no es la confianza: es la diarización. Deepgram partió al mismo hablante en tres voces en los audios ruidosos. Sin dos hablantes bien separados no hay forma de saber quién ofreció y quién aceptó.</a:t>
            </a:r>
            <a:endParaRPr lang="en-US" sz="1200" dirty="0"/>
          </a:p>
        </p:txBody>
      </p:sp>
      <p:sp>
        <p:nvSpPr>
          <p:cNvPr id="26" name="Shape 24"/>
          <p:cNvSpPr/>
          <p:nvPr/>
        </p:nvSpPr>
        <p:spPr>
          <a:xfrm>
            <a:off x="7178040" y="3995928"/>
            <a:ext cx="4297680" cy="1463040"/>
          </a:xfrm>
          <a:prstGeom prst="roundRect">
            <a:avLst>
              <a:gd name="adj" fmla="val 7500"/>
            </a:avLst>
          </a:prstGeom>
          <a:solidFill>
            <a:srgbClr val="FDEDF9"/>
          </a:solidFill>
          <a:ln/>
        </p:spPr>
      </p:sp>
      <p:sp>
        <p:nvSpPr>
          <p:cNvPr id="27" name="Text 25"/>
          <p:cNvSpPr txBox="1"/>
          <p:nvPr/>
        </p:nvSpPr>
        <p:spPr>
          <a:xfrm>
            <a:off x="7543800" y="4178808"/>
            <a:ext cx="3566160" cy="457200"/>
          </a:xfrm>
          <a:prstGeom prst="rect">
            <a:avLst/>
          </a:prstGeom>
          <a:noFill/>
          <a:ln/>
        </p:spPr>
        <p:txBody>
          <a:bodyPr wrap="square" lIns="0" tIns="0" rIns="0" bIns="0" rtlCol="0" anchor="ctr"/>
          <a:lstStyle/>
          <a:p>
            <a:pPr indent="0" marL="0">
              <a:buNone/>
            </a:pPr>
            <a:r>
              <a:rPr lang="en-US" sz="2600" b="1" dirty="0">
                <a:solidFill>
                  <a:srgbClr val="2F8F6B"/>
                </a:solidFill>
                <a:latin typeface="Calibri" pitchFamily="34" charset="0"/>
                <a:ea typeface="Calibri" pitchFamily="34" charset="-122"/>
                <a:cs typeface="Calibri" pitchFamily="34" charset="-120"/>
              </a:rPr>
              <a:t>US$ 1.40</a:t>
            </a:r>
            <a:endParaRPr lang="en-US" sz="2600" dirty="0"/>
          </a:p>
        </p:txBody>
      </p:sp>
      <p:sp>
        <p:nvSpPr>
          <p:cNvPr id="28" name="Text 26"/>
          <p:cNvSpPr txBox="1"/>
          <p:nvPr/>
        </p:nvSpPr>
        <p:spPr>
          <a:xfrm>
            <a:off x="7543800" y="4636008"/>
            <a:ext cx="3566160" cy="731520"/>
          </a:xfrm>
          <a:prstGeom prst="rect">
            <a:avLst/>
          </a:prstGeom>
          <a:noFill/>
          <a:ln/>
        </p:spPr>
        <p:txBody>
          <a:bodyPr wrap="square" lIns="0" tIns="0" rIns="0" bIns="0" rtlCol="0" anchor="ctr"/>
          <a:lstStyle/>
          <a:p>
            <a:pPr indent="0" marL="0">
              <a:lnSpc>
                <a:spcPts val="1500"/>
              </a:lnSpc>
              <a:buNone/>
            </a:pPr>
            <a:r>
              <a:rPr lang="en-US" sz="1100" dirty="0">
                <a:solidFill>
                  <a:srgbClr val="757275"/>
                </a:solidFill>
                <a:latin typeface="Calibri" pitchFamily="34" charset="0"/>
                <a:ea typeface="Calibri" pitchFamily="34" charset="-122"/>
                <a:cs typeface="Calibri" pitchFamily="34" charset="-120"/>
              </a:rPr>
              <a:t>costo total de transcribir las 6.35 horas del corpus completo. El precio nunca fue el criterio de selección — por ese margen se pueden correr los dos motores.</a:t>
            </a:r>
            <a:endParaRPr lang="en-US" sz="1100" dirty="0"/>
          </a:p>
        </p:txBody>
      </p:sp>
      <p:sp>
        <p:nvSpPr>
          <p:cNvPr id="29" name="Text 27"/>
          <p:cNvSpPr txBox="1"/>
          <p:nvPr/>
        </p:nvSpPr>
        <p:spPr>
          <a:xfrm>
            <a:off x="685800" y="6327648"/>
            <a:ext cx="10789920" cy="274320"/>
          </a:xfrm>
          <a:prstGeom prst="rect">
            <a:avLst/>
          </a:prstGeom>
          <a:noFill/>
          <a:ln/>
        </p:spPr>
        <p:txBody>
          <a:bodyPr wrap="square" lIns="0" tIns="0" rIns="0" bIns="0" rtlCol="0" anchor="ctr"/>
          <a:lstStyle/>
          <a:p>
            <a:pPr indent="0" marL="0">
              <a:buNone/>
            </a:pPr>
            <a:r>
              <a:rPr lang="en-US" sz="950" i="1" dirty="0">
                <a:solidFill>
                  <a:srgbClr val="757275"/>
                </a:solidFill>
                <a:latin typeface="Calibri" pitchFamily="34" charset="0"/>
                <a:ea typeface="Calibri" pitchFamily="34" charset="-122"/>
                <a:cs typeface="Calibri" pitchFamily="34" charset="-120"/>
              </a:rPr>
              <a:t>Detalle completo del benchmark en analisis/etapa1.ipynb, sección 4.</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F26ECF"/>
                </a:solidFill>
                <a:latin typeface="Calibri" pitchFamily="34" charset="0"/>
                <a:ea typeface="Calibri" pitchFamily="34" charset="-122"/>
                <a:cs typeface="Calibri" pitchFamily="34" charset="-120"/>
              </a:rPr>
              <a:t>MODELADO</a:t>
            </a:r>
            <a:endParaRPr lang="en-US" sz="1100" dirty="0"/>
          </a:p>
        </p:txBody>
      </p:sp>
      <p:sp>
        <p:nvSpPr>
          <p:cNvPr id="3" name="Text 1"/>
          <p:cNvSpPr txBox="1"/>
          <p:nvPr/>
        </p:nvSpPr>
        <p:spPr>
          <a:xfrm>
            <a:off x="685800" y="676656"/>
            <a:ext cx="10789920" cy="749808"/>
          </a:xfrm>
          <a:prstGeom prst="rect">
            <a:avLst/>
          </a:prstGeom>
          <a:noFill/>
          <a:ln/>
        </p:spPr>
        <p:txBody>
          <a:bodyPr wrap="square" lIns="0" tIns="0" rIns="0" bIns="0" rtlCol="0" anchor="ctr"/>
          <a:lstStyle/>
          <a:p>
            <a:pPr indent="0" marL="0">
              <a:buNone/>
            </a:pPr>
            <a:r>
              <a:rPr lang="en-US" sz="3200" b="1" dirty="0">
                <a:solidFill>
                  <a:srgbClr val="202020"/>
                </a:solidFill>
                <a:latin typeface="Cambria" pitchFamily="34" charset="0"/>
                <a:ea typeface="Cambria" pitchFamily="34" charset="-122"/>
                <a:cs typeface="Cambria" pitchFamily="34" charset="-120"/>
              </a:rPr>
              <a:t>De 100 archivos de audio a una tabla analizable</a:t>
            </a:r>
            <a:endParaRPr lang="en-US" sz="3200" dirty="0"/>
          </a:p>
        </p:txBody>
      </p:sp>
      <p:sp>
        <p:nvSpPr>
          <p:cNvPr id="4" name="Shape 2"/>
          <p:cNvSpPr/>
          <p:nvPr/>
        </p:nvSpPr>
        <p:spPr>
          <a:xfrm>
            <a:off x="685800" y="1618488"/>
            <a:ext cx="1920240" cy="1371600"/>
          </a:xfrm>
          <a:prstGeom prst="roundRect">
            <a:avLst>
              <a:gd name="adj" fmla="val 6667"/>
            </a:avLst>
          </a:prstGeom>
          <a:solidFill>
            <a:srgbClr val="FFFFFF"/>
          </a:solidFill>
          <a:ln w="12700">
            <a:solidFill>
              <a:srgbClr val="E9E4EF"/>
            </a:solidFill>
            <a:prstDash val="solid"/>
          </a:ln>
          <a:effectLst>
            <a:outerShdw sx="100000" sy="100000" kx="0" ky="0" algn="bl" rotWithShape="0" blurRad="152400" dist="25400" dir="5400000">
              <a:srgbClr val="4E2AAE">
                <a:alpha val="10000"/>
              </a:srgbClr>
            </a:outerShdw>
          </a:effectLst>
        </p:spPr>
      </p:sp>
      <p:sp>
        <p:nvSpPr>
          <p:cNvPr id="5" name="Text 3"/>
          <p:cNvSpPr txBox="1"/>
          <p:nvPr/>
        </p:nvSpPr>
        <p:spPr>
          <a:xfrm>
            <a:off x="868680" y="1792224"/>
            <a:ext cx="1600200" cy="274320"/>
          </a:xfrm>
          <a:prstGeom prst="rect">
            <a:avLst/>
          </a:prstGeom>
          <a:noFill/>
          <a:ln/>
        </p:spPr>
        <p:txBody>
          <a:bodyPr wrap="square" lIns="0" tIns="0" rIns="0" bIns="0" rtlCol="0" anchor="ctr"/>
          <a:lstStyle/>
          <a:p>
            <a:pPr indent="0" marL="0">
              <a:buNone/>
            </a:pPr>
            <a:r>
              <a:rPr lang="en-US" sz="1300" b="1" dirty="0">
                <a:solidFill>
                  <a:srgbClr val="7047EB"/>
                </a:solidFill>
                <a:latin typeface="Calibri" pitchFamily="34" charset="0"/>
                <a:ea typeface="Calibri" pitchFamily="34" charset="-122"/>
                <a:cs typeface="Calibri" pitchFamily="34" charset="-120"/>
              </a:rPr>
              <a:t>Audio</a:t>
            </a:r>
            <a:endParaRPr lang="en-US" sz="1300" dirty="0"/>
          </a:p>
        </p:txBody>
      </p:sp>
      <p:sp>
        <p:nvSpPr>
          <p:cNvPr id="6" name="Text 4"/>
          <p:cNvSpPr txBox="1"/>
          <p:nvPr/>
        </p:nvSpPr>
        <p:spPr>
          <a:xfrm>
            <a:off x="868680" y="2103120"/>
            <a:ext cx="1645920" cy="640080"/>
          </a:xfrm>
          <a:prstGeom prst="rect">
            <a:avLst/>
          </a:prstGeom>
          <a:noFill/>
          <a:ln/>
        </p:spPr>
        <p:txBody>
          <a:bodyPr wrap="square" lIns="0" tIns="0" rIns="0" bIns="0" rtlCol="0" anchor="ctr"/>
          <a:lstStyle/>
          <a:p>
            <a:pPr indent="0" marL="0">
              <a:lnSpc>
                <a:spcPts val="1400"/>
              </a:lnSpc>
              <a:buNone/>
            </a:pPr>
            <a:r>
              <a:rPr lang="en-US" sz="1050" dirty="0">
                <a:solidFill>
                  <a:srgbClr val="757275"/>
                </a:solidFill>
                <a:latin typeface="Calibri" pitchFamily="34" charset="0"/>
                <a:ea typeface="Calibri" pitchFamily="34" charset="-122"/>
                <a:cs typeface="Calibri" pitchFamily="34" charset="-120"/>
              </a:rPr>
              <a:t>100 wav</a:t>
            </a:r>
            <a:endParaRPr lang="en-US" sz="1050" dirty="0"/>
          </a:p>
          <a:p>
            <a:pPr indent="0" marL="0">
              <a:lnSpc>
                <a:spcPts val="1400"/>
              </a:lnSpc>
              <a:buNone/>
            </a:pPr>
            <a:r>
              <a:rPr lang="en-US" sz="1050" dirty="0">
                <a:solidFill>
                  <a:srgbClr val="757275"/>
                </a:solidFill>
                <a:latin typeface="Calibri" pitchFamily="34" charset="0"/>
                <a:ea typeface="Calibri" pitchFamily="34" charset="-122"/>
                <a:cs typeface="Calibri" pitchFamily="34" charset="-120"/>
              </a:rPr>
              <a:t>8 kHz mono</a:t>
            </a:r>
            <a:endParaRPr lang="en-US" sz="1050" dirty="0"/>
          </a:p>
        </p:txBody>
      </p:sp>
      <p:sp>
        <p:nvSpPr>
          <p:cNvPr id="7" name="Text 5"/>
          <p:cNvSpPr txBox="1"/>
          <p:nvPr/>
        </p:nvSpPr>
        <p:spPr>
          <a:xfrm>
            <a:off x="2587752" y="2075688"/>
            <a:ext cx="274320" cy="365760"/>
          </a:xfrm>
          <a:prstGeom prst="rect">
            <a:avLst/>
          </a:prstGeom>
          <a:noFill/>
          <a:ln/>
        </p:spPr>
        <p:txBody>
          <a:bodyPr wrap="square" lIns="0" tIns="0" rIns="0" bIns="0" rtlCol="0" anchor="ctr"/>
          <a:lstStyle/>
          <a:p>
            <a:pPr algn="ctr" indent="0" marL="0">
              <a:buNone/>
            </a:pPr>
            <a:r>
              <a:rPr lang="en-US" sz="2000" b="1" dirty="0">
                <a:solidFill>
                  <a:srgbClr val="F9BCE8"/>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898648" y="1618488"/>
            <a:ext cx="1920240" cy="1371600"/>
          </a:xfrm>
          <a:prstGeom prst="roundRect">
            <a:avLst>
              <a:gd name="adj" fmla="val 6667"/>
            </a:avLst>
          </a:prstGeom>
          <a:solidFill>
            <a:srgbClr val="FFFFFF"/>
          </a:solidFill>
          <a:ln w="12700">
            <a:solidFill>
              <a:srgbClr val="E9E4EF"/>
            </a:solidFill>
            <a:prstDash val="solid"/>
          </a:ln>
          <a:effectLst>
            <a:outerShdw sx="100000" sy="100000" kx="0" ky="0" algn="bl" rotWithShape="0" blurRad="152400" dist="25400" dir="5400000">
              <a:srgbClr val="4E2AAE">
                <a:alpha val="10000"/>
              </a:srgbClr>
            </a:outerShdw>
          </a:effectLst>
        </p:spPr>
      </p:sp>
      <p:sp>
        <p:nvSpPr>
          <p:cNvPr id="9" name="Text 7"/>
          <p:cNvSpPr txBox="1"/>
          <p:nvPr/>
        </p:nvSpPr>
        <p:spPr>
          <a:xfrm>
            <a:off x="3081528" y="1792224"/>
            <a:ext cx="1600200" cy="274320"/>
          </a:xfrm>
          <a:prstGeom prst="rect">
            <a:avLst/>
          </a:prstGeom>
          <a:noFill/>
          <a:ln/>
        </p:spPr>
        <p:txBody>
          <a:bodyPr wrap="square" lIns="0" tIns="0" rIns="0" bIns="0" rtlCol="0" anchor="ctr"/>
          <a:lstStyle/>
          <a:p>
            <a:pPr indent="0" marL="0">
              <a:buNone/>
            </a:pPr>
            <a:r>
              <a:rPr lang="en-US" sz="1300" b="1" dirty="0">
                <a:solidFill>
                  <a:srgbClr val="7047EB"/>
                </a:solidFill>
                <a:latin typeface="Calibri" pitchFamily="34" charset="0"/>
                <a:ea typeface="Calibri" pitchFamily="34" charset="-122"/>
                <a:cs typeface="Calibri" pitchFamily="34" charset="-120"/>
              </a:rPr>
              <a:t>Transcripción</a:t>
            </a:r>
            <a:endParaRPr lang="en-US" sz="1300" dirty="0"/>
          </a:p>
        </p:txBody>
      </p:sp>
      <p:sp>
        <p:nvSpPr>
          <p:cNvPr id="10" name="Text 8"/>
          <p:cNvSpPr txBox="1"/>
          <p:nvPr/>
        </p:nvSpPr>
        <p:spPr>
          <a:xfrm>
            <a:off x="3081528" y="2103120"/>
            <a:ext cx="1645920" cy="640080"/>
          </a:xfrm>
          <a:prstGeom prst="rect">
            <a:avLst/>
          </a:prstGeom>
          <a:noFill/>
          <a:ln/>
        </p:spPr>
        <p:txBody>
          <a:bodyPr wrap="square" lIns="0" tIns="0" rIns="0" bIns="0" rtlCol="0" anchor="ctr"/>
          <a:lstStyle/>
          <a:p>
            <a:pPr indent="0" marL="0">
              <a:lnSpc>
                <a:spcPts val="1400"/>
              </a:lnSpc>
              <a:buNone/>
            </a:pPr>
            <a:r>
              <a:rPr lang="en-US" sz="1050" dirty="0">
                <a:solidFill>
                  <a:srgbClr val="757275"/>
                </a:solidFill>
                <a:latin typeface="Calibri" pitchFamily="34" charset="0"/>
                <a:ea typeface="Calibri" pitchFamily="34" charset="-122"/>
                <a:cs typeface="Calibri" pitchFamily="34" charset="-120"/>
              </a:rPr>
              <a:t>ElevenLabs</a:t>
            </a:r>
            <a:endParaRPr lang="en-US" sz="1050" dirty="0"/>
          </a:p>
          <a:p>
            <a:pPr indent="0" marL="0">
              <a:lnSpc>
                <a:spcPts val="1400"/>
              </a:lnSpc>
              <a:buNone/>
            </a:pPr>
            <a:r>
              <a:rPr lang="en-US" sz="1050" dirty="0">
                <a:solidFill>
                  <a:srgbClr val="757275"/>
                </a:solidFill>
                <a:latin typeface="Calibri" pitchFamily="34" charset="0"/>
                <a:ea typeface="Calibri" pitchFamily="34" charset="-122"/>
                <a:cs typeface="Calibri" pitchFamily="34" charset="-120"/>
              </a:rPr>
              <a:t>con diarización</a:t>
            </a:r>
            <a:endParaRPr lang="en-US" sz="1050" dirty="0"/>
          </a:p>
        </p:txBody>
      </p:sp>
      <p:sp>
        <p:nvSpPr>
          <p:cNvPr id="11" name="Text 9"/>
          <p:cNvSpPr txBox="1"/>
          <p:nvPr/>
        </p:nvSpPr>
        <p:spPr>
          <a:xfrm>
            <a:off x="4800600" y="2075688"/>
            <a:ext cx="274320" cy="365760"/>
          </a:xfrm>
          <a:prstGeom prst="rect">
            <a:avLst/>
          </a:prstGeom>
          <a:noFill/>
          <a:ln/>
        </p:spPr>
        <p:txBody>
          <a:bodyPr wrap="square" lIns="0" tIns="0" rIns="0" bIns="0" rtlCol="0" anchor="ctr"/>
          <a:lstStyle/>
          <a:p>
            <a:pPr algn="ctr" indent="0" marL="0">
              <a:buNone/>
            </a:pPr>
            <a:r>
              <a:rPr lang="en-US" sz="2000" b="1" dirty="0">
                <a:solidFill>
                  <a:srgbClr val="F9BCE8"/>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5111496" y="1618488"/>
            <a:ext cx="1920240" cy="1371600"/>
          </a:xfrm>
          <a:prstGeom prst="roundRect">
            <a:avLst>
              <a:gd name="adj" fmla="val 6667"/>
            </a:avLst>
          </a:prstGeom>
          <a:solidFill>
            <a:srgbClr val="FFFFFF"/>
          </a:solidFill>
          <a:ln w="12700">
            <a:solidFill>
              <a:srgbClr val="E9E4EF"/>
            </a:solidFill>
            <a:prstDash val="solid"/>
          </a:ln>
          <a:effectLst>
            <a:outerShdw sx="100000" sy="100000" kx="0" ky="0" algn="bl" rotWithShape="0" blurRad="152400" dist="25400" dir="5400000">
              <a:srgbClr val="4E2AAE">
                <a:alpha val="10000"/>
              </a:srgbClr>
            </a:outerShdw>
          </a:effectLst>
        </p:spPr>
      </p:sp>
      <p:sp>
        <p:nvSpPr>
          <p:cNvPr id="13" name="Text 11"/>
          <p:cNvSpPr txBox="1"/>
          <p:nvPr/>
        </p:nvSpPr>
        <p:spPr>
          <a:xfrm>
            <a:off x="5294376" y="1792224"/>
            <a:ext cx="1600200" cy="274320"/>
          </a:xfrm>
          <a:prstGeom prst="rect">
            <a:avLst/>
          </a:prstGeom>
          <a:noFill/>
          <a:ln/>
        </p:spPr>
        <p:txBody>
          <a:bodyPr wrap="square" lIns="0" tIns="0" rIns="0" bIns="0" rtlCol="0" anchor="ctr"/>
          <a:lstStyle/>
          <a:p>
            <a:pPr indent="0" marL="0">
              <a:buNone/>
            </a:pPr>
            <a:r>
              <a:rPr lang="en-US" sz="1300" b="1" dirty="0">
                <a:solidFill>
                  <a:srgbClr val="7047EB"/>
                </a:solidFill>
                <a:latin typeface="Calibri" pitchFamily="34" charset="0"/>
                <a:ea typeface="Calibri" pitchFamily="34" charset="-122"/>
                <a:cs typeface="Calibri" pitchFamily="34" charset="-120"/>
              </a:rPr>
              <a:t>Texto por turnos</a:t>
            </a:r>
            <a:endParaRPr lang="en-US" sz="1300" dirty="0"/>
          </a:p>
        </p:txBody>
      </p:sp>
      <p:sp>
        <p:nvSpPr>
          <p:cNvPr id="14" name="Text 12"/>
          <p:cNvSpPr txBox="1"/>
          <p:nvPr/>
        </p:nvSpPr>
        <p:spPr>
          <a:xfrm>
            <a:off x="5294376" y="2103120"/>
            <a:ext cx="1645920" cy="640080"/>
          </a:xfrm>
          <a:prstGeom prst="rect">
            <a:avLst/>
          </a:prstGeom>
          <a:noFill/>
          <a:ln/>
        </p:spPr>
        <p:txBody>
          <a:bodyPr wrap="square" lIns="0" tIns="0" rIns="0" bIns="0" rtlCol="0" anchor="ctr"/>
          <a:lstStyle/>
          <a:p>
            <a:pPr indent="0" marL="0">
              <a:lnSpc>
                <a:spcPts val="1400"/>
              </a:lnSpc>
              <a:buNone/>
            </a:pPr>
            <a:r>
              <a:rPr lang="en-US" sz="1050" dirty="0">
                <a:solidFill>
                  <a:srgbClr val="757275"/>
                </a:solidFill>
                <a:latin typeface="Calibri" pitchFamily="34" charset="0"/>
                <a:ea typeface="Calibri" pitchFamily="34" charset="-122"/>
                <a:cs typeface="Calibri" pitchFamily="34" charset="-120"/>
              </a:rPr>
              <a:t>con [CENSURADO]</a:t>
            </a:r>
            <a:endParaRPr lang="en-US" sz="1050" dirty="0"/>
          </a:p>
          <a:p>
            <a:pPr indent="0" marL="0">
              <a:lnSpc>
                <a:spcPts val="1400"/>
              </a:lnSpc>
              <a:buNone/>
            </a:pPr>
            <a:r>
              <a:rPr lang="en-US" sz="1050" dirty="0">
                <a:solidFill>
                  <a:srgbClr val="757275"/>
                </a:solidFill>
                <a:latin typeface="Calibri" pitchFamily="34" charset="0"/>
                <a:ea typeface="Calibri" pitchFamily="34" charset="-122"/>
                <a:cs typeface="Calibri" pitchFamily="34" charset="-120"/>
              </a:rPr>
              <a:t>en cada pitido</a:t>
            </a:r>
            <a:endParaRPr lang="en-US" sz="1050" dirty="0"/>
          </a:p>
        </p:txBody>
      </p:sp>
      <p:sp>
        <p:nvSpPr>
          <p:cNvPr id="15" name="Text 13"/>
          <p:cNvSpPr txBox="1"/>
          <p:nvPr/>
        </p:nvSpPr>
        <p:spPr>
          <a:xfrm>
            <a:off x="7013448" y="2075688"/>
            <a:ext cx="274320" cy="365760"/>
          </a:xfrm>
          <a:prstGeom prst="rect">
            <a:avLst/>
          </a:prstGeom>
          <a:noFill/>
          <a:ln/>
        </p:spPr>
        <p:txBody>
          <a:bodyPr wrap="square" lIns="0" tIns="0" rIns="0" bIns="0" rtlCol="0" anchor="ctr"/>
          <a:lstStyle/>
          <a:p>
            <a:pPr algn="ctr" indent="0" marL="0">
              <a:buNone/>
            </a:pPr>
            <a:r>
              <a:rPr lang="en-US" sz="2000" b="1" dirty="0">
                <a:solidFill>
                  <a:srgbClr val="F9BCE8"/>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7324344" y="1618488"/>
            <a:ext cx="1920240" cy="1371600"/>
          </a:xfrm>
          <a:prstGeom prst="roundRect">
            <a:avLst>
              <a:gd name="adj" fmla="val 6667"/>
            </a:avLst>
          </a:prstGeom>
          <a:solidFill>
            <a:srgbClr val="FFFFFF"/>
          </a:solidFill>
          <a:ln w="12700">
            <a:solidFill>
              <a:srgbClr val="E9E4EF"/>
            </a:solidFill>
            <a:prstDash val="solid"/>
          </a:ln>
          <a:effectLst>
            <a:outerShdw sx="100000" sy="100000" kx="0" ky="0" algn="bl" rotWithShape="0" blurRad="152400" dist="25400" dir="5400000">
              <a:srgbClr val="4E2AAE">
                <a:alpha val="10000"/>
              </a:srgbClr>
            </a:outerShdw>
          </a:effectLst>
        </p:spPr>
      </p:sp>
      <p:sp>
        <p:nvSpPr>
          <p:cNvPr id="17" name="Text 15"/>
          <p:cNvSpPr txBox="1"/>
          <p:nvPr/>
        </p:nvSpPr>
        <p:spPr>
          <a:xfrm>
            <a:off x="7507224" y="1792224"/>
            <a:ext cx="1600200" cy="274320"/>
          </a:xfrm>
          <a:prstGeom prst="rect">
            <a:avLst/>
          </a:prstGeom>
          <a:noFill/>
          <a:ln/>
        </p:spPr>
        <p:txBody>
          <a:bodyPr wrap="square" lIns="0" tIns="0" rIns="0" bIns="0" rtlCol="0" anchor="ctr"/>
          <a:lstStyle/>
          <a:p>
            <a:pPr indent="0" marL="0">
              <a:buNone/>
            </a:pPr>
            <a:r>
              <a:rPr lang="en-US" sz="1300" b="1" dirty="0">
                <a:solidFill>
                  <a:srgbClr val="4E2AAE"/>
                </a:solidFill>
                <a:latin typeface="Calibri" pitchFamily="34" charset="0"/>
                <a:ea typeface="Calibri" pitchFamily="34" charset="-122"/>
                <a:cs typeface="Calibri" pitchFamily="34" charset="-120"/>
              </a:rPr>
              <a:t>Extracción</a:t>
            </a:r>
            <a:endParaRPr lang="en-US" sz="1300" dirty="0"/>
          </a:p>
        </p:txBody>
      </p:sp>
      <p:sp>
        <p:nvSpPr>
          <p:cNvPr id="18" name="Text 16"/>
          <p:cNvSpPr txBox="1"/>
          <p:nvPr/>
        </p:nvSpPr>
        <p:spPr>
          <a:xfrm>
            <a:off x="7507224" y="2103120"/>
            <a:ext cx="1645920" cy="640080"/>
          </a:xfrm>
          <a:prstGeom prst="rect">
            <a:avLst/>
          </a:prstGeom>
          <a:noFill/>
          <a:ln/>
        </p:spPr>
        <p:txBody>
          <a:bodyPr wrap="square" lIns="0" tIns="0" rIns="0" bIns="0" rtlCol="0" anchor="ctr"/>
          <a:lstStyle/>
          <a:p>
            <a:pPr indent="0" marL="0">
              <a:lnSpc>
                <a:spcPts val="1400"/>
              </a:lnSpc>
              <a:buNone/>
            </a:pPr>
            <a:r>
              <a:rPr lang="en-US" sz="1050" dirty="0">
                <a:solidFill>
                  <a:srgbClr val="757275"/>
                </a:solidFill>
                <a:latin typeface="Calibri" pitchFamily="34" charset="0"/>
                <a:ea typeface="Calibri" pitchFamily="34" charset="-122"/>
                <a:cs typeface="Calibri" pitchFamily="34" charset="-120"/>
              </a:rPr>
              <a:t>LLM sobre el texto,</a:t>
            </a:r>
            <a:endParaRPr lang="en-US" sz="1050" dirty="0"/>
          </a:p>
          <a:p>
            <a:pPr indent="0" marL="0">
              <a:lnSpc>
                <a:spcPts val="1400"/>
              </a:lnSpc>
              <a:buNone/>
            </a:pPr>
            <a:r>
              <a:rPr lang="en-US" sz="1050" dirty="0">
                <a:solidFill>
                  <a:srgbClr val="757275"/>
                </a:solidFill>
                <a:latin typeface="Calibri" pitchFamily="34" charset="0"/>
                <a:ea typeface="Calibri" pitchFamily="34" charset="-122"/>
                <a:cs typeface="Calibri" pitchFamily="34" charset="-120"/>
              </a:rPr>
              <a:t>esquema fijo</a:t>
            </a:r>
            <a:endParaRPr lang="en-US" sz="1050" dirty="0"/>
          </a:p>
        </p:txBody>
      </p:sp>
      <p:sp>
        <p:nvSpPr>
          <p:cNvPr id="19" name="Text 17"/>
          <p:cNvSpPr txBox="1"/>
          <p:nvPr/>
        </p:nvSpPr>
        <p:spPr>
          <a:xfrm>
            <a:off x="9226296" y="2075688"/>
            <a:ext cx="274320" cy="365760"/>
          </a:xfrm>
          <a:prstGeom prst="rect">
            <a:avLst/>
          </a:prstGeom>
          <a:noFill/>
          <a:ln/>
        </p:spPr>
        <p:txBody>
          <a:bodyPr wrap="square" lIns="0" tIns="0" rIns="0" bIns="0" rtlCol="0" anchor="ctr"/>
          <a:lstStyle/>
          <a:p>
            <a:pPr algn="ctr" indent="0" marL="0">
              <a:buNone/>
            </a:pPr>
            <a:r>
              <a:rPr lang="en-US" sz="2000" b="1" dirty="0">
                <a:solidFill>
                  <a:srgbClr val="F9BCE8"/>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9537192" y="1618488"/>
            <a:ext cx="1920240" cy="1371600"/>
          </a:xfrm>
          <a:prstGeom prst="roundRect">
            <a:avLst>
              <a:gd name="adj" fmla="val 6667"/>
            </a:avLst>
          </a:prstGeom>
          <a:solidFill>
            <a:srgbClr val="FDEDF9"/>
          </a:solidFill>
          <a:ln w="22225">
            <a:solidFill>
              <a:srgbClr val="F26ECF"/>
            </a:solidFill>
            <a:prstDash val="solid"/>
          </a:ln>
          <a:effectLst>
            <a:outerShdw sx="100000" sy="100000" kx="0" ky="0" algn="bl" rotWithShape="0" blurRad="152400" dist="25400" dir="5400000">
              <a:srgbClr val="4E2AAE">
                <a:alpha val="10000"/>
              </a:srgbClr>
            </a:outerShdw>
          </a:effectLst>
        </p:spPr>
      </p:sp>
      <p:sp>
        <p:nvSpPr>
          <p:cNvPr id="21" name="Text 19"/>
          <p:cNvSpPr txBox="1"/>
          <p:nvPr/>
        </p:nvSpPr>
        <p:spPr>
          <a:xfrm>
            <a:off x="9720072" y="1792224"/>
            <a:ext cx="1600200" cy="274320"/>
          </a:xfrm>
          <a:prstGeom prst="rect">
            <a:avLst/>
          </a:prstGeom>
          <a:noFill/>
          <a:ln/>
        </p:spPr>
        <p:txBody>
          <a:bodyPr wrap="square" lIns="0" tIns="0" rIns="0" bIns="0" rtlCol="0" anchor="ctr"/>
          <a:lstStyle/>
          <a:p>
            <a:pPr indent="0" marL="0">
              <a:buNone/>
            </a:pPr>
            <a:r>
              <a:rPr lang="en-US" sz="1300" b="1" dirty="0">
                <a:solidFill>
                  <a:srgbClr val="F26ECF"/>
                </a:solidFill>
                <a:latin typeface="Calibri" pitchFamily="34" charset="0"/>
                <a:ea typeface="Calibri" pitchFamily="34" charset="-122"/>
                <a:cs typeface="Calibri" pitchFamily="34" charset="-120"/>
              </a:rPr>
              <a:t>Dataset</a:t>
            </a:r>
            <a:endParaRPr lang="en-US" sz="1300" dirty="0"/>
          </a:p>
        </p:txBody>
      </p:sp>
      <p:sp>
        <p:nvSpPr>
          <p:cNvPr id="22" name="Text 20"/>
          <p:cNvSpPr txBox="1"/>
          <p:nvPr/>
        </p:nvSpPr>
        <p:spPr>
          <a:xfrm>
            <a:off x="9720072" y="2103120"/>
            <a:ext cx="1645920" cy="640080"/>
          </a:xfrm>
          <a:prstGeom prst="rect">
            <a:avLst/>
          </a:prstGeom>
          <a:noFill/>
          <a:ln/>
        </p:spPr>
        <p:txBody>
          <a:bodyPr wrap="square" lIns="0" tIns="0" rIns="0" bIns="0" rtlCol="0" anchor="ctr"/>
          <a:lstStyle/>
          <a:p>
            <a:pPr indent="0" marL="0">
              <a:lnSpc>
                <a:spcPts val="1400"/>
              </a:lnSpc>
              <a:buNone/>
            </a:pPr>
            <a:r>
              <a:rPr lang="en-US" sz="1050" dirty="0">
                <a:solidFill>
                  <a:srgbClr val="757275"/>
                </a:solidFill>
                <a:latin typeface="Calibri" pitchFamily="34" charset="0"/>
                <a:ea typeface="Calibri" pitchFamily="34" charset="-122"/>
                <a:cs typeface="Calibri" pitchFamily="34" charset="-120"/>
              </a:rPr>
              <a:t>100 filas ×</a:t>
            </a:r>
            <a:endParaRPr lang="en-US" sz="1050" dirty="0"/>
          </a:p>
          <a:p>
            <a:pPr indent="0" marL="0">
              <a:lnSpc>
                <a:spcPts val="1400"/>
              </a:lnSpc>
              <a:buNone/>
            </a:pPr>
            <a:r>
              <a:rPr lang="en-US" sz="1050" dirty="0">
                <a:solidFill>
                  <a:srgbClr val="757275"/>
                </a:solidFill>
                <a:latin typeface="Calibri" pitchFamily="34" charset="0"/>
                <a:ea typeface="Calibri" pitchFamily="34" charset="-122"/>
                <a:cs typeface="Calibri" pitchFamily="34" charset="-120"/>
              </a:rPr>
              <a:t>28 variables</a:t>
            </a:r>
            <a:endParaRPr lang="en-US" sz="1050" dirty="0"/>
          </a:p>
        </p:txBody>
      </p:sp>
      <p:sp>
        <p:nvSpPr>
          <p:cNvPr id="23" name="Shape 21"/>
          <p:cNvSpPr/>
          <p:nvPr/>
        </p:nvSpPr>
        <p:spPr>
          <a:xfrm>
            <a:off x="685800" y="3218688"/>
            <a:ext cx="5532120" cy="1143000"/>
          </a:xfrm>
          <a:prstGeom prst="roundRect">
            <a:avLst>
              <a:gd name="adj" fmla="val 8000"/>
            </a:avLst>
          </a:prstGeom>
          <a:solidFill>
            <a:srgbClr val="FDEDF9"/>
          </a:solidFill>
          <a:ln/>
        </p:spPr>
      </p:sp>
      <p:sp>
        <p:nvSpPr>
          <p:cNvPr id="24" name="Text 22"/>
          <p:cNvSpPr txBox="1"/>
          <p:nvPr/>
        </p:nvSpPr>
        <p:spPr>
          <a:xfrm>
            <a:off x="978408" y="3383280"/>
            <a:ext cx="4983480" cy="868680"/>
          </a:xfrm>
          <a:prstGeom prst="rect">
            <a:avLst/>
          </a:prstGeom>
          <a:noFill/>
          <a:ln/>
        </p:spPr>
        <p:txBody>
          <a:bodyPr wrap="square" lIns="0" tIns="0" rIns="0" bIns="0" rtlCol="0" anchor="ctr"/>
          <a:lstStyle/>
          <a:p>
            <a:pPr indent="0" marL="0">
              <a:lnSpc>
                <a:spcPts val="1700"/>
              </a:lnSpc>
              <a:buNone/>
            </a:pPr>
            <a:r>
              <a:rPr lang="en-US" sz="1200" b="1" dirty="0">
                <a:solidFill>
                  <a:srgbClr val="4E2AAE"/>
                </a:solidFill>
                <a:latin typeface="Calibri" pitchFamily="34" charset="0"/>
                <a:ea typeface="Calibri" pitchFamily="34" charset="-122"/>
                <a:cs typeface="Calibri" pitchFamily="34" charset="-120"/>
              </a:rPr>
              <a:t>Las variables no las eligió el modelo.  </a:t>
            </a:r>
            <a:pPr indent="0" marL="0">
              <a:lnSpc>
                <a:spcPts val="1700"/>
              </a:lnSpc>
              <a:buNone/>
            </a:pPr>
            <a:r>
              <a:rPr lang="en-US" sz="1200" dirty="0">
                <a:solidFill>
                  <a:srgbClr val="202020"/>
                </a:solidFill>
                <a:latin typeface="Calibri" pitchFamily="34" charset="0"/>
                <a:ea typeface="Calibri" pitchFamily="34" charset="-122"/>
                <a:cs typeface="Calibri" pitchFamily="34" charset="-120"/>
              </a:rPr>
              <a:t>Se definieron en la escucha manual; la IA solo se usó para escalar su extracción a las 100 llamadas bajo un esquema fijo de 28 campos.</a:t>
            </a:r>
            <a:endParaRPr lang="en-US" sz="1200" dirty="0"/>
          </a:p>
        </p:txBody>
      </p:sp>
      <p:sp>
        <p:nvSpPr>
          <p:cNvPr id="25" name="Text 23"/>
          <p:cNvSpPr txBox="1"/>
          <p:nvPr/>
        </p:nvSpPr>
        <p:spPr>
          <a:xfrm>
            <a:off x="6537960" y="3218688"/>
            <a:ext cx="4937760" cy="274320"/>
          </a:xfrm>
          <a:prstGeom prst="rect">
            <a:avLst/>
          </a:prstGeom>
          <a:noFill/>
          <a:ln/>
        </p:spPr>
        <p:txBody>
          <a:bodyPr wrap="square" lIns="0" tIns="0" rIns="0" bIns="0" rtlCol="0" anchor="ctr"/>
          <a:lstStyle/>
          <a:p>
            <a:pPr indent="0" marL="0">
              <a:buNone/>
            </a:pPr>
            <a:r>
              <a:rPr lang="en-US" sz="1300" b="1" dirty="0">
                <a:solidFill>
                  <a:srgbClr val="202020"/>
                </a:solidFill>
                <a:latin typeface="Calibri" pitchFamily="34" charset="0"/>
                <a:ea typeface="Calibri" pitchFamily="34" charset="-122"/>
                <a:cs typeface="Calibri" pitchFamily="34" charset="-120"/>
              </a:rPr>
              <a:t>Las 5 capas de análisis</a:t>
            </a:r>
            <a:endParaRPr lang="en-US" sz="1300" dirty="0"/>
          </a:p>
        </p:txBody>
      </p:sp>
      <p:sp>
        <p:nvSpPr>
          <p:cNvPr id="26" name="Shape 24"/>
          <p:cNvSpPr/>
          <p:nvPr/>
        </p:nvSpPr>
        <p:spPr>
          <a:xfrm>
            <a:off x="6537960" y="3621024"/>
            <a:ext cx="256032" cy="256032"/>
          </a:xfrm>
          <a:prstGeom prst="ellipse">
            <a:avLst/>
          </a:prstGeom>
          <a:solidFill>
            <a:srgbClr val="7047EB"/>
          </a:solidFill>
          <a:ln/>
        </p:spPr>
      </p:sp>
      <p:sp>
        <p:nvSpPr>
          <p:cNvPr id="27" name="Text 25"/>
          <p:cNvSpPr txBox="1"/>
          <p:nvPr/>
        </p:nvSpPr>
        <p:spPr>
          <a:xfrm>
            <a:off x="6537960" y="362102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8" name="Text 26"/>
          <p:cNvSpPr txBox="1"/>
          <p:nvPr/>
        </p:nvSpPr>
        <p:spPr>
          <a:xfrm>
            <a:off x="6903720" y="3593592"/>
            <a:ext cx="4572000" cy="329184"/>
          </a:xfrm>
          <a:prstGeom prst="rect">
            <a:avLst/>
          </a:prstGeom>
          <a:noFill/>
          <a:ln/>
        </p:spPr>
        <p:txBody>
          <a:bodyPr wrap="square" lIns="0" tIns="0" rIns="0" bIns="0" rtlCol="0" anchor="ctr"/>
          <a:lstStyle/>
          <a:p>
            <a:pPr indent="0" marL="0">
              <a:buNone/>
            </a:pPr>
            <a:r>
              <a:rPr lang="en-US" sz="1150" b="1" dirty="0">
                <a:solidFill>
                  <a:srgbClr val="202020"/>
                </a:solidFill>
                <a:latin typeface="Calibri" pitchFamily="34" charset="0"/>
                <a:ea typeface="Calibri" pitchFamily="34" charset="-122"/>
                <a:cs typeface="Calibri" pitchFamily="34" charset="-120"/>
              </a:rPr>
              <a:t>Negocio.  </a:t>
            </a:r>
            <a:pPr indent="0" marL="0">
              <a:buNone/>
            </a:pPr>
            <a:r>
              <a:rPr lang="en-US" sz="1150" dirty="0">
                <a:solidFill>
                  <a:srgbClr val="757275"/>
                </a:solidFill>
                <a:latin typeface="Calibri" pitchFamily="34" charset="0"/>
                <a:ea typeface="Calibri" pitchFamily="34" charset="-122"/>
                <a:cs typeface="Calibri" pitchFamily="34" charset="-120"/>
              </a:rPr>
              <a:t>¿la llamada consigue una gestión exitosa?</a:t>
            </a:r>
            <a:endParaRPr lang="en-US" sz="1150" dirty="0"/>
          </a:p>
        </p:txBody>
      </p:sp>
      <p:sp>
        <p:nvSpPr>
          <p:cNvPr id="29" name="Shape 27"/>
          <p:cNvSpPr/>
          <p:nvPr/>
        </p:nvSpPr>
        <p:spPr>
          <a:xfrm>
            <a:off x="6537960" y="4078224"/>
            <a:ext cx="256032" cy="256032"/>
          </a:xfrm>
          <a:prstGeom prst="ellipse">
            <a:avLst/>
          </a:prstGeom>
          <a:solidFill>
            <a:srgbClr val="7047EB"/>
          </a:solidFill>
          <a:ln/>
        </p:spPr>
      </p:sp>
      <p:sp>
        <p:nvSpPr>
          <p:cNvPr id="30" name="Text 28"/>
          <p:cNvSpPr txBox="1"/>
          <p:nvPr/>
        </p:nvSpPr>
        <p:spPr>
          <a:xfrm>
            <a:off x="6537960" y="407822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1" name="Text 29"/>
          <p:cNvSpPr txBox="1"/>
          <p:nvPr/>
        </p:nvSpPr>
        <p:spPr>
          <a:xfrm>
            <a:off x="6903720" y="4050792"/>
            <a:ext cx="4572000" cy="329184"/>
          </a:xfrm>
          <a:prstGeom prst="rect">
            <a:avLst/>
          </a:prstGeom>
          <a:noFill/>
          <a:ln/>
        </p:spPr>
        <p:txBody>
          <a:bodyPr wrap="square" lIns="0" tIns="0" rIns="0" bIns="0" rtlCol="0" anchor="ctr"/>
          <a:lstStyle/>
          <a:p>
            <a:pPr indent="0" marL="0">
              <a:buNone/>
            </a:pPr>
            <a:r>
              <a:rPr lang="en-US" sz="1150" b="1" dirty="0">
                <a:solidFill>
                  <a:srgbClr val="202020"/>
                </a:solidFill>
                <a:latin typeface="Calibri" pitchFamily="34" charset="0"/>
                <a:ea typeface="Calibri" pitchFamily="34" charset="-122"/>
                <a:cs typeface="Calibri" pitchFamily="34" charset="-120"/>
              </a:rPr>
              <a:t>Negociación.  </a:t>
            </a:r>
            <a:pPr indent="0" marL="0">
              <a:buNone/>
            </a:pPr>
            <a:r>
              <a:rPr lang="en-US" sz="1150" dirty="0">
                <a:solidFill>
                  <a:srgbClr val="757275"/>
                </a:solidFill>
                <a:latin typeface="Calibri" pitchFamily="34" charset="0"/>
                <a:ea typeface="Calibri" pitchFamily="34" charset="-122"/>
                <a:cs typeface="Calibri" pitchFamily="34" charset="-120"/>
              </a:rPr>
              <a:t>¿con qué propuesta económica se consigue?</a:t>
            </a:r>
            <a:endParaRPr lang="en-US" sz="1150" dirty="0"/>
          </a:p>
        </p:txBody>
      </p:sp>
      <p:sp>
        <p:nvSpPr>
          <p:cNvPr id="32" name="Shape 30"/>
          <p:cNvSpPr/>
          <p:nvPr/>
        </p:nvSpPr>
        <p:spPr>
          <a:xfrm>
            <a:off x="6537960" y="4535424"/>
            <a:ext cx="256032" cy="256032"/>
          </a:xfrm>
          <a:prstGeom prst="ellipse">
            <a:avLst/>
          </a:prstGeom>
          <a:solidFill>
            <a:srgbClr val="7047EB"/>
          </a:solidFill>
          <a:ln/>
        </p:spPr>
      </p:sp>
      <p:sp>
        <p:nvSpPr>
          <p:cNvPr id="33" name="Text 31"/>
          <p:cNvSpPr txBox="1"/>
          <p:nvPr/>
        </p:nvSpPr>
        <p:spPr>
          <a:xfrm>
            <a:off x="6537960" y="453542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4" name="Text 32"/>
          <p:cNvSpPr txBox="1"/>
          <p:nvPr/>
        </p:nvSpPr>
        <p:spPr>
          <a:xfrm>
            <a:off x="6903720" y="4507992"/>
            <a:ext cx="4572000" cy="329184"/>
          </a:xfrm>
          <a:prstGeom prst="rect">
            <a:avLst/>
          </a:prstGeom>
          <a:noFill/>
          <a:ln/>
        </p:spPr>
        <p:txBody>
          <a:bodyPr wrap="square" lIns="0" tIns="0" rIns="0" bIns="0" rtlCol="0" anchor="ctr"/>
          <a:lstStyle/>
          <a:p>
            <a:pPr indent="0" marL="0">
              <a:buNone/>
            </a:pPr>
            <a:r>
              <a:rPr lang="en-US" sz="1150" b="1" dirty="0">
                <a:solidFill>
                  <a:srgbClr val="202020"/>
                </a:solidFill>
                <a:latin typeface="Calibri" pitchFamily="34" charset="0"/>
                <a:ea typeface="Calibri" pitchFamily="34" charset="-122"/>
                <a:cs typeface="Calibri" pitchFamily="34" charset="-120"/>
              </a:rPr>
              <a:t>Objeciones.  </a:t>
            </a:r>
            <a:pPr indent="0" marL="0">
              <a:buNone/>
            </a:pPr>
            <a:r>
              <a:rPr lang="en-US" sz="1150" dirty="0">
                <a:solidFill>
                  <a:srgbClr val="757275"/>
                </a:solidFill>
                <a:latin typeface="Calibri" pitchFamily="34" charset="0"/>
                <a:ea typeface="Calibri" pitchFamily="34" charset="-122"/>
                <a:cs typeface="Calibri" pitchFamily="34" charset="-120"/>
              </a:rPr>
              <a:t>¿qué objeciones resuelve cada agente?</a:t>
            </a:r>
            <a:endParaRPr lang="en-US" sz="1150" dirty="0"/>
          </a:p>
        </p:txBody>
      </p:sp>
      <p:sp>
        <p:nvSpPr>
          <p:cNvPr id="35" name="Shape 33"/>
          <p:cNvSpPr/>
          <p:nvPr/>
        </p:nvSpPr>
        <p:spPr>
          <a:xfrm>
            <a:off x="6537960" y="4992624"/>
            <a:ext cx="256032" cy="256032"/>
          </a:xfrm>
          <a:prstGeom prst="ellipse">
            <a:avLst/>
          </a:prstGeom>
          <a:solidFill>
            <a:srgbClr val="7047EB"/>
          </a:solidFill>
          <a:ln/>
        </p:spPr>
      </p:sp>
      <p:sp>
        <p:nvSpPr>
          <p:cNvPr id="36" name="Text 34"/>
          <p:cNvSpPr txBox="1"/>
          <p:nvPr/>
        </p:nvSpPr>
        <p:spPr>
          <a:xfrm>
            <a:off x="6537960" y="499262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7" name="Text 35"/>
          <p:cNvSpPr txBox="1"/>
          <p:nvPr/>
        </p:nvSpPr>
        <p:spPr>
          <a:xfrm>
            <a:off x="6903720" y="4965192"/>
            <a:ext cx="4572000" cy="329184"/>
          </a:xfrm>
          <a:prstGeom prst="rect">
            <a:avLst/>
          </a:prstGeom>
          <a:noFill/>
          <a:ln/>
        </p:spPr>
        <p:txBody>
          <a:bodyPr wrap="square" lIns="0" tIns="0" rIns="0" bIns="0" rtlCol="0" anchor="ctr"/>
          <a:lstStyle/>
          <a:p>
            <a:pPr indent="0" marL="0">
              <a:buNone/>
            </a:pPr>
            <a:r>
              <a:rPr lang="en-US" sz="1150" b="1" dirty="0">
                <a:solidFill>
                  <a:srgbClr val="202020"/>
                </a:solidFill>
                <a:latin typeface="Calibri" pitchFamily="34" charset="0"/>
                <a:ea typeface="Calibri" pitchFamily="34" charset="-122"/>
                <a:cs typeface="Calibri" pitchFamily="34" charset="-120"/>
              </a:rPr>
              <a:t>Conducta.  </a:t>
            </a:r>
            <a:pPr indent="0" marL="0">
              <a:buNone/>
            </a:pPr>
            <a:r>
              <a:rPr lang="en-US" sz="1150" dirty="0">
                <a:solidFill>
                  <a:srgbClr val="757275"/>
                </a:solidFill>
                <a:latin typeface="Calibri" pitchFamily="34" charset="0"/>
                <a:ea typeface="Calibri" pitchFamily="34" charset="-122"/>
                <a:cs typeface="Calibri" pitchFamily="34" charset="-120"/>
              </a:rPr>
              <a:t>¿interrumpe, monopoliza, deja silencios?</a:t>
            </a:r>
            <a:endParaRPr lang="en-US" sz="1150" dirty="0"/>
          </a:p>
        </p:txBody>
      </p:sp>
      <p:sp>
        <p:nvSpPr>
          <p:cNvPr id="38" name="Shape 36"/>
          <p:cNvSpPr/>
          <p:nvPr/>
        </p:nvSpPr>
        <p:spPr>
          <a:xfrm>
            <a:off x="6537960" y="5449824"/>
            <a:ext cx="256032" cy="256032"/>
          </a:xfrm>
          <a:prstGeom prst="ellipse">
            <a:avLst/>
          </a:prstGeom>
          <a:solidFill>
            <a:srgbClr val="757275"/>
          </a:solidFill>
          <a:ln/>
        </p:spPr>
      </p:sp>
      <p:sp>
        <p:nvSpPr>
          <p:cNvPr id="39" name="Text 37"/>
          <p:cNvSpPr txBox="1"/>
          <p:nvPr/>
        </p:nvSpPr>
        <p:spPr>
          <a:xfrm>
            <a:off x="6537960" y="544982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0" name="Text 38"/>
          <p:cNvSpPr txBox="1"/>
          <p:nvPr/>
        </p:nvSpPr>
        <p:spPr>
          <a:xfrm>
            <a:off x="6903720" y="5422392"/>
            <a:ext cx="4572000" cy="329184"/>
          </a:xfrm>
          <a:prstGeom prst="rect">
            <a:avLst/>
          </a:prstGeom>
          <a:noFill/>
          <a:ln/>
        </p:spPr>
        <p:txBody>
          <a:bodyPr wrap="square" lIns="0" tIns="0" rIns="0" bIns="0" rtlCol="0" anchor="ctr"/>
          <a:lstStyle/>
          <a:p>
            <a:pPr indent="0" marL="0">
              <a:buNone/>
            </a:pPr>
            <a:r>
              <a:rPr lang="en-US" sz="1150" b="1" dirty="0">
                <a:solidFill>
                  <a:srgbClr val="202020"/>
                </a:solidFill>
                <a:latin typeface="Calibri" pitchFamily="34" charset="0"/>
                <a:ea typeface="Calibri" pitchFamily="34" charset="-122"/>
                <a:cs typeface="Calibri" pitchFamily="34" charset="-120"/>
              </a:rPr>
              <a:t>Sentimiento.  </a:t>
            </a:r>
            <a:pPr indent="0" marL="0">
              <a:buNone/>
            </a:pPr>
            <a:r>
              <a:rPr lang="en-US" sz="1150" dirty="0">
                <a:solidFill>
                  <a:srgbClr val="757275"/>
                </a:solidFill>
                <a:latin typeface="Calibri" pitchFamily="34" charset="0"/>
                <a:ea typeface="Calibri" pitchFamily="34" charset="-122"/>
                <a:cs typeface="Calibri" pitchFamily="34" charset="-120"/>
              </a:rPr>
              <a:t>tono del cliente (exploratorio)</a:t>
            </a:r>
            <a:endParaRPr lang="en-US" sz="1150" dirty="0"/>
          </a:p>
        </p:txBody>
      </p:sp>
      <p:sp>
        <p:nvSpPr>
          <p:cNvPr id="41" name="Shape 39"/>
          <p:cNvSpPr/>
          <p:nvPr/>
        </p:nvSpPr>
        <p:spPr>
          <a:xfrm>
            <a:off x="685800" y="4544568"/>
            <a:ext cx="5532120" cy="1234440"/>
          </a:xfrm>
          <a:prstGeom prst="roundRect">
            <a:avLst>
              <a:gd name="adj" fmla="val 7407"/>
            </a:avLst>
          </a:prstGeom>
          <a:solidFill>
            <a:srgbClr val="FFFFFF"/>
          </a:solidFill>
          <a:ln w="12700">
            <a:solidFill>
              <a:srgbClr val="E9E4EF"/>
            </a:solidFill>
            <a:prstDash val="solid"/>
          </a:ln>
        </p:spPr>
      </p:sp>
      <p:sp>
        <p:nvSpPr>
          <p:cNvPr id="42" name="Text 40"/>
          <p:cNvSpPr txBox="1"/>
          <p:nvPr/>
        </p:nvSpPr>
        <p:spPr>
          <a:xfrm>
            <a:off x="978408" y="4700016"/>
            <a:ext cx="4937760" cy="256032"/>
          </a:xfrm>
          <a:prstGeom prst="rect">
            <a:avLst/>
          </a:prstGeom>
          <a:noFill/>
          <a:ln/>
        </p:spPr>
        <p:txBody>
          <a:bodyPr wrap="square" lIns="0" tIns="0" rIns="0" bIns="0" rtlCol="0" anchor="ctr"/>
          <a:lstStyle/>
          <a:p>
            <a:pPr indent="0" marL="0">
              <a:buNone/>
            </a:pPr>
            <a:r>
              <a:rPr lang="en-US" sz="1200" b="1" dirty="0">
                <a:solidFill>
                  <a:srgbClr val="4E2AAE"/>
                </a:solidFill>
                <a:latin typeface="Calibri" pitchFamily="34" charset="0"/>
                <a:ea typeface="Calibri" pitchFamily="34" charset="-122"/>
                <a:cs typeface="Calibri" pitchFamily="34" charset="-120"/>
              </a:rPr>
              <a:t>Validación manual</a:t>
            </a:r>
            <a:endParaRPr lang="en-US" sz="1200" dirty="0"/>
          </a:p>
        </p:txBody>
      </p:sp>
      <p:sp>
        <p:nvSpPr>
          <p:cNvPr id="43" name="Text 41"/>
          <p:cNvSpPr txBox="1"/>
          <p:nvPr/>
        </p:nvSpPr>
        <p:spPr>
          <a:xfrm>
            <a:off x="978408" y="4974336"/>
            <a:ext cx="4983480" cy="731520"/>
          </a:xfrm>
          <a:prstGeom prst="rect">
            <a:avLst/>
          </a:prstGeom>
          <a:noFill/>
          <a:ln/>
        </p:spPr>
        <p:txBody>
          <a:bodyPr wrap="square" lIns="0" tIns="0" rIns="0" bIns="0" rtlCol="0" anchor="ctr"/>
          <a:lstStyle/>
          <a:p>
            <a:pPr indent="0" marL="0">
              <a:lnSpc>
                <a:spcPts val="1600"/>
              </a:lnSpc>
              <a:buNone/>
            </a:pPr>
            <a:r>
              <a:rPr lang="en-US" sz="1150" dirty="0">
                <a:solidFill>
                  <a:srgbClr val="757275"/>
                </a:solidFill>
                <a:latin typeface="Calibri" pitchFamily="34" charset="0"/>
                <a:ea typeface="Calibri" pitchFamily="34" charset="-122"/>
                <a:cs typeface="Calibri" pitchFamily="34" charset="-120"/>
              </a:rPr>
              <a:t>25 de las 100 filas revisadas a mano contra la transcripción (las 10 de confianza baja + 15 al azar): 23 correctas, 2 errores encontrados y corregidos en el dataset.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E2AAE"/>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F9BCE8"/>
                </a:solidFill>
                <a:latin typeface="Calibri" pitchFamily="34" charset="0"/>
                <a:ea typeface="Calibri" pitchFamily="34" charset="-122"/>
                <a:cs typeface="Calibri" pitchFamily="34" charset="-120"/>
              </a:rPr>
              <a:t>PUNTO DE INFLEXIÓN</a:t>
            </a:r>
            <a:endParaRPr lang="en-US" sz="1100" dirty="0"/>
          </a:p>
        </p:txBody>
      </p:sp>
      <p:sp>
        <p:nvSpPr>
          <p:cNvPr id="3" name="Text 1"/>
          <p:cNvSpPr txBox="1"/>
          <p:nvPr/>
        </p:nvSpPr>
        <p:spPr>
          <a:xfrm>
            <a:off x="685800" y="676656"/>
            <a:ext cx="10789920" cy="74980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Los dos grupos no están haciendo el mismo trabajo</a:t>
            </a:r>
            <a:endParaRPr lang="en-US" sz="3200" dirty="0"/>
          </a:p>
        </p:txBody>
      </p:sp>
      <p:sp>
        <p:nvSpPr>
          <p:cNvPr id="4" name="Text 2"/>
          <p:cNvSpPr txBox="1"/>
          <p:nvPr/>
        </p:nvSpPr>
        <p:spPr>
          <a:xfrm>
            <a:off x="685800" y="1572768"/>
            <a:ext cx="10789920" cy="566928"/>
          </a:xfrm>
          <a:prstGeom prst="rect">
            <a:avLst/>
          </a:prstGeom>
          <a:noFill/>
          <a:ln/>
        </p:spPr>
        <p:txBody>
          <a:bodyPr wrap="square" lIns="0" tIns="0" rIns="0" bIns="0" rtlCol="0" anchor="ctr"/>
          <a:lstStyle/>
          <a:p>
            <a:pPr indent="0" marL="0">
              <a:lnSpc>
                <a:spcPts val="2000"/>
              </a:lnSpc>
              <a:buNone/>
            </a:pPr>
            <a:r>
              <a:rPr lang="en-US" sz="1400" dirty="0">
                <a:solidFill>
                  <a:srgbClr val="F9BCE8"/>
                </a:solidFill>
                <a:latin typeface="Calibri" pitchFamily="34" charset="0"/>
                <a:ea typeface="Calibri" pitchFamily="34" charset="-122"/>
                <a:cs typeface="Calibri" pitchFamily="34" charset="-120"/>
              </a:rPr>
              <a:t>Al extraer el tipo de gestión de cada llamada apareció el problema: la IA hace casi solo negociación nueva; más de la mitad del tiempo del humano se va en seguimiento de acuerdos que ya existen.</a:t>
            </a:r>
            <a:endParaRPr lang="en-US" sz="1400" dirty="0"/>
          </a:p>
        </p:txBody>
      </p:sp>
      <p:sp>
        <p:nvSpPr>
          <p:cNvPr id="5" name="Text 3"/>
          <p:cNvSpPr txBox="1"/>
          <p:nvPr/>
        </p:nvSpPr>
        <p:spPr>
          <a:xfrm>
            <a:off x="685800" y="2606040"/>
            <a:ext cx="914400"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Humano</a:t>
            </a:r>
            <a:endParaRPr lang="en-US" sz="1400" dirty="0"/>
          </a:p>
        </p:txBody>
      </p:sp>
      <p:sp>
        <p:nvSpPr>
          <p:cNvPr id="6" name="Shape 4"/>
          <p:cNvSpPr/>
          <p:nvPr/>
        </p:nvSpPr>
        <p:spPr>
          <a:xfrm>
            <a:off x="1645920" y="2624328"/>
            <a:ext cx="2584094" cy="566928"/>
          </a:xfrm>
          <a:prstGeom prst="rect">
            <a:avLst/>
          </a:prstGeom>
          <a:solidFill>
            <a:srgbClr val="7047EB"/>
          </a:solidFill>
          <a:ln/>
        </p:spPr>
      </p:sp>
      <p:sp>
        <p:nvSpPr>
          <p:cNvPr id="7" name="Text 5"/>
          <p:cNvSpPr txBox="1"/>
          <p:nvPr/>
        </p:nvSpPr>
        <p:spPr>
          <a:xfrm>
            <a:off x="1645920" y="2624328"/>
            <a:ext cx="2584094"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18</a:t>
            </a:r>
            <a:endParaRPr lang="en-US" sz="1200" dirty="0"/>
          </a:p>
        </p:txBody>
      </p:sp>
      <p:sp>
        <p:nvSpPr>
          <p:cNvPr id="8" name="Shape 6"/>
          <p:cNvSpPr/>
          <p:nvPr/>
        </p:nvSpPr>
        <p:spPr>
          <a:xfrm>
            <a:off x="4230014" y="2624328"/>
            <a:ext cx="3876142" cy="566928"/>
          </a:xfrm>
          <a:prstGeom prst="rect">
            <a:avLst/>
          </a:prstGeom>
          <a:solidFill>
            <a:srgbClr val="F26ECF"/>
          </a:solidFill>
          <a:ln/>
        </p:spPr>
      </p:sp>
      <p:sp>
        <p:nvSpPr>
          <p:cNvPr id="9" name="Text 7"/>
          <p:cNvSpPr txBox="1"/>
          <p:nvPr/>
        </p:nvSpPr>
        <p:spPr>
          <a:xfrm>
            <a:off x="4230014" y="2624328"/>
            <a:ext cx="387614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27</a:t>
            </a:r>
            <a:endParaRPr lang="en-US" sz="1200" dirty="0"/>
          </a:p>
        </p:txBody>
      </p:sp>
      <p:sp>
        <p:nvSpPr>
          <p:cNvPr id="10" name="Shape 8"/>
          <p:cNvSpPr/>
          <p:nvPr/>
        </p:nvSpPr>
        <p:spPr>
          <a:xfrm>
            <a:off x="8106156" y="2624328"/>
            <a:ext cx="717804" cy="566928"/>
          </a:xfrm>
          <a:prstGeom prst="rect">
            <a:avLst/>
          </a:prstGeom>
          <a:solidFill>
            <a:srgbClr val="9C93AE"/>
          </a:solidFill>
          <a:ln/>
        </p:spPr>
      </p:sp>
      <p:sp>
        <p:nvSpPr>
          <p:cNvPr id="11" name="Text 9"/>
          <p:cNvSpPr txBox="1"/>
          <p:nvPr/>
        </p:nvSpPr>
        <p:spPr>
          <a:xfrm>
            <a:off x="8106156" y="2624328"/>
            <a:ext cx="717804"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2" name="Text 10"/>
          <p:cNvSpPr txBox="1"/>
          <p:nvPr/>
        </p:nvSpPr>
        <p:spPr>
          <a:xfrm>
            <a:off x="1645920" y="3264408"/>
            <a:ext cx="4572000" cy="256032"/>
          </a:xfrm>
          <a:prstGeom prst="rect">
            <a:avLst/>
          </a:prstGeom>
          <a:noFill/>
          <a:ln/>
        </p:spPr>
        <p:txBody>
          <a:bodyPr wrap="square" lIns="0" tIns="0" rIns="0" bIns="0" rtlCol="0" anchor="ctr"/>
          <a:lstStyle/>
          <a:p>
            <a:pPr indent="0" marL="0">
              <a:buNone/>
            </a:pPr>
            <a:r>
              <a:rPr lang="en-US" sz="1050" dirty="0">
                <a:solidFill>
                  <a:srgbClr val="F9BCE8"/>
                </a:solidFill>
                <a:latin typeface="Calibri" pitchFamily="34" charset="0"/>
                <a:ea typeface="Calibri" pitchFamily="34" charset="-122"/>
                <a:cs typeface="Calibri" pitchFamily="34" charset="-120"/>
              </a:rPr>
              <a:t>36 % negociación nueva</a:t>
            </a:r>
            <a:endParaRPr lang="en-US" sz="1050" dirty="0"/>
          </a:p>
        </p:txBody>
      </p:sp>
      <p:sp>
        <p:nvSpPr>
          <p:cNvPr id="13" name="Text 11"/>
          <p:cNvSpPr txBox="1"/>
          <p:nvPr/>
        </p:nvSpPr>
        <p:spPr>
          <a:xfrm>
            <a:off x="685800" y="3977640"/>
            <a:ext cx="914400"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IA</a:t>
            </a:r>
            <a:endParaRPr lang="en-US" sz="1400" dirty="0"/>
          </a:p>
        </p:txBody>
      </p:sp>
      <p:sp>
        <p:nvSpPr>
          <p:cNvPr id="14" name="Shape 12"/>
          <p:cNvSpPr/>
          <p:nvPr/>
        </p:nvSpPr>
        <p:spPr>
          <a:xfrm>
            <a:off x="1645920" y="3995928"/>
            <a:ext cx="5311750" cy="566928"/>
          </a:xfrm>
          <a:prstGeom prst="rect">
            <a:avLst/>
          </a:prstGeom>
          <a:solidFill>
            <a:srgbClr val="7047EB"/>
          </a:solidFill>
          <a:ln/>
        </p:spPr>
      </p:sp>
      <p:sp>
        <p:nvSpPr>
          <p:cNvPr id="15" name="Text 13"/>
          <p:cNvSpPr txBox="1"/>
          <p:nvPr/>
        </p:nvSpPr>
        <p:spPr>
          <a:xfrm>
            <a:off x="1645920" y="3995928"/>
            <a:ext cx="531175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37</a:t>
            </a:r>
            <a:endParaRPr lang="en-US" sz="1200" dirty="0"/>
          </a:p>
        </p:txBody>
      </p:sp>
      <p:sp>
        <p:nvSpPr>
          <p:cNvPr id="16" name="Shape 14"/>
          <p:cNvSpPr/>
          <p:nvPr/>
        </p:nvSpPr>
        <p:spPr>
          <a:xfrm>
            <a:off x="6957670" y="3995928"/>
            <a:ext cx="1866290" cy="566928"/>
          </a:xfrm>
          <a:prstGeom prst="rect">
            <a:avLst/>
          </a:prstGeom>
          <a:solidFill>
            <a:srgbClr val="9C93AE"/>
          </a:solidFill>
          <a:ln/>
        </p:spPr>
      </p:sp>
      <p:sp>
        <p:nvSpPr>
          <p:cNvPr id="17" name="Text 15"/>
          <p:cNvSpPr txBox="1"/>
          <p:nvPr/>
        </p:nvSpPr>
        <p:spPr>
          <a:xfrm>
            <a:off x="6957670" y="3995928"/>
            <a:ext cx="186629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13</a:t>
            </a:r>
            <a:endParaRPr lang="en-US" sz="1200" dirty="0"/>
          </a:p>
        </p:txBody>
      </p:sp>
      <p:sp>
        <p:nvSpPr>
          <p:cNvPr id="18" name="Text 16"/>
          <p:cNvSpPr txBox="1"/>
          <p:nvPr/>
        </p:nvSpPr>
        <p:spPr>
          <a:xfrm>
            <a:off x="1645920" y="4636008"/>
            <a:ext cx="4572000" cy="256032"/>
          </a:xfrm>
          <a:prstGeom prst="rect">
            <a:avLst/>
          </a:prstGeom>
          <a:noFill/>
          <a:ln/>
        </p:spPr>
        <p:txBody>
          <a:bodyPr wrap="square" lIns="0" tIns="0" rIns="0" bIns="0" rtlCol="0" anchor="ctr"/>
          <a:lstStyle/>
          <a:p>
            <a:pPr indent="0" marL="0">
              <a:buNone/>
            </a:pPr>
            <a:r>
              <a:rPr lang="en-US" sz="1050" dirty="0">
                <a:solidFill>
                  <a:srgbClr val="F9BCE8"/>
                </a:solidFill>
                <a:latin typeface="Calibri" pitchFamily="34" charset="0"/>
                <a:ea typeface="Calibri" pitchFamily="34" charset="-122"/>
                <a:cs typeface="Calibri" pitchFamily="34" charset="-120"/>
              </a:rPr>
              <a:t>74 % negociación nueva</a:t>
            </a:r>
            <a:endParaRPr lang="en-US" sz="1050" dirty="0"/>
          </a:p>
        </p:txBody>
      </p:sp>
      <p:sp>
        <p:nvSpPr>
          <p:cNvPr id="19" name="Shape 17"/>
          <p:cNvSpPr/>
          <p:nvPr/>
        </p:nvSpPr>
        <p:spPr>
          <a:xfrm>
            <a:off x="1645920" y="5458968"/>
            <a:ext cx="164592" cy="164592"/>
          </a:xfrm>
          <a:prstGeom prst="rect">
            <a:avLst/>
          </a:prstGeom>
          <a:solidFill>
            <a:srgbClr val="7047EB"/>
          </a:solidFill>
          <a:ln/>
        </p:spPr>
      </p:sp>
      <p:sp>
        <p:nvSpPr>
          <p:cNvPr id="20" name="Text 18"/>
          <p:cNvSpPr txBox="1"/>
          <p:nvPr/>
        </p:nvSpPr>
        <p:spPr>
          <a:xfrm>
            <a:off x="1901952" y="5394960"/>
            <a:ext cx="237744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Negociación nueva</a:t>
            </a:r>
            <a:endParaRPr lang="en-US" sz="1050" dirty="0"/>
          </a:p>
        </p:txBody>
      </p:sp>
      <p:sp>
        <p:nvSpPr>
          <p:cNvPr id="21" name="Shape 19"/>
          <p:cNvSpPr/>
          <p:nvPr/>
        </p:nvSpPr>
        <p:spPr>
          <a:xfrm>
            <a:off x="4297680" y="5458968"/>
            <a:ext cx="164592" cy="164592"/>
          </a:xfrm>
          <a:prstGeom prst="rect">
            <a:avLst/>
          </a:prstGeom>
          <a:solidFill>
            <a:srgbClr val="F26ECF"/>
          </a:solidFill>
          <a:ln/>
        </p:spPr>
      </p:sp>
      <p:sp>
        <p:nvSpPr>
          <p:cNvPr id="22" name="Text 20"/>
          <p:cNvSpPr txBox="1"/>
          <p:nvPr/>
        </p:nvSpPr>
        <p:spPr>
          <a:xfrm>
            <a:off x="4553712" y="5394960"/>
            <a:ext cx="237744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Seguimiento / renegociación</a:t>
            </a:r>
            <a:endParaRPr lang="en-US" sz="1050" dirty="0"/>
          </a:p>
        </p:txBody>
      </p:sp>
      <p:sp>
        <p:nvSpPr>
          <p:cNvPr id="23" name="Shape 21"/>
          <p:cNvSpPr/>
          <p:nvPr/>
        </p:nvSpPr>
        <p:spPr>
          <a:xfrm>
            <a:off x="6949440" y="5458968"/>
            <a:ext cx="164592" cy="164592"/>
          </a:xfrm>
          <a:prstGeom prst="rect">
            <a:avLst/>
          </a:prstGeom>
          <a:solidFill>
            <a:srgbClr val="9C93AE"/>
          </a:solidFill>
          <a:ln/>
        </p:spPr>
      </p:sp>
      <p:sp>
        <p:nvSpPr>
          <p:cNvPr id="24" name="Text 22"/>
          <p:cNvSpPr txBox="1"/>
          <p:nvPr/>
        </p:nvSpPr>
        <p:spPr>
          <a:xfrm>
            <a:off x="7205472" y="5394960"/>
            <a:ext cx="237744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Otro</a:t>
            </a:r>
            <a:endParaRPr lang="en-US" sz="1050" dirty="0"/>
          </a:p>
        </p:txBody>
      </p:sp>
      <p:sp>
        <p:nvSpPr>
          <p:cNvPr id="25" name="Shape 23"/>
          <p:cNvSpPr/>
          <p:nvPr/>
        </p:nvSpPr>
        <p:spPr>
          <a:xfrm>
            <a:off x="9006840" y="2532888"/>
            <a:ext cx="2468880" cy="2971800"/>
          </a:xfrm>
          <a:prstGeom prst="roundRect">
            <a:avLst>
              <a:gd name="adj" fmla="val 4444"/>
            </a:avLst>
          </a:prstGeom>
          <a:solidFill>
            <a:srgbClr val="F26ECF"/>
          </a:solidFill>
          <a:ln/>
        </p:spPr>
      </p:sp>
      <p:sp>
        <p:nvSpPr>
          <p:cNvPr id="26" name="Text 24"/>
          <p:cNvSpPr txBox="1"/>
          <p:nvPr/>
        </p:nvSpPr>
        <p:spPr>
          <a:xfrm>
            <a:off x="9281160" y="2779776"/>
            <a:ext cx="2011680" cy="77724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0</a:t>
            </a:r>
            <a:endParaRPr lang="en-US" sz="4400" dirty="0"/>
          </a:p>
        </p:txBody>
      </p:sp>
      <p:sp>
        <p:nvSpPr>
          <p:cNvPr id="27" name="Text 25"/>
          <p:cNvSpPr txBox="1"/>
          <p:nvPr/>
        </p:nvSpPr>
        <p:spPr>
          <a:xfrm>
            <a:off x="9281160" y="3584448"/>
            <a:ext cx="2011680" cy="658368"/>
          </a:xfrm>
          <a:prstGeom prst="rect">
            <a:avLst/>
          </a:prstGeom>
          <a:noFill/>
          <a:ln/>
        </p:spPr>
        <p:txBody>
          <a:bodyPr wrap="square" lIns="0" tIns="0" rIns="0" bIns="0" rtlCol="0" anchor="ctr"/>
          <a:lstStyle/>
          <a:p>
            <a:pPr indent="0" marL="0">
              <a:lnSpc>
                <a:spcPts val="1500"/>
              </a:lnSpc>
              <a:buNone/>
            </a:pPr>
            <a:r>
              <a:rPr lang="en-US" sz="1150" b="1" dirty="0">
                <a:solidFill>
                  <a:srgbClr val="FFFFFF"/>
                </a:solidFill>
                <a:latin typeface="Calibri" pitchFamily="34" charset="0"/>
                <a:ea typeface="Calibri" pitchFamily="34" charset="-122"/>
                <a:cs typeface="Calibri" pitchFamily="34" charset="-120"/>
              </a:rPr>
              <a:t>llamadas de seguimiento en el grupo de IA</a:t>
            </a:r>
            <a:endParaRPr lang="en-US" sz="1150" dirty="0"/>
          </a:p>
        </p:txBody>
      </p:sp>
      <p:sp>
        <p:nvSpPr>
          <p:cNvPr id="28" name="Text 26"/>
          <p:cNvSpPr txBox="1"/>
          <p:nvPr/>
        </p:nvSpPr>
        <p:spPr>
          <a:xfrm>
            <a:off x="9281160" y="4315968"/>
            <a:ext cx="2011680" cy="1005840"/>
          </a:xfrm>
          <a:prstGeom prst="rect">
            <a:avLst/>
          </a:prstGeom>
          <a:noFill/>
          <a:ln/>
        </p:spPr>
        <p:txBody>
          <a:bodyPr wrap="square" lIns="0" tIns="0" rIns="0" bIns="0" rtlCol="0" anchor="ctr"/>
          <a:lstStyle/>
          <a:p>
            <a:pPr indent="0" marL="0">
              <a:lnSpc>
                <a:spcPts val="1300"/>
              </a:lnSpc>
              <a:buNone/>
            </a:pPr>
            <a:r>
              <a:rPr lang="en-US" sz="1000" dirty="0">
                <a:solidFill>
                  <a:srgbClr val="F7DAF0"/>
                </a:solidFill>
                <a:latin typeface="Calibri" pitchFamily="34" charset="0"/>
                <a:ea typeface="Calibri" pitchFamily="34" charset="-122"/>
                <a:cs typeface="Calibri" pitchFamily="34" charset="-120"/>
              </a:rPr>
              <a:t>La comparación «todo contra todo» estaba midiendo dos trabajos distintos.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F26ECF"/>
                </a:solidFill>
                <a:latin typeface="Calibri" pitchFamily="34" charset="0"/>
                <a:ea typeface="Calibri" pitchFamily="34" charset="-122"/>
                <a:cs typeface="Calibri" pitchFamily="34" charset="-120"/>
              </a:rPr>
              <a:t>HALLAZGO 01 · CAPA DE NEGOCIO</a:t>
            </a:r>
            <a:endParaRPr lang="en-US" sz="1100" dirty="0"/>
          </a:p>
        </p:txBody>
      </p:sp>
      <p:sp>
        <p:nvSpPr>
          <p:cNvPr id="3" name="Text 1"/>
          <p:cNvSpPr txBox="1"/>
          <p:nvPr/>
        </p:nvSpPr>
        <p:spPr>
          <a:xfrm>
            <a:off x="685800" y="676656"/>
            <a:ext cx="10789920" cy="749808"/>
          </a:xfrm>
          <a:prstGeom prst="rect">
            <a:avLst/>
          </a:prstGeom>
          <a:noFill/>
          <a:ln/>
        </p:spPr>
        <p:txBody>
          <a:bodyPr wrap="square" lIns="0" tIns="0" rIns="0" bIns="0" rtlCol="0" anchor="ctr"/>
          <a:lstStyle/>
          <a:p>
            <a:pPr indent="0" marL="0">
              <a:buNone/>
            </a:pPr>
            <a:r>
              <a:rPr lang="en-US" sz="3200" b="1" dirty="0">
                <a:solidFill>
                  <a:srgbClr val="202020"/>
                </a:solidFill>
                <a:latin typeface="Cambria" pitchFamily="34" charset="0"/>
                <a:ea typeface="Cambria" pitchFamily="34" charset="-122"/>
                <a:cs typeface="Cambria" pitchFamily="34" charset="-120"/>
              </a:rPr>
              <a:t>La mitad de la brecha era composición de muestra</a:t>
            </a:r>
            <a:endParaRPr lang="en-US" sz="3200" dirty="0"/>
          </a:p>
        </p:txBody>
      </p:sp>
      <p:sp>
        <p:nvSpPr>
          <p:cNvPr id="4" name="Text 2"/>
          <p:cNvSpPr txBox="1"/>
          <p:nvPr/>
        </p:nvSpPr>
        <p:spPr>
          <a:xfrm>
            <a:off x="685800" y="1892808"/>
            <a:ext cx="5486400" cy="237744"/>
          </a:xfrm>
          <a:prstGeom prst="rect">
            <a:avLst/>
          </a:prstGeom>
          <a:noFill/>
          <a:ln/>
        </p:spPr>
        <p:txBody>
          <a:bodyPr wrap="square" lIns="0" tIns="0" rIns="0" bIns="0" rtlCol="0" anchor="ctr"/>
          <a:lstStyle/>
          <a:p>
            <a:pPr indent="0" marL="0">
              <a:buNone/>
            </a:pPr>
            <a:r>
              <a:rPr lang="en-US" sz="1150" b="1" dirty="0">
                <a:solidFill>
                  <a:srgbClr val="202020"/>
                </a:solidFill>
                <a:latin typeface="Calibri" pitchFamily="34" charset="0"/>
                <a:ea typeface="Calibri" pitchFamily="34" charset="-122"/>
                <a:cs typeface="Calibri" pitchFamily="34" charset="-120"/>
              </a:rPr>
              <a:t>Tasa de cierre — todas las llamadas</a:t>
            </a:r>
            <a:endParaRPr lang="en-US" sz="1150" dirty="0"/>
          </a:p>
        </p:txBody>
      </p:sp>
      <p:sp>
        <p:nvSpPr>
          <p:cNvPr id="5" name="Text 3"/>
          <p:cNvSpPr txBox="1"/>
          <p:nvPr/>
        </p:nvSpPr>
        <p:spPr>
          <a:xfrm>
            <a:off x="685800" y="2176272"/>
            <a:ext cx="777240" cy="237744"/>
          </a:xfrm>
          <a:prstGeom prst="rect">
            <a:avLst/>
          </a:prstGeom>
          <a:noFill/>
          <a:ln/>
        </p:spPr>
        <p:txBody>
          <a:bodyPr wrap="square" lIns="0" tIns="0" rIns="0" bIns="0" rtlCol="0" anchor="ctr"/>
          <a:lstStyle/>
          <a:p>
            <a:pPr indent="0" marL="0">
              <a:buNone/>
            </a:pPr>
            <a:r>
              <a:rPr lang="en-US" sz="1050" dirty="0">
                <a:solidFill>
                  <a:srgbClr val="757275"/>
                </a:solidFill>
                <a:latin typeface="Calibri" pitchFamily="34" charset="0"/>
                <a:ea typeface="Calibri" pitchFamily="34" charset="-122"/>
                <a:cs typeface="Calibri" pitchFamily="34" charset="-120"/>
              </a:rPr>
              <a:t>Humano</a:t>
            </a:r>
            <a:endParaRPr lang="en-US" sz="1050" dirty="0"/>
          </a:p>
        </p:txBody>
      </p:sp>
      <p:sp>
        <p:nvSpPr>
          <p:cNvPr id="6" name="Shape 4"/>
          <p:cNvSpPr/>
          <p:nvPr/>
        </p:nvSpPr>
        <p:spPr>
          <a:xfrm>
            <a:off x="1463040" y="2203704"/>
            <a:ext cx="3383280" cy="237744"/>
          </a:xfrm>
          <a:prstGeom prst="rect">
            <a:avLst/>
          </a:prstGeom>
          <a:solidFill>
            <a:srgbClr val="F2F0F6"/>
          </a:solidFill>
          <a:ln/>
        </p:spPr>
      </p:sp>
      <p:sp>
        <p:nvSpPr>
          <p:cNvPr id="7" name="Shape 5"/>
          <p:cNvSpPr/>
          <p:nvPr/>
        </p:nvSpPr>
        <p:spPr>
          <a:xfrm>
            <a:off x="1463040" y="2203704"/>
            <a:ext cx="3044952" cy="237744"/>
          </a:xfrm>
          <a:prstGeom prst="rect">
            <a:avLst/>
          </a:prstGeom>
          <a:solidFill>
            <a:srgbClr val="4E2AAE"/>
          </a:solidFill>
          <a:ln/>
        </p:spPr>
      </p:sp>
      <p:sp>
        <p:nvSpPr>
          <p:cNvPr id="8" name="Text 6"/>
          <p:cNvSpPr txBox="1"/>
          <p:nvPr/>
        </p:nvSpPr>
        <p:spPr>
          <a:xfrm>
            <a:off x="4956048" y="2176272"/>
            <a:ext cx="1143000" cy="237744"/>
          </a:xfrm>
          <a:prstGeom prst="rect">
            <a:avLst/>
          </a:prstGeom>
          <a:noFill/>
          <a:ln/>
        </p:spPr>
        <p:txBody>
          <a:bodyPr wrap="square" lIns="0" tIns="0" rIns="0" bIns="0" rtlCol="0" anchor="ctr"/>
          <a:lstStyle/>
          <a:p>
            <a:pPr indent="0" marL="0">
              <a:buNone/>
            </a:pPr>
            <a:r>
              <a:rPr lang="en-US" sz="1200" b="1" dirty="0">
                <a:solidFill>
                  <a:srgbClr val="4E2AAE"/>
                </a:solidFill>
                <a:latin typeface="Calibri" pitchFamily="34" charset="0"/>
                <a:ea typeface="Calibri" pitchFamily="34" charset="-122"/>
                <a:cs typeface="Calibri" pitchFamily="34" charset="-120"/>
              </a:rPr>
              <a:t>54.0 %</a:t>
            </a:r>
            <a:endParaRPr lang="en-US" sz="1200" dirty="0"/>
          </a:p>
        </p:txBody>
      </p:sp>
      <p:sp>
        <p:nvSpPr>
          <p:cNvPr id="9" name="Text 7"/>
          <p:cNvSpPr txBox="1"/>
          <p:nvPr/>
        </p:nvSpPr>
        <p:spPr>
          <a:xfrm>
            <a:off x="685800" y="2560320"/>
            <a:ext cx="777240" cy="237744"/>
          </a:xfrm>
          <a:prstGeom prst="rect">
            <a:avLst/>
          </a:prstGeom>
          <a:noFill/>
          <a:ln/>
        </p:spPr>
        <p:txBody>
          <a:bodyPr wrap="square" lIns="0" tIns="0" rIns="0" bIns="0" rtlCol="0" anchor="ctr"/>
          <a:lstStyle/>
          <a:p>
            <a:pPr indent="0" marL="0">
              <a:buNone/>
            </a:pPr>
            <a:r>
              <a:rPr lang="en-US" sz="1050" dirty="0">
                <a:solidFill>
                  <a:srgbClr val="757275"/>
                </a:solidFill>
                <a:latin typeface="Calibri" pitchFamily="34" charset="0"/>
                <a:ea typeface="Calibri" pitchFamily="34" charset="-122"/>
                <a:cs typeface="Calibri" pitchFamily="34" charset="-120"/>
              </a:rPr>
              <a:t>IA</a:t>
            </a:r>
            <a:endParaRPr lang="en-US" sz="1050" dirty="0"/>
          </a:p>
        </p:txBody>
      </p:sp>
      <p:sp>
        <p:nvSpPr>
          <p:cNvPr id="10" name="Shape 8"/>
          <p:cNvSpPr/>
          <p:nvPr/>
        </p:nvSpPr>
        <p:spPr>
          <a:xfrm>
            <a:off x="1463040" y="2587752"/>
            <a:ext cx="3383280" cy="237744"/>
          </a:xfrm>
          <a:prstGeom prst="rect">
            <a:avLst/>
          </a:prstGeom>
          <a:solidFill>
            <a:srgbClr val="F2F0F6"/>
          </a:solidFill>
          <a:ln/>
        </p:spPr>
      </p:sp>
      <p:sp>
        <p:nvSpPr>
          <p:cNvPr id="11" name="Shape 9"/>
          <p:cNvSpPr/>
          <p:nvPr/>
        </p:nvSpPr>
        <p:spPr>
          <a:xfrm>
            <a:off x="1463040" y="2587752"/>
            <a:ext cx="1240536" cy="237744"/>
          </a:xfrm>
          <a:prstGeom prst="rect">
            <a:avLst/>
          </a:prstGeom>
          <a:solidFill>
            <a:srgbClr val="F26ECF"/>
          </a:solidFill>
          <a:ln/>
        </p:spPr>
      </p:sp>
      <p:sp>
        <p:nvSpPr>
          <p:cNvPr id="12" name="Text 10"/>
          <p:cNvSpPr txBox="1"/>
          <p:nvPr/>
        </p:nvSpPr>
        <p:spPr>
          <a:xfrm>
            <a:off x="4956048" y="2560320"/>
            <a:ext cx="1143000" cy="237744"/>
          </a:xfrm>
          <a:prstGeom prst="rect">
            <a:avLst/>
          </a:prstGeom>
          <a:noFill/>
          <a:ln/>
        </p:spPr>
        <p:txBody>
          <a:bodyPr wrap="square" lIns="0" tIns="0" rIns="0" bIns="0" rtlCol="0" anchor="ctr"/>
          <a:lstStyle/>
          <a:p>
            <a:pPr indent="0" marL="0">
              <a:buNone/>
            </a:pPr>
            <a:r>
              <a:rPr lang="en-US" sz="1200" b="1" dirty="0">
                <a:solidFill>
                  <a:srgbClr val="F26ECF"/>
                </a:solidFill>
                <a:latin typeface="Calibri" pitchFamily="34" charset="0"/>
                <a:ea typeface="Calibri" pitchFamily="34" charset="-122"/>
                <a:cs typeface="Calibri" pitchFamily="34" charset="-120"/>
              </a:rPr>
              <a:t>22.0 %</a:t>
            </a:r>
            <a:endParaRPr lang="en-US" sz="1200" dirty="0"/>
          </a:p>
        </p:txBody>
      </p:sp>
      <p:sp>
        <p:nvSpPr>
          <p:cNvPr id="13" name="Text 11"/>
          <p:cNvSpPr txBox="1"/>
          <p:nvPr/>
        </p:nvSpPr>
        <p:spPr>
          <a:xfrm>
            <a:off x="685800" y="2990088"/>
            <a:ext cx="5486400" cy="256032"/>
          </a:xfrm>
          <a:prstGeom prst="rect">
            <a:avLst/>
          </a:prstGeom>
          <a:noFill/>
          <a:ln/>
        </p:spPr>
        <p:txBody>
          <a:bodyPr wrap="square" lIns="0" tIns="0" rIns="0" bIns="0" rtlCol="0" anchor="ctr"/>
          <a:lstStyle/>
          <a:p>
            <a:pPr indent="0" marL="0">
              <a:buNone/>
            </a:pPr>
            <a:r>
              <a:rPr lang="en-US" sz="1050" i="1" dirty="0">
                <a:solidFill>
                  <a:srgbClr val="757275"/>
                </a:solidFill>
                <a:latin typeface="Calibri" pitchFamily="34" charset="0"/>
                <a:ea typeface="Calibri" pitchFamily="34" charset="-122"/>
                <a:cs typeface="Calibri" pitchFamily="34" charset="-120"/>
              </a:rPr>
              <a:t>Fisher exact  p = 0.0018   ·   diferencia significativa</a:t>
            </a:r>
            <a:endParaRPr lang="en-US" sz="1050" dirty="0"/>
          </a:p>
        </p:txBody>
      </p:sp>
      <p:sp>
        <p:nvSpPr>
          <p:cNvPr id="14" name="Text 12"/>
          <p:cNvSpPr txBox="1"/>
          <p:nvPr/>
        </p:nvSpPr>
        <p:spPr>
          <a:xfrm>
            <a:off x="685800" y="3813048"/>
            <a:ext cx="5486400" cy="237744"/>
          </a:xfrm>
          <a:prstGeom prst="rect">
            <a:avLst/>
          </a:prstGeom>
          <a:noFill/>
          <a:ln/>
        </p:spPr>
        <p:txBody>
          <a:bodyPr wrap="square" lIns="0" tIns="0" rIns="0" bIns="0" rtlCol="0" anchor="ctr"/>
          <a:lstStyle/>
          <a:p>
            <a:pPr indent="0" marL="0">
              <a:buNone/>
            </a:pPr>
            <a:r>
              <a:rPr lang="en-US" sz="1150" b="1" dirty="0">
                <a:solidFill>
                  <a:srgbClr val="202020"/>
                </a:solidFill>
                <a:latin typeface="Calibri" pitchFamily="34" charset="0"/>
                <a:ea typeface="Calibri" pitchFamily="34" charset="-122"/>
                <a:cs typeface="Calibri" pitchFamily="34" charset="-120"/>
              </a:rPr>
              <a:t>Tasa de cierre — solo negociación nueva (comparable)</a:t>
            </a:r>
            <a:endParaRPr lang="en-US" sz="1150" dirty="0"/>
          </a:p>
        </p:txBody>
      </p:sp>
      <p:sp>
        <p:nvSpPr>
          <p:cNvPr id="15" name="Text 13"/>
          <p:cNvSpPr txBox="1"/>
          <p:nvPr/>
        </p:nvSpPr>
        <p:spPr>
          <a:xfrm>
            <a:off x="685800" y="4096512"/>
            <a:ext cx="777240" cy="237744"/>
          </a:xfrm>
          <a:prstGeom prst="rect">
            <a:avLst/>
          </a:prstGeom>
          <a:noFill/>
          <a:ln/>
        </p:spPr>
        <p:txBody>
          <a:bodyPr wrap="square" lIns="0" tIns="0" rIns="0" bIns="0" rtlCol="0" anchor="ctr"/>
          <a:lstStyle/>
          <a:p>
            <a:pPr indent="0" marL="0">
              <a:buNone/>
            </a:pPr>
            <a:r>
              <a:rPr lang="en-US" sz="1050" dirty="0">
                <a:solidFill>
                  <a:srgbClr val="757275"/>
                </a:solidFill>
                <a:latin typeface="Calibri" pitchFamily="34" charset="0"/>
                <a:ea typeface="Calibri" pitchFamily="34" charset="-122"/>
                <a:cs typeface="Calibri" pitchFamily="34" charset="-120"/>
              </a:rPr>
              <a:t>Humano</a:t>
            </a:r>
            <a:endParaRPr lang="en-US" sz="1050" dirty="0"/>
          </a:p>
        </p:txBody>
      </p:sp>
      <p:sp>
        <p:nvSpPr>
          <p:cNvPr id="16" name="Shape 14"/>
          <p:cNvSpPr/>
          <p:nvPr/>
        </p:nvSpPr>
        <p:spPr>
          <a:xfrm>
            <a:off x="1463040" y="4123944"/>
            <a:ext cx="3383280" cy="237744"/>
          </a:xfrm>
          <a:prstGeom prst="rect">
            <a:avLst/>
          </a:prstGeom>
          <a:solidFill>
            <a:srgbClr val="F2F0F6"/>
          </a:solidFill>
          <a:ln/>
        </p:spPr>
      </p:sp>
      <p:sp>
        <p:nvSpPr>
          <p:cNvPr id="17" name="Shape 15"/>
          <p:cNvSpPr/>
          <p:nvPr/>
        </p:nvSpPr>
        <p:spPr>
          <a:xfrm>
            <a:off x="1463040" y="4123944"/>
            <a:ext cx="2503627" cy="237744"/>
          </a:xfrm>
          <a:prstGeom prst="rect">
            <a:avLst/>
          </a:prstGeom>
          <a:solidFill>
            <a:srgbClr val="4E2AAE"/>
          </a:solidFill>
          <a:ln/>
        </p:spPr>
      </p:sp>
      <p:sp>
        <p:nvSpPr>
          <p:cNvPr id="18" name="Text 16"/>
          <p:cNvSpPr txBox="1"/>
          <p:nvPr/>
        </p:nvSpPr>
        <p:spPr>
          <a:xfrm>
            <a:off x="4956048" y="4096512"/>
            <a:ext cx="1143000" cy="237744"/>
          </a:xfrm>
          <a:prstGeom prst="rect">
            <a:avLst/>
          </a:prstGeom>
          <a:noFill/>
          <a:ln/>
        </p:spPr>
        <p:txBody>
          <a:bodyPr wrap="square" lIns="0" tIns="0" rIns="0" bIns="0" rtlCol="0" anchor="ctr"/>
          <a:lstStyle/>
          <a:p>
            <a:pPr indent="0" marL="0">
              <a:buNone/>
            </a:pPr>
            <a:r>
              <a:rPr lang="en-US" sz="1200" b="1" dirty="0">
                <a:solidFill>
                  <a:srgbClr val="4E2AAE"/>
                </a:solidFill>
                <a:latin typeface="Calibri" pitchFamily="34" charset="0"/>
                <a:ea typeface="Calibri" pitchFamily="34" charset="-122"/>
                <a:cs typeface="Calibri" pitchFamily="34" charset="-120"/>
              </a:rPr>
              <a:t>44.4 %</a:t>
            </a:r>
            <a:endParaRPr lang="en-US" sz="1200" dirty="0"/>
          </a:p>
        </p:txBody>
      </p:sp>
      <p:sp>
        <p:nvSpPr>
          <p:cNvPr id="19" name="Text 17"/>
          <p:cNvSpPr txBox="1"/>
          <p:nvPr/>
        </p:nvSpPr>
        <p:spPr>
          <a:xfrm>
            <a:off x="685800" y="4480560"/>
            <a:ext cx="777240" cy="237744"/>
          </a:xfrm>
          <a:prstGeom prst="rect">
            <a:avLst/>
          </a:prstGeom>
          <a:noFill/>
          <a:ln/>
        </p:spPr>
        <p:txBody>
          <a:bodyPr wrap="square" lIns="0" tIns="0" rIns="0" bIns="0" rtlCol="0" anchor="ctr"/>
          <a:lstStyle/>
          <a:p>
            <a:pPr indent="0" marL="0">
              <a:buNone/>
            </a:pPr>
            <a:r>
              <a:rPr lang="en-US" sz="1050" dirty="0">
                <a:solidFill>
                  <a:srgbClr val="757275"/>
                </a:solidFill>
                <a:latin typeface="Calibri" pitchFamily="34" charset="0"/>
                <a:ea typeface="Calibri" pitchFamily="34" charset="-122"/>
                <a:cs typeface="Calibri" pitchFamily="34" charset="-120"/>
              </a:rPr>
              <a:t>IA</a:t>
            </a:r>
            <a:endParaRPr lang="en-US" sz="1050" dirty="0"/>
          </a:p>
        </p:txBody>
      </p:sp>
      <p:sp>
        <p:nvSpPr>
          <p:cNvPr id="20" name="Shape 18"/>
          <p:cNvSpPr/>
          <p:nvPr/>
        </p:nvSpPr>
        <p:spPr>
          <a:xfrm>
            <a:off x="1463040" y="4507992"/>
            <a:ext cx="3383280" cy="237744"/>
          </a:xfrm>
          <a:prstGeom prst="rect">
            <a:avLst/>
          </a:prstGeom>
          <a:solidFill>
            <a:srgbClr val="F2F0F6"/>
          </a:solidFill>
          <a:ln/>
        </p:spPr>
      </p:sp>
      <p:sp>
        <p:nvSpPr>
          <p:cNvPr id="21" name="Shape 19"/>
          <p:cNvSpPr/>
          <p:nvPr/>
        </p:nvSpPr>
        <p:spPr>
          <a:xfrm>
            <a:off x="1463040" y="4507992"/>
            <a:ext cx="1674724" cy="237744"/>
          </a:xfrm>
          <a:prstGeom prst="rect">
            <a:avLst/>
          </a:prstGeom>
          <a:solidFill>
            <a:srgbClr val="F26ECF"/>
          </a:solidFill>
          <a:ln/>
        </p:spPr>
      </p:sp>
      <p:sp>
        <p:nvSpPr>
          <p:cNvPr id="22" name="Text 20"/>
          <p:cNvSpPr txBox="1"/>
          <p:nvPr/>
        </p:nvSpPr>
        <p:spPr>
          <a:xfrm>
            <a:off x="4956048" y="4480560"/>
            <a:ext cx="1143000" cy="237744"/>
          </a:xfrm>
          <a:prstGeom prst="rect">
            <a:avLst/>
          </a:prstGeom>
          <a:noFill/>
          <a:ln/>
        </p:spPr>
        <p:txBody>
          <a:bodyPr wrap="square" lIns="0" tIns="0" rIns="0" bIns="0" rtlCol="0" anchor="ctr"/>
          <a:lstStyle/>
          <a:p>
            <a:pPr indent="0" marL="0">
              <a:buNone/>
            </a:pPr>
            <a:r>
              <a:rPr lang="en-US" sz="1200" b="1" dirty="0">
                <a:solidFill>
                  <a:srgbClr val="F26ECF"/>
                </a:solidFill>
                <a:latin typeface="Calibri" pitchFamily="34" charset="0"/>
                <a:ea typeface="Calibri" pitchFamily="34" charset="-122"/>
                <a:cs typeface="Calibri" pitchFamily="34" charset="-120"/>
              </a:rPr>
              <a:t>29.7 %</a:t>
            </a:r>
            <a:endParaRPr lang="en-US" sz="1200" dirty="0"/>
          </a:p>
        </p:txBody>
      </p:sp>
      <p:sp>
        <p:nvSpPr>
          <p:cNvPr id="23" name="Text 21"/>
          <p:cNvSpPr txBox="1"/>
          <p:nvPr/>
        </p:nvSpPr>
        <p:spPr>
          <a:xfrm>
            <a:off x="685800" y="4910328"/>
            <a:ext cx="5760720" cy="256032"/>
          </a:xfrm>
          <a:prstGeom prst="rect">
            <a:avLst/>
          </a:prstGeom>
          <a:noFill/>
          <a:ln/>
        </p:spPr>
        <p:txBody>
          <a:bodyPr wrap="square" lIns="0" tIns="0" rIns="0" bIns="0" rtlCol="0" anchor="ctr"/>
          <a:lstStyle/>
          <a:p>
            <a:pPr indent="0" marL="0">
              <a:buNone/>
            </a:pPr>
            <a:r>
              <a:rPr lang="en-US" sz="1050" i="1" dirty="0">
                <a:solidFill>
                  <a:srgbClr val="757275"/>
                </a:solidFill>
                <a:latin typeface="Calibri" pitchFamily="34" charset="0"/>
                <a:ea typeface="Calibri" pitchFamily="34" charset="-122"/>
                <a:cs typeface="Calibri" pitchFamily="34" charset="-120"/>
              </a:rPr>
              <a:t>Fisher exact  p = 0.37   ·   deja de ser significativa   ·   n = 18 vs 37</a:t>
            </a:r>
            <a:endParaRPr lang="en-US" sz="1050" dirty="0"/>
          </a:p>
        </p:txBody>
      </p:sp>
      <p:sp>
        <p:nvSpPr>
          <p:cNvPr id="24" name="Shape 22"/>
          <p:cNvSpPr/>
          <p:nvPr/>
        </p:nvSpPr>
        <p:spPr>
          <a:xfrm>
            <a:off x="6766560" y="1847088"/>
            <a:ext cx="4709160" cy="2148840"/>
          </a:xfrm>
          <a:prstGeom prst="roundRect">
            <a:avLst>
              <a:gd name="adj" fmla="val 5106"/>
            </a:avLst>
          </a:prstGeom>
          <a:solidFill>
            <a:srgbClr val="4E2AAE"/>
          </a:solidFill>
          <a:ln/>
        </p:spPr>
      </p:sp>
      <p:sp>
        <p:nvSpPr>
          <p:cNvPr id="25" name="Text 23"/>
          <p:cNvSpPr txBox="1"/>
          <p:nvPr/>
        </p:nvSpPr>
        <p:spPr>
          <a:xfrm>
            <a:off x="7114032" y="2075688"/>
            <a:ext cx="4023360" cy="274320"/>
          </a:xfrm>
          <a:prstGeom prst="rect">
            <a:avLst/>
          </a:prstGeom>
          <a:noFill/>
          <a:ln/>
        </p:spPr>
        <p:txBody>
          <a:bodyPr wrap="square" lIns="0" tIns="0" rIns="0" bIns="0" rtlCol="0" anchor="ctr"/>
          <a:lstStyle/>
          <a:p>
            <a:pPr indent="0" marL="0">
              <a:buNone/>
            </a:pPr>
            <a:r>
              <a:rPr lang="en-US" sz="1200" b="1" dirty="0">
                <a:solidFill>
                  <a:srgbClr val="F9BCE8"/>
                </a:solidFill>
                <a:latin typeface="Calibri" pitchFamily="34" charset="0"/>
                <a:ea typeface="Calibri" pitchFamily="34" charset="-122"/>
                <a:cs typeface="Calibri" pitchFamily="34" charset="-120"/>
              </a:rPr>
              <a:t>Qué significa</a:t>
            </a:r>
            <a:endParaRPr lang="en-US" sz="1200" dirty="0"/>
          </a:p>
        </p:txBody>
      </p:sp>
      <p:sp>
        <p:nvSpPr>
          <p:cNvPr id="26" name="Text 24"/>
          <p:cNvSpPr txBox="1"/>
          <p:nvPr/>
        </p:nvSpPr>
        <p:spPr>
          <a:xfrm>
            <a:off x="7114032" y="2423160"/>
            <a:ext cx="4023360" cy="1463040"/>
          </a:xfrm>
          <a:prstGeom prst="rect">
            <a:avLst/>
          </a:prstGeom>
          <a:noFill/>
          <a:ln/>
        </p:spPr>
        <p:txBody>
          <a:bodyPr wrap="square" lIns="0" tIns="0" rIns="0" bIns="0" rtlCol="0" anchor="ctr"/>
          <a:lstStyle/>
          <a:p>
            <a:pPr indent="0" marL="0">
              <a:lnSpc>
                <a:spcPts val="2000"/>
              </a:lnSpc>
              <a:buNone/>
            </a:pPr>
            <a:r>
              <a:rPr lang="en-US" sz="1350" dirty="0">
                <a:solidFill>
                  <a:srgbClr val="FFFFFF"/>
                </a:solidFill>
                <a:latin typeface="Calibri" pitchFamily="34" charset="0"/>
                <a:ea typeface="Calibri" pitchFamily="34" charset="-122"/>
                <a:cs typeface="Calibri" pitchFamily="34" charset="-120"/>
              </a:rPr>
              <a:t>Comparando el mismo tipo de gestión, la ventaja del humano se reduce a la mitad y deja de ser estadísticamente sustentable. Reportar el 54 % contra 22 % sin ese ajuste sobreestima la distancia real entre los agentes.</a:t>
            </a:r>
            <a:endParaRPr lang="en-US" sz="1350" dirty="0"/>
          </a:p>
        </p:txBody>
      </p:sp>
      <p:sp>
        <p:nvSpPr>
          <p:cNvPr id="27" name="Shape 25"/>
          <p:cNvSpPr/>
          <p:nvPr/>
        </p:nvSpPr>
        <p:spPr>
          <a:xfrm>
            <a:off x="6766560" y="4178808"/>
            <a:ext cx="4709160" cy="1371600"/>
          </a:xfrm>
          <a:prstGeom prst="roundRect">
            <a:avLst>
              <a:gd name="adj" fmla="val 8000"/>
            </a:avLst>
          </a:prstGeom>
          <a:solidFill>
            <a:srgbClr val="FDEDF9"/>
          </a:solidFill>
          <a:ln/>
        </p:spPr>
      </p:sp>
      <p:sp>
        <p:nvSpPr>
          <p:cNvPr id="28" name="Text 26"/>
          <p:cNvSpPr txBox="1"/>
          <p:nvPr/>
        </p:nvSpPr>
        <p:spPr>
          <a:xfrm>
            <a:off x="7114032" y="4361688"/>
            <a:ext cx="4023360" cy="384048"/>
          </a:xfrm>
          <a:prstGeom prst="rect">
            <a:avLst/>
          </a:prstGeom>
          <a:noFill/>
          <a:ln/>
        </p:spPr>
        <p:txBody>
          <a:bodyPr wrap="square" lIns="0" tIns="0" rIns="0" bIns="0" rtlCol="0" anchor="ctr"/>
          <a:lstStyle/>
          <a:p>
            <a:pPr indent="0" marL="0">
              <a:buNone/>
            </a:pPr>
            <a:r>
              <a:rPr lang="en-US" sz="2000" b="1" dirty="0">
                <a:solidFill>
                  <a:srgbClr val="4E2AAE"/>
                </a:solidFill>
                <a:latin typeface="Calibri" pitchFamily="34" charset="0"/>
                <a:ea typeface="Calibri" pitchFamily="34" charset="-122"/>
                <a:cs typeface="Calibri" pitchFamily="34" charset="-120"/>
              </a:rPr>
              <a:t>92 % vs 68 %</a:t>
            </a:r>
            <a:endParaRPr lang="en-US" sz="2000" dirty="0"/>
          </a:p>
        </p:txBody>
      </p:sp>
      <p:sp>
        <p:nvSpPr>
          <p:cNvPr id="29" name="Text 27"/>
          <p:cNvSpPr txBox="1"/>
          <p:nvPr/>
        </p:nvSpPr>
        <p:spPr>
          <a:xfrm>
            <a:off x="7114032" y="4791456"/>
            <a:ext cx="4023360" cy="594360"/>
          </a:xfrm>
          <a:prstGeom prst="rect">
            <a:avLst/>
          </a:prstGeom>
          <a:noFill/>
          <a:ln/>
        </p:spPr>
        <p:txBody>
          <a:bodyPr wrap="square" lIns="0" tIns="0" rIns="0" bIns="0" rtlCol="0" anchor="ctr"/>
          <a:lstStyle/>
          <a:p>
            <a:pPr indent="0" marL="0">
              <a:lnSpc>
                <a:spcPts val="1600"/>
              </a:lnSpc>
              <a:buNone/>
            </a:pPr>
            <a:r>
              <a:rPr lang="en-US" sz="1200" dirty="0">
                <a:solidFill>
                  <a:srgbClr val="757275"/>
                </a:solidFill>
                <a:latin typeface="Calibri" pitchFamily="34" charset="0"/>
                <a:ea typeface="Calibri" pitchFamily="34" charset="-122"/>
                <a:cs typeface="Calibri" pitchFamily="34" charset="-120"/>
              </a:rPr>
              <a:t>contacto efectivo: el humano logra hablar con quien decide mucho más seguido</a:t>
            </a:r>
            <a:endParaRPr lang="en-US" sz="1200" dirty="0"/>
          </a:p>
        </p:txBody>
      </p:sp>
      <p:sp>
        <p:nvSpPr>
          <p:cNvPr id="30" name="Text 28"/>
          <p:cNvSpPr txBox="1"/>
          <p:nvPr/>
        </p:nvSpPr>
        <p:spPr>
          <a:xfrm>
            <a:off x="685800" y="6327648"/>
            <a:ext cx="10789920" cy="274320"/>
          </a:xfrm>
          <a:prstGeom prst="rect">
            <a:avLst/>
          </a:prstGeom>
          <a:noFill/>
          <a:ln/>
        </p:spPr>
        <p:txBody>
          <a:bodyPr wrap="square" lIns="0" tIns="0" rIns="0" bIns="0" rtlCol="0" anchor="ctr"/>
          <a:lstStyle/>
          <a:p>
            <a:pPr indent="0" marL="0">
              <a:buNone/>
            </a:pPr>
            <a:r>
              <a:rPr lang="en-US" sz="950" i="1" dirty="0">
                <a:solidFill>
                  <a:srgbClr val="757275"/>
                </a:solidFill>
                <a:latin typeface="Calibri" pitchFamily="34" charset="0"/>
                <a:ea typeface="Calibri" pitchFamily="34" charset="-122"/>
                <a:cs typeface="Calibri" pitchFamily="34" charset="-120"/>
              </a:rPr>
              <a:t>Éxito = cierre en primera oferta, cierre tras negociar una alternativa, o fecha de pago acordada. Definido antes de mirar los resultados.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4E2AAE"/>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F9BCE8"/>
                </a:solidFill>
                <a:latin typeface="Calibri" pitchFamily="34" charset="0"/>
                <a:ea typeface="Calibri" pitchFamily="34" charset="-122"/>
                <a:cs typeface="Calibri" pitchFamily="34" charset="-120"/>
              </a:rPr>
              <a:t>HALLAZGO 02 · EL MÁS ACCIONABLE</a:t>
            </a:r>
            <a:endParaRPr lang="en-US" sz="1100" dirty="0"/>
          </a:p>
        </p:txBody>
      </p:sp>
      <p:sp>
        <p:nvSpPr>
          <p:cNvPr id="3" name="Text 1"/>
          <p:cNvSpPr txBox="1"/>
          <p:nvPr/>
        </p:nvSpPr>
        <p:spPr>
          <a:xfrm>
            <a:off x="685800" y="676656"/>
            <a:ext cx="10789920" cy="74980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1 de cada 4 llamadas de IA se pierde por falla técnica</a:t>
            </a:r>
            <a:endParaRPr lang="en-US" sz="3200" dirty="0"/>
          </a:p>
        </p:txBody>
      </p:sp>
      <p:sp>
        <p:nvSpPr>
          <p:cNvPr id="4" name="Shape 2"/>
          <p:cNvSpPr/>
          <p:nvPr/>
        </p:nvSpPr>
        <p:spPr>
          <a:xfrm>
            <a:off x="685800" y="1755648"/>
            <a:ext cx="3383280" cy="1828800"/>
          </a:xfrm>
          <a:prstGeom prst="roundRect">
            <a:avLst>
              <a:gd name="adj" fmla="val 5000"/>
            </a:avLst>
          </a:prstGeom>
          <a:solidFill>
            <a:srgbClr val="5C3BC4"/>
          </a:solidFill>
          <a:ln/>
          <a:effectLst>
            <a:outerShdw sx="100000" sy="100000" kx="0" ky="0" algn="bl" rotWithShape="0" blurRad="152400" dist="25400" dir="5400000">
              <a:srgbClr val="4E2AAE">
                <a:alpha val="10000"/>
              </a:srgbClr>
            </a:outerShdw>
          </a:effectLst>
        </p:spPr>
      </p:sp>
      <p:sp>
        <p:nvSpPr>
          <p:cNvPr id="5" name="Text 3"/>
          <p:cNvSpPr txBox="1"/>
          <p:nvPr/>
        </p:nvSpPr>
        <p:spPr>
          <a:xfrm>
            <a:off x="941832" y="1956816"/>
            <a:ext cx="2871216" cy="694944"/>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13 / 50</a:t>
            </a:r>
            <a:endParaRPr lang="en-US" sz="3400" dirty="0"/>
          </a:p>
        </p:txBody>
      </p:sp>
      <p:sp>
        <p:nvSpPr>
          <p:cNvPr id="6" name="Text 4"/>
          <p:cNvSpPr txBox="1"/>
          <p:nvPr/>
        </p:nvSpPr>
        <p:spPr>
          <a:xfrm>
            <a:off x="941832" y="2651760"/>
            <a:ext cx="2871216"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llamadas de IA caídas</a:t>
            </a:r>
            <a:endParaRPr lang="en-US" sz="1300" dirty="0"/>
          </a:p>
        </p:txBody>
      </p:sp>
      <p:sp>
        <p:nvSpPr>
          <p:cNvPr id="7" name="Text 5"/>
          <p:cNvSpPr txBox="1"/>
          <p:nvPr/>
        </p:nvSpPr>
        <p:spPr>
          <a:xfrm>
            <a:off x="941832" y="2944368"/>
            <a:ext cx="2871216" cy="530352"/>
          </a:xfrm>
          <a:prstGeom prst="rect">
            <a:avLst/>
          </a:prstGeom>
          <a:noFill/>
          <a:ln/>
        </p:spPr>
        <p:txBody>
          <a:bodyPr wrap="square" lIns="0" tIns="0" rIns="0" bIns="0" rtlCol="0" anchor="ctr"/>
          <a:lstStyle/>
          <a:p>
            <a:pPr indent="0" marL="0">
              <a:lnSpc>
                <a:spcPts val="1400"/>
              </a:lnSpc>
              <a:buNone/>
            </a:pPr>
            <a:r>
              <a:rPr lang="en-US" sz="1050" dirty="0">
                <a:solidFill>
                  <a:srgbClr val="D9CBF7"/>
                </a:solidFill>
                <a:latin typeface="Calibri" pitchFamily="34" charset="0"/>
                <a:ea typeface="Calibri" pitchFamily="34" charset="-122"/>
                <a:cs typeface="Calibri" pitchFamily="34" charset="-120"/>
              </a:rPr>
              <a:t>contra 1 de 50 en humano:</a:t>
            </a:r>
            <a:endParaRPr lang="en-US" sz="1050" dirty="0"/>
          </a:p>
          <a:p>
            <a:pPr indent="0" marL="0">
              <a:lnSpc>
                <a:spcPts val="1400"/>
              </a:lnSpc>
              <a:buNone/>
            </a:pPr>
            <a:r>
              <a:rPr lang="en-US" sz="1050" dirty="0">
                <a:solidFill>
                  <a:srgbClr val="D9CBF7"/>
                </a:solidFill>
                <a:latin typeface="Calibri" pitchFamily="34" charset="0"/>
                <a:ea typeface="Calibri" pitchFamily="34" charset="-122"/>
                <a:cs typeface="Calibri" pitchFamily="34" charset="-120"/>
              </a:rPr>
              <a:t>20 veces más</a:t>
            </a:r>
            <a:endParaRPr lang="en-US" sz="1050" dirty="0"/>
          </a:p>
        </p:txBody>
      </p:sp>
      <p:sp>
        <p:nvSpPr>
          <p:cNvPr id="8" name="Shape 6"/>
          <p:cNvSpPr/>
          <p:nvPr/>
        </p:nvSpPr>
        <p:spPr>
          <a:xfrm>
            <a:off x="4297680" y="1755648"/>
            <a:ext cx="3383280" cy="1828800"/>
          </a:xfrm>
          <a:prstGeom prst="roundRect">
            <a:avLst>
              <a:gd name="adj" fmla="val 5000"/>
            </a:avLst>
          </a:prstGeom>
          <a:solidFill>
            <a:srgbClr val="5C3BC4"/>
          </a:solidFill>
          <a:ln/>
          <a:effectLst>
            <a:outerShdw sx="100000" sy="100000" kx="0" ky="0" algn="bl" rotWithShape="0" blurRad="152400" dist="25400" dir="5400000">
              <a:srgbClr val="4E2AAE">
                <a:alpha val="10000"/>
              </a:srgbClr>
            </a:outerShdw>
          </a:effectLst>
        </p:spPr>
      </p:sp>
      <p:sp>
        <p:nvSpPr>
          <p:cNvPr id="9" name="Text 7"/>
          <p:cNvSpPr txBox="1"/>
          <p:nvPr/>
        </p:nvSpPr>
        <p:spPr>
          <a:xfrm>
            <a:off x="4553712" y="1956816"/>
            <a:ext cx="2871216" cy="694944"/>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10 de 13</a:t>
            </a:r>
            <a:endParaRPr lang="en-US" sz="3400" dirty="0"/>
          </a:p>
        </p:txBody>
      </p:sp>
      <p:sp>
        <p:nvSpPr>
          <p:cNvPr id="10" name="Text 8"/>
          <p:cNvSpPr txBox="1"/>
          <p:nvPr/>
        </p:nvSpPr>
        <p:spPr>
          <a:xfrm>
            <a:off x="4553712" y="2651760"/>
            <a:ext cx="2871216"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ya tenían contacto real</a:t>
            </a:r>
            <a:endParaRPr lang="en-US" sz="1300" dirty="0"/>
          </a:p>
        </p:txBody>
      </p:sp>
      <p:sp>
        <p:nvSpPr>
          <p:cNvPr id="11" name="Text 9"/>
          <p:cNvSpPr txBox="1"/>
          <p:nvPr/>
        </p:nvSpPr>
        <p:spPr>
          <a:xfrm>
            <a:off x="4553712" y="2944368"/>
            <a:ext cx="2871216" cy="530352"/>
          </a:xfrm>
          <a:prstGeom prst="rect">
            <a:avLst/>
          </a:prstGeom>
          <a:noFill/>
          <a:ln/>
        </p:spPr>
        <p:txBody>
          <a:bodyPr wrap="square" lIns="0" tIns="0" rIns="0" bIns="0" rtlCol="0" anchor="ctr"/>
          <a:lstStyle/>
          <a:p>
            <a:pPr indent="0" marL="0">
              <a:lnSpc>
                <a:spcPts val="1400"/>
              </a:lnSpc>
              <a:buNone/>
            </a:pPr>
            <a:r>
              <a:rPr lang="en-US" sz="1050" dirty="0">
                <a:solidFill>
                  <a:srgbClr val="D9CBF7"/>
                </a:solidFill>
                <a:latin typeface="Calibri" pitchFamily="34" charset="0"/>
                <a:ea typeface="Calibri" pitchFamily="34" charset="-122"/>
                <a:cs typeface="Calibri" pitchFamily="34" charset="-120"/>
              </a:rPr>
              <a:t>el cliente estaba al teléfono</a:t>
            </a:r>
            <a:endParaRPr lang="en-US" sz="1050" dirty="0"/>
          </a:p>
          <a:p>
            <a:pPr indent="0" marL="0">
              <a:lnSpc>
                <a:spcPts val="1400"/>
              </a:lnSpc>
              <a:buNone/>
            </a:pPr>
            <a:r>
              <a:rPr lang="en-US" sz="1050" dirty="0">
                <a:solidFill>
                  <a:srgbClr val="D9CBF7"/>
                </a:solidFill>
                <a:latin typeface="Calibri" pitchFamily="34" charset="0"/>
                <a:ea typeface="Calibri" pitchFamily="34" charset="-122"/>
                <a:cs typeface="Calibri" pitchFamily="34" charset="-120"/>
              </a:rPr>
              <a:t>cuando se cayó la línea</a:t>
            </a:r>
            <a:endParaRPr lang="en-US" sz="1050" dirty="0"/>
          </a:p>
        </p:txBody>
      </p:sp>
      <p:sp>
        <p:nvSpPr>
          <p:cNvPr id="12" name="Shape 10"/>
          <p:cNvSpPr/>
          <p:nvPr/>
        </p:nvSpPr>
        <p:spPr>
          <a:xfrm>
            <a:off x="7909560" y="1755648"/>
            <a:ext cx="3566160" cy="1828800"/>
          </a:xfrm>
          <a:prstGeom prst="roundRect">
            <a:avLst>
              <a:gd name="adj" fmla="val 5000"/>
            </a:avLst>
          </a:prstGeom>
          <a:solidFill>
            <a:srgbClr val="F9BCE8"/>
          </a:solidFill>
          <a:ln/>
          <a:effectLst>
            <a:outerShdw sx="100000" sy="100000" kx="0" ky="0" algn="bl" rotWithShape="0" blurRad="152400" dist="25400" dir="5400000">
              <a:srgbClr val="4E2AAE">
                <a:alpha val="10000"/>
              </a:srgbClr>
            </a:outerShdw>
          </a:effectLst>
        </p:spPr>
      </p:sp>
      <p:sp>
        <p:nvSpPr>
          <p:cNvPr id="13" name="Text 11"/>
          <p:cNvSpPr txBox="1"/>
          <p:nvPr/>
        </p:nvSpPr>
        <p:spPr>
          <a:xfrm>
            <a:off x="8165592" y="1956816"/>
            <a:ext cx="3054096" cy="694944"/>
          </a:xfrm>
          <a:prstGeom prst="rect">
            <a:avLst/>
          </a:prstGeom>
          <a:noFill/>
          <a:ln/>
        </p:spPr>
        <p:txBody>
          <a:bodyPr wrap="square" lIns="0" tIns="0" rIns="0" bIns="0" rtlCol="0" anchor="ctr"/>
          <a:lstStyle/>
          <a:p>
            <a:pPr indent="0" marL="0">
              <a:buNone/>
            </a:pPr>
            <a:r>
              <a:rPr lang="en-US" sz="3400" b="1" dirty="0">
                <a:solidFill>
                  <a:srgbClr val="4E2AAE"/>
                </a:solidFill>
                <a:latin typeface="Calibri" pitchFamily="34" charset="0"/>
                <a:ea typeface="Calibri" pitchFamily="34" charset="-122"/>
                <a:cs typeface="Calibri" pitchFamily="34" charset="-120"/>
              </a:rPr>
              <a:t>$22.9 M</a:t>
            </a:r>
            <a:endParaRPr lang="en-US" sz="3400" dirty="0"/>
          </a:p>
        </p:txBody>
      </p:sp>
      <p:sp>
        <p:nvSpPr>
          <p:cNvPr id="14" name="Text 12"/>
          <p:cNvSpPr txBox="1"/>
          <p:nvPr/>
        </p:nvSpPr>
        <p:spPr>
          <a:xfrm>
            <a:off x="8165592" y="2651760"/>
            <a:ext cx="3054096" cy="310896"/>
          </a:xfrm>
          <a:prstGeom prst="rect">
            <a:avLst/>
          </a:prstGeom>
          <a:noFill/>
          <a:ln/>
        </p:spPr>
        <p:txBody>
          <a:bodyPr wrap="square" lIns="0" tIns="0" rIns="0" bIns="0" rtlCol="0" anchor="ctr"/>
          <a:lstStyle/>
          <a:p>
            <a:pPr indent="0" marL="0">
              <a:buNone/>
            </a:pPr>
            <a:r>
              <a:rPr lang="en-US" sz="1300" b="1" dirty="0">
                <a:solidFill>
                  <a:srgbClr val="202020"/>
                </a:solidFill>
                <a:latin typeface="Calibri" pitchFamily="34" charset="0"/>
                <a:ea typeface="Calibri" pitchFamily="34" charset="-122"/>
                <a:cs typeface="Calibri" pitchFamily="34" charset="-120"/>
              </a:rPr>
              <a:t>COP sobre la mesa</a:t>
            </a:r>
            <a:endParaRPr lang="en-US" sz="1300" dirty="0"/>
          </a:p>
        </p:txBody>
      </p:sp>
      <p:sp>
        <p:nvSpPr>
          <p:cNvPr id="15" name="Text 13"/>
          <p:cNvSpPr txBox="1"/>
          <p:nvPr/>
        </p:nvSpPr>
        <p:spPr>
          <a:xfrm>
            <a:off x="8165592" y="2944368"/>
            <a:ext cx="3054096" cy="530352"/>
          </a:xfrm>
          <a:prstGeom prst="rect">
            <a:avLst/>
          </a:prstGeom>
          <a:noFill/>
          <a:ln/>
        </p:spPr>
        <p:txBody>
          <a:bodyPr wrap="square" lIns="0" tIns="0" rIns="0" bIns="0" rtlCol="0" anchor="ctr"/>
          <a:lstStyle/>
          <a:p>
            <a:pPr indent="0" marL="0">
              <a:lnSpc>
                <a:spcPts val="1400"/>
              </a:lnSpc>
              <a:buNone/>
            </a:pPr>
            <a:r>
              <a:rPr lang="en-US" sz="1050" dirty="0">
                <a:solidFill>
                  <a:srgbClr val="757275"/>
                </a:solidFill>
                <a:latin typeface="Calibri" pitchFamily="34" charset="0"/>
                <a:ea typeface="Calibri" pitchFamily="34" charset="-122"/>
                <a:cs typeface="Calibri" pitchFamily="34" charset="-120"/>
              </a:rPr>
              <a:t>deuda ya mencionada en las</a:t>
            </a:r>
            <a:endParaRPr lang="en-US" sz="1050" dirty="0"/>
          </a:p>
          <a:p>
            <a:pPr indent="0" marL="0">
              <a:lnSpc>
                <a:spcPts val="1400"/>
              </a:lnSpc>
              <a:buNone/>
            </a:pPr>
            <a:r>
              <a:rPr lang="en-US" sz="1050" dirty="0">
                <a:solidFill>
                  <a:srgbClr val="757275"/>
                </a:solidFill>
                <a:latin typeface="Calibri" pitchFamily="34" charset="0"/>
                <a:ea typeface="Calibri" pitchFamily="34" charset="-122"/>
                <a:cs typeface="Calibri" pitchFamily="34" charset="-120"/>
              </a:rPr>
              <a:t>llamadas que se cortaron</a:t>
            </a:r>
            <a:endParaRPr lang="en-US" sz="1050" dirty="0"/>
          </a:p>
        </p:txBody>
      </p:sp>
      <p:sp>
        <p:nvSpPr>
          <p:cNvPr id="16" name="Shape 14"/>
          <p:cNvSpPr/>
          <p:nvPr/>
        </p:nvSpPr>
        <p:spPr>
          <a:xfrm>
            <a:off x="685800" y="3858768"/>
            <a:ext cx="10789920" cy="1325880"/>
          </a:xfrm>
          <a:prstGeom prst="roundRect">
            <a:avLst>
              <a:gd name="adj" fmla="val 8276"/>
            </a:avLst>
          </a:prstGeom>
          <a:solidFill>
            <a:srgbClr val="F26ECF"/>
          </a:solidFill>
          <a:ln/>
        </p:spPr>
      </p:sp>
      <p:sp>
        <p:nvSpPr>
          <p:cNvPr id="17" name="Text 15"/>
          <p:cNvSpPr txBox="1"/>
          <p:nvPr/>
        </p:nvSpPr>
        <p:spPr>
          <a:xfrm>
            <a:off x="1097280" y="4023360"/>
            <a:ext cx="10058400" cy="32918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Esto no es una derrota de negociación: es infraestructura.</a:t>
            </a:r>
            <a:endParaRPr lang="en-US" sz="1800" dirty="0"/>
          </a:p>
        </p:txBody>
      </p:sp>
      <p:sp>
        <p:nvSpPr>
          <p:cNvPr id="18" name="Text 16"/>
          <p:cNvSpPr txBox="1"/>
          <p:nvPr/>
        </p:nvSpPr>
        <p:spPr>
          <a:xfrm>
            <a:off x="1097280" y="4370832"/>
            <a:ext cx="10332720" cy="731520"/>
          </a:xfrm>
          <a:prstGeom prst="rect">
            <a:avLst/>
          </a:prstGeom>
          <a:noFill/>
          <a:ln/>
        </p:spPr>
        <p:txBody>
          <a:bodyPr wrap="square" lIns="0" tIns="0" rIns="0" bIns="0" rtlCol="0" anchor="ctr"/>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El cliente no rechazó la oferta ni colgó: la llamada se cayó, el IVR no respondió o el bot se quedó mudo. Es el hallazgo más limpio del análisis — no depende de ningún ajuste por tipo de gestión — y también el más barato de corregir: arreglarlo cierra media brecha sin tocar una línea del guion de negociación.</a:t>
            </a:r>
            <a:endParaRPr lang="en-US" sz="1300" dirty="0"/>
          </a:p>
        </p:txBody>
      </p:sp>
      <p:sp>
        <p:nvSpPr>
          <p:cNvPr id="19" name="Text 17"/>
          <p:cNvSpPr txBox="1"/>
          <p:nvPr/>
        </p:nvSpPr>
        <p:spPr>
          <a:xfrm>
            <a:off x="685800" y="6327648"/>
            <a:ext cx="10789920" cy="274320"/>
          </a:xfrm>
          <a:prstGeom prst="rect">
            <a:avLst/>
          </a:prstGeom>
          <a:noFill/>
          <a:ln/>
        </p:spPr>
        <p:txBody>
          <a:bodyPr wrap="square" lIns="0" tIns="0" rIns="0" bIns="0" rtlCol="0" anchor="ctr"/>
          <a:lstStyle/>
          <a:p>
            <a:pPr indent="0" marL="0">
              <a:buNone/>
            </a:pPr>
            <a:r>
              <a:rPr lang="en-US" sz="950" i="1" dirty="0">
                <a:solidFill>
                  <a:srgbClr val="C9B8F0"/>
                </a:solidFill>
                <a:latin typeface="Calibri" pitchFamily="34" charset="0"/>
                <a:ea typeface="Calibri" pitchFamily="34" charset="-122"/>
                <a:cs typeface="Calibri" pitchFamily="34" charset="-120"/>
              </a:rPr>
              <a:t>Fuente: variable quien_corta_la_llamada = se_corta_tecnicamente, cruzada con contacto_efectivo y monto_total_actual_cop.</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F26ECF"/>
                </a:solidFill>
                <a:latin typeface="Calibri" pitchFamily="34" charset="0"/>
                <a:ea typeface="Calibri" pitchFamily="34" charset="-122"/>
                <a:cs typeface="Calibri" pitchFamily="34" charset="-120"/>
              </a:rPr>
              <a:t>HALLAZGO 03 · CAPA DE NEGOCIACIÓN</a:t>
            </a:r>
            <a:endParaRPr lang="en-US" sz="1100" dirty="0"/>
          </a:p>
        </p:txBody>
      </p:sp>
      <p:sp>
        <p:nvSpPr>
          <p:cNvPr id="3" name="Text 1"/>
          <p:cNvSpPr txBox="1"/>
          <p:nvPr/>
        </p:nvSpPr>
        <p:spPr>
          <a:xfrm>
            <a:off x="685800" y="676656"/>
            <a:ext cx="10789920" cy="749808"/>
          </a:xfrm>
          <a:prstGeom prst="rect">
            <a:avLst/>
          </a:prstGeom>
          <a:noFill/>
          <a:ln/>
        </p:spPr>
        <p:txBody>
          <a:bodyPr wrap="square" lIns="0" tIns="0" rIns="0" bIns="0" rtlCol="0" anchor="ctr"/>
          <a:lstStyle/>
          <a:p>
            <a:pPr indent="0" marL="0">
              <a:buNone/>
            </a:pPr>
            <a:r>
              <a:rPr lang="en-US" sz="3200" b="1" dirty="0">
                <a:solidFill>
                  <a:srgbClr val="202020"/>
                </a:solidFill>
                <a:latin typeface="Cambria" pitchFamily="34" charset="0"/>
                <a:ea typeface="Cambria" pitchFamily="34" charset="-122"/>
                <a:cs typeface="Cambria" pitchFamily="34" charset="-120"/>
              </a:rPr>
              <a:t>Cuando la IA cierra, no deja más plata sobre la mesa</a:t>
            </a:r>
            <a:endParaRPr lang="en-US" sz="3200" dirty="0"/>
          </a:p>
        </p:txBody>
      </p:sp>
      <p:sp>
        <p:nvSpPr>
          <p:cNvPr id="4" name="Text 2"/>
          <p:cNvSpPr txBox="1"/>
          <p:nvPr/>
        </p:nvSpPr>
        <p:spPr>
          <a:xfrm>
            <a:off x="685800" y="1801368"/>
            <a:ext cx="5669280" cy="237744"/>
          </a:xfrm>
          <a:prstGeom prst="rect">
            <a:avLst/>
          </a:prstGeom>
          <a:noFill/>
          <a:ln/>
        </p:spPr>
        <p:txBody>
          <a:bodyPr wrap="square" lIns="0" tIns="0" rIns="0" bIns="0" rtlCol="0" anchor="ctr"/>
          <a:lstStyle/>
          <a:p>
            <a:pPr indent="0" marL="0">
              <a:buNone/>
            </a:pPr>
            <a:r>
              <a:rPr lang="en-US" sz="1150" b="1" dirty="0">
                <a:solidFill>
                  <a:srgbClr val="202020"/>
                </a:solidFill>
                <a:latin typeface="Calibri" pitchFamily="34" charset="0"/>
                <a:ea typeface="Calibri" pitchFamily="34" charset="-122"/>
                <a:cs typeface="Calibri" pitchFamily="34" charset="-120"/>
              </a:rPr>
              <a:t>% de la deuda original recuperado, en llamadas que sí cerraron</a:t>
            </a:r>
            <a:endParaRPr lang="en-US" sz="1150" dirty="0"/>
          </a:p>
        </p:txBody>
      </p:sp>
      <p:sp>
        <p:nvSpPr>
          <p:cNvPr id="5" name="Text 3"/>
          <p:cNvSpPr txBox="1"/>
          <p:nvPr/>
        </p:nvSpPr>
        <p:spPr>
          <a:xfrm>
            <a:off x="685800" y="2084832"/>
            <a:ext cx="777240" cy="237744"/>
          </a:xfrm>
          <a:prstGeom prst="rect">
            <a:avLst/>
          </a:prstGeom>
          <a:noFill/>
          <a:ln/>
        </p:spPr>
        <p:txBody>
          <a:bodyPr wrap="square" lIns="0" tIns="0" rIns="0" bIns="0" rtlCol="0" anchor="ctr"/>
          <a:lstStyle/>
          <a:p>
            <a:pPr indent="0" marL="0">
              <a:buNone/>
            </a:pPr>
            <a:r>
              <a:rPr lang="en-US" sz="1050" dirty="0">
                <a:solidFill>
                  <a:srgbClr val="757275"/>
                </a:solidFill>
                <a:latin typeface="Calibri" pitchFamily="34" charset="0"/>
                <a:ea typeface="Calibri" pitchFamily="34" charset="-122"/>
                <a:cs typeface="Calibri" pitchFamily="34" charset="-120"/>
              </a:rPr>
              <a:t>Humano</a:t>
            </a:r>
            <a:endParaRPr lang="en-US" sz="1050" dirty="0"/>
          </a:p>
        </p:txBody>
      </p:sp>
      <p:sp>
        <p:nvSpPr>
          <p:cNvPr id="6" name="Shape 4"/>
          <p:cNvSpPr/>
          <p:nvPr/>
        </p:nvSpPr>
        <p:spPr>
          <a:xfrm>
            <a:off x="1463040" y="2112264"/>
            <a:ext cx="3566160" cy="237744"/>
          </a:xfrm>
          <a:prstGeom prst="rect">
            <a:avLst/>
          </a:prstGeom>
          <a:solidFill>
            <a:srgbClr val="F2F0F6"/>
          </a:solidFill>
          <a:ln/>
        </p:spPr>
      </p:sp>
      <p:sp>
        <p:nvSpPr>
          <p:cNvPr id="7" name="Shape 5"/>
          <p:cNvSpPr/>
          <p:nvPr/>
        </p:nvSpPr>
        <p:spPr>
          <a:xfrm>
            <a:off x="1463040" y="2112264"/>
            <a:ext cx="3416381" cy="237744"/>
          </a:xfrm>
          <a:prstGeom prst="rect">
            <a:avLst/>
          </a:prstGeom>
          <a:solidFill>
            <a:srgbClr val="4E2AAE"/>
          </a:solidFill>
          <a:ln/>
        </p:spPr>
      </p:sp>
      <p:sp>
        <p:nvSpPr>
          <p:cNvPr id="8" name="Text 6"/>
          <p:cNvSpPr txBox="1"/>
          <p:nvPr/>
        </p:nvSpPr>
        <p:spPr>
          <a:xfrm>
            <a:off x="5138928" y="2084832"/>
            <a:ext cx="1143000" cy="237744"/>
          </a:xfrm>
          <a:prstGeom prst="rect">
            <a:avLst/>
          </a:prstGeom>
          <a:noFill/>
          <a:ln/>
        </p:spPr>
        <p:txBody>
          <a:bodyPr wrap="square" lIns="0" tIns="0" rIns="0" bIns="0" rtlCol="0" anchor="ctr"/>
          <a:lstStyle/>
          <a:p>
            <a:pPr indent="0" marL="0">
              <a:buNone/>
            </a:pPr>
            <a:r>
              <a:rPr lang="en-US" sz="1200" b="1" dirty="0">
                <a:solidFill>
                  <a:srgbClr val="4E2AAE"/>
                </a:solidFill>
                <a:latin typeface="Calibri" pitchFamily="34" charset="0"/>
                <a:ea typeface="Calibri" pitchFamily="34" charset="-122"/>
                <a:cs typeface="Calibri" pitchFamily="34" charset="-120"/>
              </a:rPr>
              <a:t>95.8 %</a:t>
            </a:r>
            <a:endParaRPr lang="en-US" sz="1200" dirty="0"/>
          </a:p>
        </p:txBody>
      </p:sp>
      <p:sp>
        <p:nvSpPr>
          <p:cNvPr id="9" name="Text 7"/>
          <p:cNvSpPr txBox="1"/>
          <p:nvPr/>
        </p:nvSpPr>
        <p:spPr>
          <a:xfrm>
            <a:off x="685800" y="2468880"/>
            <a:ext cx="777240" cy="237744"/>
          </a:xfrm>
          <a:prstGeom prst="rect">
            <a:avLst/>
          </a:prstGeom>
          <a:noFill/>
          <a:ln/>
        </p:spPr>
        <p:txBody>
          <a:bodyPr wrap="square" lIns="0" tIns="0" rIns="0" bIns="0" rtlCol="0" anchor="ctr"/>
          <a:lstStyle/>
          <a:p>
            <a:pPr indent="0" marL="0">
              <a:buNone/>
            </a:pPr>
            <a:r>
              <a:rPr lang="en-US" sz="1050" dirty="0">
                <a:solidFill>
                  <a:srgbClr val="757275"/>
                </a:solidFill>
                <a:latin typeface="Calibri" pitchFamily="34" charset="0"/>
                <a:ea typeface="Calibri" pitchFamily="34" charset="-122"/>
                <a:cs typeface="Calibri" pitchFamily="34" charset="-120"/>
              </a:rPr>
              <a:t>IA</a:t>
            </a:r>
            <a:endParaRPr lang="en-US" sz="1050" dirty="0"/>
          </a:p>
        </p:txBody>
      </p:sp>
      <p:sp>
        <p:nvSpPr>
          <p:cNvPr id="10" name="Shape 8"/>
          <p:cNvSpPr/>
          <p:nvPr/>
        </p:nvSpPr>
        <p:spPr>
          <a:xfrm>
            <a:off x="1463040" y="2496312"/>
            <a:ext cx="3566160" cy="237744"/>
          </a:xfrm>
          <a:prstGeom prst="rect">
            <a:avLst/>
          </a:prstGeom>
          <a:solidFill>
            <a:srgbClr val="F2F0F6"/>
          </a:solidFill>
          <a:ln/>
        </p:spPr>
      </p:sp>
      <p:sp>
        <p:nvSpPr>
          <p:cNvPr id="11" name="Shape 9"/>
          <p:cNvSpPr/>
          <p:nvPr/>
        </p:nvSpPr>
        <p:spPr>
          <a:xfrm>
            <a:off x="1463040" y="2496312"/>
            <a:ext cx="3091861" cy="237744"/>
          </a:xfrm>
          <a:prstGeom prst="rect">
            <a:avLst/>
          </a:prstGeom>
          <a:solidFill>
            <a:srgbClr val="F26ECF"/>
          </a:solidFill>
          <a:ln/>
        </p:spPr>
      </p:sp>
      <p:sp>
        <p:nvSpPr>
          <p:cNvPr id="12" name="Text 10"/>
          <p:cNvSpPr txBox="1"/>
          <p:nvPr/>
        </p:nvSpPr>
        <p:spPr>
          <a:xfrm>
            <a:off x="5138928" y="2468880"/>
            <a:ext cx="1143000" cy="237744"/>
          </a:xfrm>
          <a:prstGeom prst="rect">
            <a:avLst/>
          </a:prstGeom>
          <a:noFill/>
          <a:ln/>
        </p:spPr>
        <p:txBody>
          <a:bodyPr wrap="square" lIns="0" tIns="0" rIns="0" bIns="0" rtlCol="0" anchor="ctr"/>
          <a:lstStyle/>
          <a:p>
            <a:pPr indent="0" marL="0">
              <a:buNone/>
            </a:pPr>
            <a:r>
              <a:rPr lang="en-US" sz="1200" b="1" dirty="0">
                <a:solidFill>
                  <a:srgbClr val="F26ECF"/>
                </a:solidFill>
                <a:latin typeface="Calibri" pitchFamily="34" charset="0"/>
                <a:ea typeface="Calibri" pitchFamily="34" charset="-122"/>
                <a:cs typeface="Calibri" pitchFamily="34" charset="-120"/>
              </a:rPr>
              <a:t>86.7 %</a:t>
            </a:r>
            <a:endParaRPr lang="en-US" sz="1200" dirty="0"/>
          </a:p>
        </p:txBody>
      </p:sp>
      <p:sp>
        <p:nvSpPr>
          <p:cNvPr id="13" name="Text 11"/>
          <p:cNvSpPr txBox="1"/>
          <p:nvPr/>
        </p:nvSpPr>
        <p:spPr>
          <a:xfrm>
            <a:off x="685800" y="2898648"/>
            <a:ext cx="5852160" cy="256032"/>
          </a:xfrm>
          <a:prstGeom prst="rect">
            <a:avLst/>
          </a:prstGeom>
          <a:noFill/>
          <a:ln/>
        </p:spPr>
        <p:txBody>
          <a:bodyPr wrap="square" lIns="0" tIns="0" rIns="0" bIns="0" rtlCol="0" anchor="ctr"/>
          <a:lstStyle/>
          <a:p>
            <a:pPr indent="0" marL="0">
              <a:buNone/>
            </a:pPr>
            <a:r>
              <a:rPr lang="en-US" sz="1050" i="1" dirty="0">
                <a:solidFill>
                  <a:srgbClr val="757275"/>
                </a:solidFill>
                <a:latin typeface="Calibri" pitchFamily="34" charset="0"/>
                <a:ea typeface="Calibri" pitchFamily="34" charset="-122"/>
                <a:cs typeface="Calibri" pitchFamily="34" charset="-120"/>
              </a:rPr>
              <a:t>Mann-Whitney U   p = 0.50   ·   sin diferencia significativa   ·   n = 8 vs 10</a:t>
            </a:r>
            <a:endParaRPr lang="en-US" sz="1050" dirty="0"/>
          </a:p>
        </p:txBody>
      </p:sp>
      <p:sp>
        <p:nvSpPr>
          <p:cNvPr id="14" name="Text 12"/>
          <p:cNvSpPr txBox="1"/>
          <p:nvPr/>
        </p:nvSpPr>
        <p:spPr>
          <a:xfrm>
            <a:off x="685800" y="3401568"/>
            <a:ext cx="5669280" cy="237744"/>
          </a:xfrm>
          <a:prstGeom prst="rect">
            <a:avLst/>
          </a:prstGeom>
          <a:noFill/>
          <a:ln/>
        </p:spPr>
        <p:txBody>
          <a:bodyPr wrap="square" lIns="0" tIns="0" rIns="0" bIns="0" rtlCol="0" anchor="ctr"/>
          <a:lstStyle/>
          <a:p>
            <a:pPr indent="0" marL="0">
              <a:buNone/>
            </a:pPr>
            <a:r>
              <a:rPr lang="en-US" sz="1150" b="1" dirty="0">
                <a:solidFill>
                  <a:srgbClr val="202020"/>
                </a:solidFill>
                <a:latin typeface="Calibri" pitchFamily="34" charset="0"/>
                <a:ea typeface="Calibri" pitchFamily="34" charset="-122"/>
                <a:cs typeface="Calibri" pitchFamily="34" charset="-120"/>
              </a:rPr>
              <a:t>Descuento mediano ofrecido sobre la deuda</a:t>
            </a:r>
            <a:endParaRPr lang="en-US" sz="1150" dirty="0"/>
          </a:p>
        </p:txBody>
      </p:sp>
      <p:sp>
        <p:nvSpPr>
          <p:cNvPr id="15" name="Text 13"/>
          <p:cNvSpPr txBox="1"/>
          <p:nvPr/>
        </p:nvSpPr>
        <p:spPr>
          <a:xfrm>
            <a:off x="685800" y="3685032"/>
            <a:ext cx="777240" cy="237744"/>
          </a:xfrm>
          <a:prstGeom prst="rect">
            <a:avLst/>
          </a:prstGeom>
          <a:noFill/>
          <a:ln/>
        </p:spPr>
        <p:txBody>
          <a:bodyPr wrap="square" lIns="0" tIns="0" rIns="0" bIns="0" rtlCol="0" anchor="ctr"/>
          <a:lstStyle/>
          <a:p>
            <a:pPr indent="0" marL="0">
              <a:buNone/>
            </a:pPr>
            <a:r>
              <a:rPr lang="en-US" sz="1050" dirty="0">
                <a:solidFill>
                  <a:srgbClr val="757275"/>
                </a:solidFill>
                <a:latin typeface="Calibri" pitchFamily="34" charset="0"/>
                <a:ea typeface="Calibri" pitchFamily="34" charset="-122"/>
                <a:cs typeface="Calibri" pitchFamily="34" charset="-120"/>
              </a:rPr>
              <a:t>Humano</a:t>
            </a:r>
            <a:endParaRPr lang="en-US" sz="1050" dirty="0"/>
          </a:p>
        </p:txBody>
      </p:sp>
      <p:sp>
        <p:nvSpPr>
          <p:cNvPr id="16" name="Shape 14"/>
          <p:cNvSpPr/>
          <p:nvPr/>
        </p:nvSpPr>
        <p:spPr>
          <a:xfrm>
            <a:off x="1463040" y="3712464"/>
            <a:ext cx="3566160" cy="237744"/>
          </a:xfrm>
          <a:prstGeom prst="rect">
            <a:avLst/>
          </a:prstGeom>
          <a:solidFill>
            <a:srgbClr val="F2F0F6"/>
          </a:solidFill>
          <a:ln/>
        </p:spPr>
      </p:sp>
      <p:sp>
        <p:nvSpPr>
          <p:cNvPr id="17" name="Shape 15"/>
          <p:cNvSpPr/>
          <p:nvPr/>
        </p:nvSpPr>
        <p:spPr>
          <a:xfrm>
            <a:off x="1463040" y="3712464"/>
            <a:ext cx="2377440" cy="237744"/>
          </a:xfrm>
          <a:prstGeom prst="rect">
            <a:avLst/>
          </a:prstGeom>
          <a:solidFill>
            <a:srgbClr val="4E2AAE"/>
          </a:solidFill>
          <a:ln/>
        </p:spPr>
      </p:sp>
      <p:sp>
        <p:nvSpPr>
          <p:cNvPr id="18" name="Text 16"/>
          <p:cNvSpPr txBox="1"/>
          <p:nvPr/>
        </p:nvSpPr>
        <p:spPr>
          <a:xfrm>
            <a:off x="5138928" y="3685032"/>
            <a:ext cx="1143000" cy="237744"/>
          </a:xfrm>
          <a:prstGeom prst="rect">
            <a:avLst/>
          </a:prstGeom>
          <a:noFill/>
          <a:ln/>
        </p:spPr>
        <p:txBody>
          <a:bodyPr wrap="square" lIns="0" tIns="0" rIns="0" bIns="0" rtlCol="0" anchor="ctr"/>
          <a:lstStyle/>
          <a:p>
            <a:pPr indent="0" marL="0">
              <a:buNone/>
            </a:pPr>
            <a:r>
              <a:rPr lang="en-US" sz="1200" b="1" dirty="0">
                <a:solidFill>
                  <a:srgbClr val="4E2AAE"/>
                </a:solidFill>
                <a:latin typeface="Calibri" pitchFamily="34" charset="0"/>
                <a:ea typeface="Calibri" pitchFamily="34" charset="-122"/>
                <a:cs typeface="Calibri" pitchFamily="34" charset="-120"/>
              </a:rPr>
              <a:t>20 %</a:t>
            </a:r>
            <a:endParaRPr lang="en-US" sz="1200" dirty="0"/>
          </a:p>
        </p:txBody>
      </p:sp>
      <p:sp>
        <p:nvSpPr>
          <p:cNvPr id="19" name="Text 17"/>
          <p:cNvSpPr txBox="1"/>
          <p:nvPr/>
        </p:nvSpPr>
        <p:spPr>
          <a:xfrm>
            <a:off x="685800" y="4069080"/>
            <a:ext cx="777240" cy="237744"/>
          </a:xfrm>
          <a:prstGeom prst="rect">
            <a:avLst/>
          </a:prstGeom>
          <a:noFill/>
          <a:ln/>
        </p:spPr>
        <p:txBody>
          <a:bodyPr wrap="square" lIns="0" tIns="0" rIns="0" bIns="0" rtlCol="0" anchor="ctr"/>
          <a:lstStyle/>
          <a:p>
            <a:pPr indent="0" marL="0">
              <a:buNone/>
            </a:pPr>
            <a:r>
              <a:rPr lang="en-US" sz="1050" dirty="0">
                <a:solidFill>
                  <a:srgbClr val="757275"/>
                </a:solidFill>
                <a:latin typeface="Calibri" pitchFamily="34" charset="0"/>
                <a:ea typeface="Calibri" pitchFamily="34" charset="-122"/>
                <a:cs typeface="Calibri" pitchFamily="34" charset="-120"/>
              </a:rPr>
              <a:t>IA</a:t>
            </a:r>
            <a:endParaRPr lang="en-US" sz="1050" dirty="0"/>
          </a:p>
        </p:txBody>
      </p:sp>
      <p:sp>
        <p:nvSpPr>
          <p:cNvPr id="20" name="Shape 18"/>
          <p:cNvSpPr/>
          <p:nvPr/>
        </p:nvSpPr>
        <p:spPr>
          <a:xfrm>
            <a:off x="1463040" y="4096512"/>
            <a:ext cx="3566160" cy="237744"/>
          </a:xfrm>
          <a:prstGeom prst="rect">
            <a:avLst/>
          </a:prstGeom>
          <a:solidFill>
            <a:srgbClr val="F2F0F6"/>
          </a:solidFill>
          <a:ln/>
        </p:spPr>
      </p:sp>
      <p:sp>
        <p:nvSpPr>
          <p:cNvPr id="21" name="Shape 19"/>
          <p:cNvSpPr/>
          <p:nvPr/>
        </p:nvSpPr>
        <p:spPr>
          <a:xfrm>
            <a:off x="1463040" y="4096512"/>
            <a:ext cx="832104" cy="237744"/>
          </a:xfrm>
          <a:prstGeom prst="rect">
            <a:avLst/>
          </a:prstGeom>
          <a:solidFill>
            <a:srgbClr val="F26ECF"/>
          </a:solidFill>
          <a:ln/>
        </p:spPr>
      </p:sp>
      <p:sp>
        <p:nvSpPr>
          <p:cNvPr id="22" name="Text 20"/>
          <p:cNvSpPr txBox="1"/>
          <p:nvPr/>
        </p:nvSpPr>
        <p:spPr>
          <a:xfrm>
            <a:off x="5138928" y="4069080"/>
            <a:ext cx="1143000" cy="237744"/>
          </a:xfrm>
          <a:prstGeom prst="rect">
            <a:avLst/>
          </a:prstGeom>
          <a:noFill/>
          <a:ln/>
        </p:spPr>
        <p:txBody>
          <a:bodyPr wrap="square" lIns="0" tIns="0" rIns="0" bIns="0" rtlCol="0" anchor="ctr"/>
          <a:lstStyle/>
          <a:p>
            <a:pPr indent="0" marL="0">
              <a:buNone/>
            </a:pPr>
            <a:r>
              <a:rPr lang="en-US" sz="1200" b="1" dirty="0">
                <a:solidFill>
                  <a:srgbClr val="F26ECF"/>
                </a:solidFill>
                <a:latin typeface="Calibri" pitchFamily="34" charset="0"/>
                <a:ea typeface="Calibri" pitchFamily="34" charset="-122"/>
                <a:cs typeface="Calibri" pitchFamily="34" charset="-120"/>
              </a:rPr>
              <a:t>7 %</a:t>
            </a:r>
            <a:endParaRPr lang="en-US" sz="1200" dirty="0"/>
          </a:p>
        </p:txBody>
      </p:sp>
      <p:sp>
        <p:nvSpPr>
          <p:cNvPr id="23" name="Text 21"/>
          <p:cNvSpPr txBox="1"/>
          <p:nvPr/>
        </p:nvSpPr>
        <p:spPr>
          <a:xfrm>
            <a:off x="685800" y="4498848"/>
            <a:ext cx="5852160" cy="256032"/>
          </a:xfrm>
          <a:prstGeom prst="rect">
            <a:avLst/>
          </a:prstGeom>
          <a:noFill/>
          <a:ln/>
        </p:spPr>
        <p:txBody>
          <a:bodyPr wrap="square" lIns="0" tIns="0" rIns="0" bIns="0" rtlCol="0" anchor="ctr"/>
          <a:lstStyle/>
          <a:p>
            <a:pPr indent="0" marL="0">
              <a:buNone/>
            </a:pPr>
            <a:r>
              <a:rPr lang="en-US" sz="1050" i="1" dirty="0">
                <a:solidFill>
                  <a:srgbClr val="757275"/>
                </a:solidFill>
                <a:latin typeface="Calibri" pitchFamily="34" charset="0"/>
                <a:ea typeface="Calibri" pitchFamily="34" charset="-122"/>
                <a:cs typeface="Calibri" pitchFamily="34" charset="-120"/>
              </a:rPr>
              <a:t>humano n = 5   ·   IA n = 31   ·   muestras muy dispares, no se contrasta</a:t>
            </a:r>
            <a:endParaRPr lang="en-US" sz="1050" dirty="0"/>
          </a:p>
        </p:txBody>
      </p:sp>
      <p:sp>
        <p:nvSpPr>
          <p:cNvPr id="24" name="Shape 22"/>
          <p:cNvSpPr/>
          <p:nvPr/>
        </p:nvSpPr>
        <p:spPr>
          <a:xfrm>
            <a:off x="6903720" y="1755648"/>
            <a:ext cx="4572000" cy="1645920"/>
          </a:xfrm>
          <a:prstGeom prst="roundRect">
            <a:avLst>
              <a:gd name="adj" fmla="val 6667"/>
            </a:avLst>
          </a:prstGeom>
          <a:solidFill>
            <a:srgbClr val="FDEDF9"/>
          </a:solidFill>
          <a:ln/>
        </p:spPr>
      </p:sp>
      <p:sp>
        <p:nvSpPr>
          <p:cNvPr id="25" name="Text 23"/>
          <p:cNvSpPr txBox="1"/>
          <p:nvPr/>
        </p:nvSpPr>
        <p:spPr>
          <a:xfrm>
            <a:off x="7251192" y="1938528"/>
            <a:ext cx="3931920" cy="274320"/>
          </a:xfrm>
          <a:prstGeom prst="rect">
            <a:avLst/>
          </a:prstGeom>
          <a:noFill/>
          <a:ln/>
        </p:spPr>
        <p:txBody>
          <a:bodyPr wrap="square" lIns="0" tIns="0" rIns="0" bIns="0" rtlCol="0" anchor="ctr"/>
          <a:lstStyle/>
          <a:p>
            <a:pPr indent="0" marL="0">
              <a:buNone/>
            </a:pPr>
            <a:r>
              <a:rPr lang="en-US" sz="1200" b="1" dirty="0">
                <a:solidFill>
                  <a:srgbClr val="4E2AAE"/>
                </a:solidFill>
                <a:latin typeface="Calibri" pitchFamily="34" charset="0"/>
                <a:ea typeface="Calibri" pitchFamily="34" charset="-122"/>
                <a:cs typeface="Calibri" pitchFamily="34" charset="-120"/>
              </a:rPr>
              <a:t>Lo que valida</a:t>
            </a:r>
            <a:endParaRPr lang="en-US" sz="1200" dirty="0"/>
          </a:p>
        </p:txBody>
      </p:sp>
      <p:sp>
        <p:nvSpPr>
          <p:cNvPr id="26" name="Text 24"/>
          <p:cNvSpPr txBox="1"/>
          <p:nvPr/>
        </p:nvSpPr>
        <p:spPr>
          <a:xfrm>
            <a:off x="7251192" y="2249424"/>
            <a:ext cx="3931920" cy="1005840"/>
          </a:xfrm>
          <a:prstGeom prst="rect">
            <a:avLst/>
          </a:prstGeom>
          <a:noFill/>
          <a:ln/>
        </p:spPr>
        <p:txBody>
          <a:bodyPr wrap="square" lIns="0" tIns="0" rIns="0" bIns="0" rtlCol="0" anchor="ctr"/>
          <a:lstStyle/>
          <a:p>
            <a:pPr indent="0" marL="0">
              <a:lnSpc>
                <a:spcPts val="1700"/>
              </a:lnSpc>
              <a:buNone/>
            </a:pPr>
            <a:r>
              <a:rPr lang="en-US" sz="1200" dirty="0">
                <a:solidFill>
                  <a:srgbClr val="202020"/>
                </a:solidFill>
                <a:latin typeface="Calibri" pitchFamily="34" charset="0"/>
                <a:ea typeface="Calibri" pitchFamily="34" charset="-122"/>
                <a:cs typeface="Calibri" pitchFamily="34" charset="-120"/>
              </a:rPr>
              <a:t>Ningún agente negocia descuentos más generosos que el otro. El argumento económico de automatizar no se debilita por la vía de la propuesta: cuando la IA llega a cerrar, cierra en condiciones equivalentes.</a:t>
            </a:r>
            <a:endParaRPr lang="en-US" sz="1200" dirty="0"/>
          </a:p>
        </p:txBody>
      </p:sp>
      <p:sp>
        <p:nvSpPr>
          <p:cNvPr id="27" name="Shape 25"/>
          <p:cNvSpPr/>
          <p:nvPr/>
        </p:nvSpPr>
        <p:spPr>
          <a:xfrm>
            <a:off x="6903720" y="3538728"/>
            <a:ext cx="4572000" cy="1508760"/>
          </a:xfrm>
          <a:prstGeom prst="roundRect">
            <a:avLst>
              <a:gd name="adj" fmla="val 7273"/>
            </a:avLst>
          </a:prstGeom>
          <a:solidFill>
            <a:srgbClr val="FFFFFF"/>
          </a:solidFill>
          <a:ln w="15875">
            <a:solidFill>
              <a:srgbClr val="C2410C"/>
            </a:solidFill>
            <a:prstDash val="solid"/>
          </a:ln>
        </p:spPr>
      </p:sp>
      <p:sp>
        <p:nvSpPr>
          <p:cNvPr id="28" name="Text 26"/>
          <p:cNvSpPr txBox="1"/>
          <p:nvPr/>
        </p:nvSpPr>
        <p:spPr>
          <a:xfrm>
            <a:off x="7251192" y="3703320"/>
            <a:ext cx="3931920" cy="274320"/>
          </a:xfrm>
          <a:prstGeom prst="rect">
            <a:avLst/>
          </a:prstGeom>
          <a:noFill/>
          <a:ln/>
        </p:spPr>
        <p:txBody>
          <a:bodyPr wrap="square" lIns="0" tIns="0" rIns="0" bIns="0" rtlCol="0" anchor="ctr"/>
          <a:lstStyle/>
          <a:p>
            <a:pPr indent="0" marL="0">
              <a:buNone/>
            </a:pPr>
            <a:r>
              <a:rPr lang="en-US" sz="1200" b="1" dirty="0">
                <a:solidFill>
                  <a:srgbClr val="C2410C"/>
                </a:solidFill>
                <a:latin typeface="Calibri" pitchFamily="34" charset="0"/>
                <a:ea typeface="Calibri" pitchFamily="34" charset="-122"/>
                <a:cs typeface="Calibri" pitchFamily="34" charset="-120"/>
              </a:rPr>
              <a:t>La honestidad del dato</a:t>
            </a:r>
            <a:endParaRPr lang="en-US" sz="1200" dirty="0"/>
          </a:p>
        </p:txBody>
      </p:sp>
      <p:sp>
        <p:nvSpPr>
          <p:cNvPr id="29" name="Text 27"/>
          <p:cNvSpPr txBox="1"/>
          <p:nvPr/>
        </p:nvSpPr>
        <p:spPr>
          <a:xfrm>
            <a:off x="7251192" y="4014216"/>
            <a:ext cx="3931920" cy="914400"/>
          </a:xfrm>
          <a:prstGeom prst="rect">
            <a:avLst/>
          </a:prstGeom>
          <a:noFill/>
          <a:ln/>
        </p:spPr>
        <p:txBody>
          <a:bodyPr wrap="square" lIns="0" tIns="0" rIns="0" bIns="0" rtlCol="0" anchor="ctr"/>
          <a:lstStyle/>
          <a:p>
            <a:pPr indent="0" marL="0">
              <a:lnSpc>
                <a:spcPts val="1600"/>
              </a:lnSpc>
              <a:buNone/>
            </a:pPr>
            <a:r>
              <a:rPr lang="en-US" sz="1150" dirty="0">
                <a:solidFill>
                  <a:srgbClr val="757275"/>
                </a:solidFill>
                <a:latin typeface="Calibri" pitchFamily="34" charset="0"/>
                <a:ea typeface="Calibri" pitchFamily="34" charset="-122"/>
                <a:cs typeface="Calibri" pitchFamily="34" charset="-120"/>
              </a:rPr>
              <a:t>Son 8 y 10 casos. Con esa muestra no se puede afirmar que sean iguales, solo que no hay evidencia de que sean distintos. Es una ausencia de diferencia, no una demostración de igualdad.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F26ECF"/>
                </a:solidFill>
                <a:latin typeface="Calibri" pitchFamily="34" charset="0"/>
                <a:ea typeface="Calibri" pitchFamily="34" charset="-122"/>
                <a:cs typeface="Calibri" pitchFamily="34" charset="-120"/>
              </a:rPr>
              <a:t>HALLAZGO 04 · CONDUCTA Y SENTIMIENTO</a:t>
            </a:r>
            <a:endParaRPr lang="en-US" sz="1100" dirty="0"/>
          </a:p>
        </p:txBody>
      </p:sp>
      <p:sp>
        <p:nvSpPr>
          <p:cNvPr id="3" name="Text 1"/>
          <p:cNvSpPr txBox="1"/>
          <p:nvPr/>
        </p:nvSpPr>
        <p:spPr>
          <a:xfrm>
            <a:off x="685800" y="676656"/>
            <a:ext cx="10789920" cy="749808"/>
          </a:xfrm>
          <a:prstGeom prst="rect">
            <a:avLst/>
          </a:prstGeom>
          <a:noFill/>
          <a:ln/>
        </p:spPr>
        <p:txBody>
          <a:bodyPr wrap="square" lIns="0" tIns="0" rIns="0" bIns="0" rtlCol="0" anchor="ctr"/>
          <a:lstStyle/>
          <a:p>
            <a:pPr indent="0" marL="0">
              <a:buNone/>
            </a:pPr>
            <a:r>
              <a:rPr lang="en-US" sz="3200" b="1" dirty="0">
                <a:solidFill>
                  <a:srgbClr val="202020"/>
                </a:solidFill>
                <a:latin typeface="Cambria" pitchFamily="34" charset="0"/>
                <a:ea typeface="Cambria" pitchFamily="34" charset="-122"/>
                <a:cs typeface="Cambria" pitchFamily="34" charset="-120"/>
              </a:rPr>
              <a:t>La IA sostiene el guion; el humano sostiene la conversación</a:t>
            </a:r>
            <a:endParaRPr lang="en-US" sz="3200" dirty="0"/>
          </a:p>
        </p:txBody>
      </p:sp>
      <p:sp>
        <p:nvSpPr>
          <p:cNvPr id="4" name="Text 2"/>
          <p:cNvSpPr txBox="1"/>
          <p:nvPr/>
        </p:nvSpPr>
        <p:spPr>
          <a:xfrm>
            <a:off x="685800" y="1572768"/>
            <a:ext cx="10789920" cy="457200"/>
          </a:xfrm>
          <a:prstGeom prst="rect">
            <a:avLst/>
          </a:prstGeom>
          <a:noFill/>
          <a:ln/>
        </p:spPr>
        <p:txBody>
          <a:bodyPr wrap="square" lIns="0" tIns="0" rIns="0" bIns="0" rtlCol="0" anchor="ctr"/>
          <a:lstStyle/>
          <a:p>
            <a:pPr indent="0" marL="0">
              <a:lnSpc>
                <a:spcPts val="1900"/>
              </a:lnSpc>
              <a:buNone/>
            </a:pPr>
            <a:r>
              <a:rPr lang="en-US" sz="1300" dirty="0">
                <a:solidFill>
                  <a:srgbClr val="757275"/>
                </a:solidFill>
                <a:latin typeface="Calibri" pitchFamily="34" charset="0"/>
                <a:ea typeface="Calibri" pitchFamily="34" charset="-122"/>
                <a:cs typeface="Calibri" pitchFamily="34" charset="-120"/>
              </a:rPr>
              <a:t>Estas métricas se calculan sobre los 100 audios crudos —no dependen de la transcripción ni del tipo de gestión—, así que ningún artefacto de composición las afecta.</a:t>
            </a:r>
            <a:endParaRPr lang="en-US" sz="1300" dirty="0"/>
          </a:p>
        </p:txBody>
      </p:sp>
      <p:sp>
        <p:nvSpPr>
          <p:cNvPr id="5" name="Text 3"/>
          <p:cNvSpPr txBox="1"/>
          <p:nvPr/>
        </p:nvSpPr>
        <p:spPr>
          <a:xfrm>
            <a:off x="5303520" y="2139696"/>
            <a:ext cx="1371600" cy="256032"/>
          </a:xfrm>
          <a:prstGeom prst="rect">
            <a:avLst/>
          </a:prstGeom>
          <a:noFill/>
          <a:ln/>
        </p:spPr>
        <p:txBody>
          <a:bodyPr wrap="square" lIns="0" tIns="0" rIns="0" bIns="0" rtlCol="0" anchor="ctr"/>
          <a:lstStyle/>
          <a:p>
            <a:pPr algn="ctr" indent="0" marL="0">
              <a:buNone/>
            </a:pPr>
            <a:r>
              <a:rPr lang="en-US" sz="1100" b="1" dirty="0">
                <a:solidFill>
                  <a:srgbClr val="4E2AAE"/>
                </a:solidFill>
                <a:latin typeface="Calibri" pitchFamily="34" charset="0"/>
                <a:ea typeface="Calibri" pitchFamily="34" charset="-122"/>
                <a:cs typeface="Calibri" pitchFamily="34" charset="-120"/>
              </a:rPr>
              <a:t>Humano</a:t>
            </a:r>
            <a:endParaRPr lang="en-US" sz="1100" dirty="0"/>
          </a:p>
        </p:txBody>
      </p:sp>
      <p:sp>
        <p:nvSpPr>
          <p:cNvPr id="6" name="Text 4"/>
          <p:cNvSpPr txBox="1"/>
          <p:nvPr/>
        </p:nvSpPr>
        <p:spPr>
          <a:xfrm>
            <a:off x="6720840" y="2139696"/>
            <a:ext cx="1371600" cy="256032"/>
          </a:xfrm>
          <a:prstGeom prst="rect">
            <a:avLst/>
          </a:prstGeom>
          <a:noFill/>
          <a:ln/>
        </p:spPr>
        <p:txBody>
          <a:bodyPr wrap="square" lIns="0" tIns="0" rIns="0" bIns="0" rtlCol="0" anchor="ctr"/>
          <a:lstStyle/>
          <a:p>
            <a:pPr algn="ctr" indent="0" marL="0">
              <a:buNone/>
            </a:pPr>
            <a:r>
              <a:rPr lang="en-US" sz="1100" b="1" dirty="0">
                <a:solidFill>
                  <a:srgbClr val="F26ECF"/>
                </a:solidFill>
                <a:latin typeface="Calibri" pitchFamily="34" charset="0"/>
                <a:ea typeface="Calibri" pitchFamily="34" charset="-122"/>
                <a:cs typeface="Calibri" pitchFamily="34" charset="-120"/>
              </a:rPr>
              <a:t>IA</a:t>
            </a:r>
            <a:endParaRPr lang="en-US" sz="1100" dirty="0"/>
          </a:p>
        </p:txBody>
      </p:sp>
      <p:sp>
        <p:nvSpPr>
          <p:cNvPr id="7" name="Shape 5"/>
          <p:cNvSpPr/>
          <p:nvPr/>
        </p:nvSpPr>
        <p:spPr>
          <a:xfrm>
            <a:off x="685800" y="2468880"/>
            <a:ext cx="8595360" cy="658368"/>
          </a:xfrm>
          <a:prstGeom prst="rect">
            <a:avLst/>
          </a:prstGeom>
          <a:solidFill>
            <a:srgbClr val="FAF8FC"/>
          </a:solidFill>
          <a:ln/>
        </p:spPr>
      </p:sp>
      <p:sp>
        <p:nvSpPr>
          <p:cNvPr id="8" name="Text 6"/>
          <p:cNvSpPr txBox="1"/>
          <p:nvPr/>
        </p:nvSpPr>
        <p:spPr>
          <a:xfrm>
            <a:off x="822960" y="2468880"/>
            <a:ext cx="4434840" cy="658368"/>
          </a:xfrm>
          <a:prstGeom prst="rect">
            <a:avLst/>
          </a:prstGeom>
          <a:noFill/>
          <a:ln/>
        </p:spPr>
        <p:txBody>
          <a:bodyPr wrap="square" lIns="0" tIns="0" rIns="0" bIns="0" rtlCol="0" anchor="ctr"/>
          <a:lstStyle/>
          <a:p>
            <a:pPr indent="0" marL="0">
              <a:buNone/>
            </a:pPr>
            <a:r>
              <a:rPr lang="en-US" sz="1250" dirty="0">
                <a:solidFill>
                  <a:srgbClr val="202020"/>
                </a:solidFill>
                <a:latin typeface="Calibri" pitchFamily="34" charset="0"/>
                <a:ea typeface="Calibri" pitchFamily="34" charset="-122"/>
                <a:cs typeface="Calibri" pitchFamily="34" charset="-120"/>
              </a:rPr>
              <a:t>Duración del turno de habla</a:t>
            </a:r>
            <a:endParaRPr lang="en-US" sz="1250" dirty="0"/>
          </a:p>
        </p:txBody>
      </p:sp>
      <p:sp>
        <p:nvSpPr>
          <p:cNvPr id="9" name="Text 7"/>
          <p:cNvSpPr txBox="1"/>
          <p:nvPr/>
        </p:nvSpPr>
        <p:spPr>
          <a:xfrm>
            <a:off x="5303520" y="2468880"/>
            <a:ext cx="1371600" cy="658368"/>
          </a:xfrm>
          <a:prstGeom prst="rect">
            <a:avLst/>
          </a:prstGeom>
          <a:noFill/>
          <a:ln/>
        </p:spPr>
        <p:txBody>
          <a:bodyPr wrap="square" lIns="0" tIns="0" rIns="0" bIns="0" rtlCol="0" anchor="ctr"/>
          <a:lstStyle/>
          <a:p>
            <a:pPr algn="ctr" indent="0" marL="0">
              <a:buNone/>
            </a:pPr>
            <a:r>
              <a:rPr lang="en-US" sz="1500" b="1" dirty="0">
                <a:solidFill>
                  <a:srgbClr val="4E2AAE"/>
                </a:solidFill>
                <a:latin typeface="Calibri" pitchFamily="34" charset="0"/>
                <a:ea typeface="Calibri" pitchFamily="34" charset="-122"/>
                <a:cs typeface="Calibri" pitchFamily="34" charset="-120"/>
              </a:rPr>
              <a:t>0.59 s</a:t>
            </a:r>
            <a:endParaRPr lang="en-US" sz="1500" dirty="0"/>
          </a:p>
        </p:txBody>
      </p:sp>
      <p:sp>
        <p:nvSpPr>
          <p:cNvPr id="10" name="Text 8"/>
          <p:cNvSpPr txBox="1"/>
          <p:nvPr/>
        </p:nvSpPr>
        <p:spPr>
          <a:xfrm>
            <a:off x="6720840" y="2468880"/>
            <a:ext cx="1371600" cy="658368"/>
          </a:xfrm>
          <a:prstGeom prst="rect">
            <a:avLst/>
          </a:prstGeom>
          <a:noFill/>
          <a:ln/>
        </p:spPr>
        <p:txBody>
          <a:bodyPr wrap="square" lIns="0" tIns="0" rIns="0" bIns="0" rtlCol="0" anchor="ctr"/>
          <a:lstStyle/>
          <a:p>
            <a:pPr algn="ctr" indent="0" marL="0">
              <a:buNone/>
            </a:pPr>
            <a:r>
              <a:rPr lang="en-US" sz="1500" b="1" dirty="0">
                <a:solidFill>
                  <a:srgbClr val="F26ECF"/>
                </a:solidFill>
                <a:latin typeface="Calibri" pitchFamily="34" charset="0"/>
                <a:ea typeface="Calibri" pitchFamily="34" charset="-122"/>
                <a:cs typeface="Calibri" pitchFamily="34" charset="-120"/>
              </a:rPr>
              <a:t>0.78 s</a:t>
            </a:r>
            <a:endParaRPr lang="en-US" sz="1500" dirty="0"/>
          </a:p>
        </p:txBody>
      </p:sp>
      <p:sp>
        <p:nvSpPr>
          <p:cNvPr id="11" name="Text 9"/>
          <p:cNvSpPr txBox="1"/>
          <p:nvPr/>
        </p:nvSpPr>
        <p:spPr>
          <a:xfrm>
            <a:off x="8183880" y="2468880"/>
            <a:ext cx="1097280" cy="658368"/>
          </a:xfrm>
          <a:prstGeom prst="rect">
            <a:avLst/>
          </a:prstGeom>
          <a:noFill/>
          <a:ln/>
        </p:spPr>
        <p:txBody>
          <a:bodyPr wrap="square" lIns="0" tIns="0" rIns="0" bIns="0" rtlCol="0" anchor="ctr"/>
          <a:lstStyle/>
          <a:p>
            <a:pPr indent="0" marL="0">
              <a:buNone/>
            </a:pPr>
            <a:r>
              <a:rPr lang="en-US" sz="1000" i="1" dirty="0">
                <a:solidFill>
                  <a:srgbClr val="757275"/>
                </a:solidFill>
                <a:latin typeface="Calibri" pitchFamily="34" charset="0"/>
                <a:ea typeface="Calibri" pitchFamily="34" charset="-122"/>
                <a:cs typeface="Calibri" pitchFamily="34" charset="-120"/>
              </a:rPr>
              <a:t>p &lt; 0.0001</a:t>
            </a:r>
            <a:endParaRPr lang="en-US" sz="1000" dirty="0"/>
          </a:p>
        </p:txBody>
      </p:sp>
      <p:sp>
        <p:nvSpPr>
          <p:cNvPr id="12" name="Text 10"/>
          <p:cNvSpPr txBox="1"/>
          <p:nvPr/>
        </p:nvSpPr>
        <p:spPr>
          <a:xfrm>
            <a:off x="822960" y="3127248"/>
            <a:ext cx="4434840" cy="658368"/>
          </a:xfrm>
          <a:prstGeom prst="rect">
            <a:avLst/>
          </a:prstGeom>
          <a:noFill/>
          <a:ln/>
        </p:spPr>
        <p:txBody>
          <a:bodyPr wrap="square" lIns="0" tIns="0" rIns="0" bIns="0" rtlCol="0" anchor="ctr"/>
          <a:lstStyle/>
          <a:p>
            <a:pPr indent="0" marL="0">
              <a:buNone/>
            </a:pPr>
            <a:r>
              <a:rPr lang="en-US" sz="1250" dirty="0">
                <a:solidFill>
                  <a:srgbClr val="202020"/>
                </a:solidFill>
                <a:latin typeface="Calibri" pitchFamily="34" charset="0"/>
                <a:ea typeface="Calibri" pitchFamily="34" charset="-122"/>
                <a:cs typeface="Calibri" pitchFamily="34" charset="-120"/>
              </a:rPr>
              <a:t>Turnos por minuto</a:t>
            </a:r>
            <a:endParaRPr lang="en-US" sz="1250" dirty="0"/>
          </a:p>
        </p:txBody>
      </p:sp>
      <p:sp>
        <p:nvSpPr>
          <p:cNvPr id="13" name="Text 11"/>
          <p:cNvSpPr txBox="1"/>
          <p:nvPr/>
        </p:nvSpPr>
        <p:spPr>
          <a:xfrm>
            <a:off x="5303520" y="3127248"/>
            <a:ext cx="1371600" cy="658368"/>
          </a:xfrm>
          <a:prstGeom prst="rect">
            <a:avLst/>
          </a:prstGeom>
          <a:noFill/>
          <a:ln/>
        </p:spPr>
        <p:txBody>
          <a:bodyPr wrap="square" lIns="0" tIns="0" rIns="0" bIns="0" rtlCol="0" anchor="ctr"/>
          <a:lstStyle/>
          <a:p>
            <a:pPr algn="ctr" indent="0" marL="0">
              <a:buNone/>
            </a:pPr>
            <a:r>
              <a:rPr lang="en-US" sz="1500" b="1" dirty="0">
                <a:solidFill>
                  <a:srgbClr val="4E2AAE"/>
                </a:solidFill>
                <a:latin typeface="Calibri" pitchFamily="34" charset="0"/>
                <a:ea typeface="Calibri" pitchFamily="34" charset="-122"/>
                <a:cs typeface="Calibri" pitchFamily="34" charset="-120"/>
              </a:rPr>
              <a:t>43.3</a:t>
            </a:r>
            <a:endParaRPr lang="en-US" sz="1500" dirty="0"/>
          </a:p>
        </p:txBody>
      </p:sp>
      <p:sp>
        <p:nvSpPr>
          <p:cNvPr id="14" name="Text 12"/>
          <p:cNvSpPr txBox="1"/>
          <p:nvPr/>
        </p:nvSpPr>
        <p:spPr>
          <a:xfrm>
            <a:off x="6720840" y="3127248"/>
            <a:ext cx="1371600" cy="658368"/>
          </a:xfrm>
          <a:prstGeom prst="rect">
            <a:avLst/>
          </a:prstGeom>
          <a:noFill/>
          <a:ln/>
        </p:spPr>
        <p:txBody>
          <a:bodyPr wrap="square" lIns="0" tIns="0" rIns="0" bIns="0" rtlCol="0" anchor="ctr"/>
          <a:lstStyle/>
          <a:p>
            <a:pPr algn="ctr" indent="0" marL="0">
              <a:buNone/>
            </a:pPr>
            <a:r>
              <a:rPr lang="en-US" sz="1500" b="1" dirty="0">
                <a:solidFill>
                  <a:srgbClr val="F26ECF"/>
                </a:solidFill>
                <a:latin typeface="Calibri" pitchFamily="34" charset="0"/>
                <a:ea typeface="Calibri" pitchFamily="34" charset="-122"/>
                <a:cs typeface="Calibri" pitchFamily="34" charset="-120"/>
              </a:rPr>
              <a:t>38.6</a:t>
            </a:r>
            <a:endParaRPr lang="en-US" sz="1500" dirty="0"/>
          </a:p>
        </p:txBody>
      </p:sp>
      <p:sp>
        <p:nvSpPr>
          <p:cNvPr id="15" name="Text 13"/>
          <p:cNvSpPr txBox="1"/>
          <p:nvPr/>
        </p:nvSpPr>
        <p:spPr>
          <a:xfrm>
            <a:off x="8183880" y="3127248"/>
            <a:ext cx="1097280" cy="658368"/>
          </a:xfrm>
          <a:prstGeom prst="rect">
            <a:avLst/>
          </a:prstGeom>
          <a:noFill/>
          <a:ln/>
        </p:spPr>
        <p:txBody>
          <a:bodyPr wrap="square" lIns="0" tIns="0" rIns="0" bIns="0" rtlCol="0" anchor="ctr"/>
          <a:lstStyle/>
          <a:p>
            <a:pPr indent="0" marL="0">
              <a:buNone/>
            </a:pPr>
            <a:r>
              <a:rPr lang="en-US" sz="1000" i="1" dirty="0">
                <a:solidFill>
                  <a:srgbClr val="757275"/>
                </a:solidFill>
                <a:latin typeface="Calibri" pitchFamily="34" charset="0"/>
                <a:ea typeface="Calibri" pitchFamily="34" charset="-122"/>
                <a:cs typeface="Calibri" pitchFamily="34" charset="-120"/>
              </a:rPr>
              <a:t>p = 0.009</a:t>
            </a:r>
            <a:endParaRPr lang="en-US" sz="1000" dirty="0"/>
          </a:p>
        </p:txBody>
      </p:sp>
      <p:sp>
        <p:nvSpPr>
          <p:cNvPr id="16" name="Shape 14"/>
          <p:cNvSpPr/>
          <p:nvPr/>
        </p:nvSpPr>
        <p:spPr>
          <a:xfrm>
            <a:off x="685800" y="3785616"/>
            <a:ext cx="8595360" cy="658368"/>
          </a:xfrm>
          <a:prstGeom prst="rect">
            <a:avLst/>
          </a:prstGeom>
          <a:solidFill>
            <a:srgbClr val="FAF8FC"/>
          </a:solidFill>
          <a:ln/>
        </p:spPr>
      </p:sp>
      <p:sp>
        <p:nvSpPr>
          <p:cNvPr id="17" name="Text 15"/>
          <p:cNvSpPr txBox="1"/>
          <p:nvPr/>
        </p:nvSpPr>
        <p:spPr>
          <a:xfrm>
            <a:off x="822960" y="3785616"/>
            <a:ext cx="4434840" cy="658368"/>
          </a:xfrm>
          <a:prstGeom prst="rect">
            <a:avLst/>
          </a:prstGeom>
          <a:noFill/>
          <a:ln/>
        </p:spPr>
        <p:txBody>
          <a:bodyPr wrap="square" lIns="0" tIns="0" rIns="0" bIns="0" rtlCol="0" anchor="ctr"/>
          <a:lstStyle/>
          <a:p>
            <a:pPr indent="0" marL="0">
              <a:buNone/>
            </a:pPr>
            <a:r>
              <a:rPr lang="en-US" sz="1250" dirty="0">
                <a:solidFill>
                  <a:srgbClr val="202020"/>
                </a:solidFill>
                <a:latin typeface="Calibri" pitchFamily="34" charset="0"/>
                <a:ea typeface="Calibri" pitchFamily="34" charset="-122"/>
                <a:cs typeface="Calibri" pitchFamily="34" charset="-120"/>
              </a:rPr>
              <a:t>Habla solapada (interrumpe)</a:t>
            </a:r>
            <a:endParaRPr lang="en-US" sz="1250" dirty="0"/>
          </a:p>
        </p:txBody>
      </p:sp>
      <p:sp>
        <p:nvSpPr>
          <p:cNvPr id="18" name="Text 16"/>
          <p:cNvSpPr txBox="1"/>
          <p:nvPr/>
        </p:nvSpPr>
        <p:spPr>
          <a:xfrm>
            <a:off x="5303520" y="3785616"/>
            <a:ext cx="1371600" cy="658368"/>
          </a:xfrm>
          <a:prstGeom prst="rect">
            <a:avLst/>
          </a:prstGeom>
          <a:noFill/>
          <a:ln/>
        </p:spPr>
        <p:txBody>
          <a:bodyPr wrap="square" lIns="0" tIns="0" rIns="0" bIns="0" rtlCol="0" anchor="ctr"/>
          <a:lstStyle/>
          <a:p>
            <a:pPr algn="ctr" indent="0" marL="0">
              <a:buNone/>
            </a:pPr>
            <a:r>
              <a:rPr lang="en-US" sz="1500" b="1" dirty="0">
                <a:solidFill>
                  <a:srgbClr val="4E2AAE"/>
                </a:solidFill>
                <a:latin typeface="Calibri" pitchFamily="34" charset="0"/>
                <a:ea typeface="Calibri" pitchFamily="34" charset="-122"/>
                <a:cs typeface="Calibri" pitchFamily="34" charset="-120"/>
              </a:rPr>
              <a:t>11.4 %</a:t>
            </a:r>
            <a:endParaRPr lang="en-US" sz="1500" dirty="0"/>
          </a:p>
        </p:txBody>
      </p:sp>
      <p:sp>
        <p:nvSpPr>
          <p:cNvPr id="19" name="Text 17"/>
          <p:cNvSpPr txBox="1"/>
          <p:nvPr/>
        </p:nvSpPr>
        <p:spPr>
          <a:xfrm>
            <a:off x="6720840" y="3785616"/>
            <a:ext cx="1371600" cy="658368"/>
          </a:xfrm>
          <a:prstGeom prst="rect">
            <a:avLst/>
          </a:prstGeom>
          <a:noFill/>
          <a:ln/>
        </p:spPr>
        <p:txBody>
          <a:bodyPr wrap="square" lIns="0" tIns="0" rIns="0" bIns="0" rtlCol="0" anchor="ctr"/>
          <a:lstStyle/>
          <a:p>
            <a:pPr algn="ctr" indent="0" marL="0">
              <a:buNone/>
            </a:pPr>
            <a:r>
              <a:rPr lang="en-US" sz="1500" b="1" dirty="0">
                <a:solidFill>
                  <a:srgbClr val="F26ECF"/>
                </a:solidFill>
                <a:latin typeface="Calibri" pitchFamily="34" charset="0"/>
                <a:ea typeface="Calibri" pitchFamily="34" charset="-122"/>
                <a:cs typeface="Calibri" pitchFamily="34" charset="-120"/>
              </a:rPr>
              <a:t>7.3 %</a:t>
            </a:r>
            <a:endParaRPr lang="en-US" sz="1500" dirty="0"/>
          </a:p>
        </p:txBody>
      </p:sp>
      <p:sp>
        <p:nvSpPr>
          <p:cNvPr id="20" name="Text 18"/>
          <p:cNvSpPr txBox="1"/>
          <p:nvPr/>
        </p:nvSpPr>
        <p:spPr>
          <a:xfrm>
            <a:off x="8183880" y="3785616"/>
            <a:ext cx="1097280" cy="658368"/>
          </a:xfrm>
          <a:prstGeom prst="rect">
            <a:avLst/>
          </a:prstGeom>
          <a:noFill/>
          <a:ln/>
        </p:spPr>
        <p:txBody>
          <a:bodyPr wrap="square" lIns="0" tIns="0" rIns="0" bIns="0" rtlCol="0" anchor="ctr"/>
          <a:lstStyle/>
          <a:p>
            <a:pPr indent="0" marL="0">
              <a:buNone/>
            </a:pPr>
            <a:r>
              <a:rPr lang="en-US" sz="1000" i="1" dirty="0">
                <a:solidFill>
                  <a:srgbClr val="757275"/>
                </a:solidFill>
                <a:latin typeface="Calibri" pitchFamily="34" charset="0"/>
                <a:ea typeface="Calibri" pitchFamily="34" charset="-122"/>
                <a:cs typeface="Calibri" pitchFamily="34" charset="-120"/>
              </a:rPr>
              <a:t>p &lt; 0.0001</a:t>
            </a:r>
            <a:endParaRPr lang="en-US" sz="1000" dirty="0"/>
          </a:p>
        </p:txBody>
      </p:sp>
      <p:sp>
        <p:nvSpPr>
          <p:cNvPr id="21" name="Text 19"/>
          <p:cNvSpPr txBox="1"/>
          <p:nvPr/>
        </p:nvSpPr>
        <p:spPr>
          <a:xfrm>
            <a:off x="822960" y="4443984"/>
            <a:ext cx="4434840" cy="658368"/>
          </a:xfrm>
          <a:prstGeom prst="rect">
            <a:avLst/>
          </a:prstGeom>
          <a:noFill/>
          <a:ln/>
        </p:spPr>
        <p:txBody>
          <a:bodyPr wrap="square" lIns="0" tIns="0" rIns="0" bIns="0" rtlCol="0" anchor="ctr"/>
          <a:lstStyle/>
          <a:p>
            <a:pPr indent="0" marL="0">
              <a:buNone/>
            </a:pPr>
            <a:r>
              <a:rPr lang="en-US" sz="1250" dirty="0">
                <a:solidFill>
                  <a:srgbClr val="202020"/>
                </a:solidFill>
                <a:latin typeface="Calibri" pitchFamily="34" charset="0"/>
                <a:ea typeface="Calibri" pitchFamily="34" charset="-122"/>
                <a:cs typeface="Calibri" pitchFamily="34" charset="-120"/>
              </a:rPr>
              <a:t>Tiempo de la llamada con voz</a:t>
            </a:r>
            <a:endParaRPr lang="en-US" sz="1250" dirty="0"/>
          </a:p>
        </p:txBody>
      </p:sp>
      <p:sp>
        <p:nvSpPr>
          <p:cNvPr id="22" name="Text 20"/>
          <p:cNvSpPr txBox="1"/>
          <p:nvPr/>
        </p:nvSpPr>
        <p:spPr>
          <a:xfrm>
            <a:off x="5303520" y="4443984"/>
            <a:ext cx="1371600" cy="658368"/>
          </a:xfrm>
          <a:prstGeom prst="rect">
            <a:avLst/>
          </a:prstGeom>
          <a:noFill/>
          <a:ln/>
        </p:spPr>
        <p:txBody>
          <a:bodyPr wrap="square" lIns="0" tIns="0" rIns="0" bIns="0" rtlCol="0" anchor="ctr"/>
          <a:lstStyle/>
          <a:p>
            <a:pPr algn="ctr" indent="0" marL="0">
              <a:buNone/>
            </a:pPr>
            <a:r>
              <a:rPr lang="en-US" sz="1500" b="1" dirty="0">
                <a:solidFill>
                  <a:srgbClr val="4E2AAE"/>
                </a:solidFill>
                <a:latin typeface="Calibri" pitchFamily="34" charset="0"/>
                <a:ea typeface="Calibri" pitchFamily="34" charset="-122"/>
                <a:cs typeface="Calibri" pitchFamily="34" charset="-120"/>
              </a:rPr>
              <a:t>76.9 %</a:t>
            </a:r>
            <a:endParaRPr lang="en-US" sz="1500" dirty="0"/>
          </a:p>
        </p:txBody>
      </p:sp>
      <p:sp>
        <p:nvSpPr>
          <p:cNvPr id="23" name="Text 21"/>
          <p:cNvSpPr txBox="1"/>
          <p:nvPr/>
        </p:nvSpPr>
        <p:spPr>
          <a:xfrm>
            <a:off x="6720840" y="4443984"/>
            <a:ext cx="1371600" cy="658368"/>
          </a:xfrm>
          <a:prstGeom prst="rect">
            <a:avLst/>
          </a:prstGeom>
          <a:noFill/>
          <a:ln/>
        </p:spPr>
        <p:txBody>
          <a:bodyPr wrap="square" lIns="0" tIns="0" rIns="0" bIns="0" rtlCol="0" anchor="ctr"/>
          <a:lstStyle/>
          <a:p>
            <a:pPr algn="ctr" indent="0" marL="0">
              <a:buNone/>
            </a:pPr>
            <a:r>
              <a:rPr lang="en-US" sz="1500" b="1" dirty="0">
                <a:solidFill>
                  <a:srgbClr val="F26ECF"/>
                </a:solidFill>
                <a:latin typeface="Calibri" pitchFamily="34" charset="0"/>
                <a:ea typeface="Calibri" pitchFamily="34" charset="-122"/>
                <a:cs typeface="Calibri" pitchFamily="34" charset="-120"/>
              </a:rPr>
              <a:t>68.0 %</a:t>
            </a:r>
            <a:endParaRPr lang="en-US" sz="1500" dirty="0"/>
          </a:p>
        </p:txBody>
      </p:sp>
      <p:sp>
        <p:nvSpPr>
          <p:cNvPr id="24" name="Text 22"/>
          <p:cNvSpPr txBox="1"/>
          <p:nvPr/>
        </p:nvSpPr>
        <p:spPr>
          <a:xfrm>
            <a:off x="8183880" y="4443984"/>
            <a:ext cx="1097280" cy="658368"/>
          </a:xfrm>
          <a:prstGeom prst="rect">
            <a:avLst/>
          </a:prstGeom>
          <a:noFill/>
          <a:ln/>
        </p:spPr>
        <p:txBody>
          <a:bodyPr wrap="square" lIns="0" tIns="0" rIns="0" bIns="0" rtlCol="0" anchor="ctr"/>
          <a:lstStyle/>
          <a:p>
            <a:pPr indent="0" marL="0">
              <a:buNone/>
            </a:pPr>
            <a:r>
              <a:rPr lang="en-US" sz="1000" i="1" dirty="0">
                <a:solidFill>
                  <a:srgbClr val="757275"/>
                </a:solidFill>
                <a:latin typeface="Calibri" pitchFamily="34" charset="0"/>
                <a:ea typeface="Calibri" pitchFamily="34" charset="-122"/>
                <a:cs typeface="Calibri" pitchFamily="34" charset="-120"/>
              </a:rPr>
              <a:t>p &lt; 0.0001</a:t>
            </a:r>
            <a:endParaRPr lang="en-US" sz="1000" dirty="0"/>
          </a:p>
        </p:txBody>
      </p:sp>
      <p:sp>
        <p:nvSpPr>
          <p:cNvPr id="25" name="Shape 23"/>
          <p:cNvSpPr/>
          <p:nvPr/>
        </p:nvSpPr>
        <p:spPr>
          <a:xfrm>
            <a:off x="9464040" y="2121408"/>
            <a:ext cx="2011680" cy="1463040"/>
          </a:xfrm>
          <a:prstGeom prst="roundRect">
            <a:avLst>
              <a:gd name="adj" fmla="val 7500"/>
            </a:avLst>
          </a:prstGeom>
          <a:solidFill>
            <a:srgbClr val="FDEDF9"/>
          </a:solidFill>
          <a:ln/>
        </p:spPr>
      </p:sp>
      <p:sp>
        <p:nvSpPr>
          <p:cNvPr id="26" name="Text 24"/>
          <p:cNvSpPr txBox="1"/>
          <p:nvPr/>
        </p:nvSpPr>
        <p:spPr>
          <a:xfrm>
            <a:off x="9692640" y="2286000"/>
            <a:ext cx="1645920" cy="411480"/>
          </a:xfrm>
          <a:prstGeom prst="rect">
            <a:avLst/>
          </a:prstGeom>
          <a:noFill/>
          <a:ln/>
        </p:spPr>
        <p:txBody>
          <a:bodyPr wrap="square" lIns="0" tIns="0" rIns="0" bIns="0" rtlCol="0" anchor="ctr"/>
          <a:lstStyle/>
          <a:p>
            <a:pPr indent="0" marL="0">
              <a:buNone/>
            </a:pPr>
            <a:r>
              <a:rPr lang="en-US" sz="2400" b="1" dirty="0">
                <a:solidFill>
                  <a:srgbClr val="4E2AAE"/>
                </a:solidFill>
                <a:latin typeface="Calibri" pitchFamily="34" charset="0"/>
                <a:ea typeface="Calibri" pitchFamily="34" charset="-122"/>
                <a:cs typeface="Calibri" pitchFamily="34" charset="-120"/>
              </a:rPr>
              <a:t>68 %</a:t>
            </a:r>
            <a:endParaRPr lang="en-US" sz="2400" dirty="0"/>
          </a:p>
        </p:txBody>
      </p:sp>
      <p:sp>
        <p:nvSpPr>
          <p:cNvPr id="27" name="Text 25"/>
          <p:cNvSpPr txBox="1"/>
          <p:nvPr/>
        </p:nvSpPr>
        <p:spPr>
          <a:xfrm>
            <a:off x="9692640" y="2670048"/>
            <a:ext cx="1645920" cy="274320"/>
          </a:xfrm>
          <a:prstGeom prst="rect">
            <a:avLst/>
          </a:prstGeom>
          <a:noFill/>
          <a:ln/>
        </p:spPr>
        <p:txBody>
          <a:bodyPr wrap="square" lIns="0" tIns="0" rIns="0" bIns="0" rtlCol="0" anchor="ctr"/>
          <a:lstStyle/>
          <a:p>
            <a:pPr indent="0" marL="0">
              <a:buNone/>
            </a:pPr>
            <a:r>
              <a:rPr lang="en-US" sz="1400" b="1" dirty="0">
                <a:solidFill>
                  <a:srgbClr val="F26ECF"/>
                </a:solidFill>
                <a:latin typeface="Calibri" pitchFamily="34" charset="0"/>
                <a:ea typeface="Calibri" pitchFamily="34" charset="-122"/>
                <a:cs typeface="Calibri" pitchFamily="34" charset="-120"/>
              </a:rPr>
              <a:t>vs 35 %</a:t>
            </a:r>
            <a:endParaRPr lang="en-US" sz="1400" dirty="0"/>
          </a:p>
        </p:txBody>
      </p:sp>
      <p:sp>
        <p:nvSpPr>
          <p:cNvPr id="28" name="Text 26"/>
          <p:cNvSpPr txBox="1"/>
          <p:nvPr/>
        </p:nvSpPr>
        <p:spPr>
          <a:xfrm>
            <a:off x="9692640" y="2944368"/>
            <a:ext cx="1645920" cy="548640"/>
          </a:xfrm>
          <a:prstGeom prst="rect">
            <a:avLst/>
          </a:prstGeom>
          <a:noFill/>
          <a:ln/>
        </p:spPr>
        <p:txBody>
          <a:bodyPr wrap="square" lIns="0" tIns="0" rIns="0" bIns="0" rtlCol="0" anchor="ctr"/>
          <a:lstStyle/>
          <a:p>
            <a:pPr indent="0" marL="0">
              <a:lnSpc>
                <a:spcPts val="1300"/>
              </a:lnSpc>
              <a:buNone/>
            </a:pPr>
            <a:r>
              <a:rPr lang="en-US" sz="1000" dirty="0">
                <a:solidFill>
                  <a:srgbClr val="757275"/>
                </a:solidFill>
                <a:latin typeface="Calibri" pitchFamily="34" charset="0"/>
                <a:ea typeface="Calibri" pitchFamily="34" charset="-122"/>
                <a:cs typeface="Calibri" pitchFamily="34" charset="-120"/>
              </a:rPr>
              <a:t>el agente se adapta a lo que dice el cliente</a:t>
            </a:r>
            <a:endParaRPr lang="en-US" sz="1000" dirty="0"/>
          </a:p>
        </p:txBody>
      </p:sp>
      <p:sp>
        <p:nvSpPr>
          <p:cNvPr id="29" name="Shape 27"/>
          <p:cNvSpPr/>
          <p:nvPr/>
        </p:nvSpPr>
        <p:spPr>
          <a:xfrm>
            <a:off x="9464040" y="3721608"/>
            <a:ext cx="2011680" cy="1463040"/>
          </a:xfrm>
          <a:prstGeom prst="roundRect">
            <a:avLst>
              <a:gd name="adj" fmla="val 7500"/>
            </a:avLst>
          </a:prstGeom>
          <a:solidFill>
            <a:srgbClr val="FFFFFF"/>
          </a:solidFill>
          <a:ln w="12700">
            <a:solidFill>
              <a:srgbClr val="E9E4EF"/>
            </a:solidFill>
            <a:prstDash val="solid"/>
          </a:ln>
        </p:spPr>
      </p:sp>
      <p:sp>
        <p:nvSpPr>
          <p:cNvPr id="30" name="Text 28"/>
          <p:cNvSpPr txBox="1"/>
          <p:nvPr/>
        </p:nvSpPr>
        <p:spPr>
          <a:xfrm>
            <a:off x="9692640" y="3886200"/>
            <a:ext cx="1645920" cy="411480"/>
          </a:xfrm>
          <a:prstGeom prst="rect">
            <a:avLst/>
          </a:prstGeom>
          <a:noFill/>
          <a:ln/>
        </p:spPr>
        <p:txBody>
          <a:bodyPr wrap="square" lIns="0" tIns="0" rIns="0" bIns="0" rtlCol="0" anchor="ctr"/>
          <a:lstStyle/>
          <a:p>
            <a:pPr indent="0" marL="0">
              <a:buNone/>
            </a:pPr>
            <a:r>
              <a:rPr lang="en-US" sz="2400" b="1" dirty="0">
                <a:solidFill>
                  <a:srgbClr val="C2410C"/>
                </a:solidFill>
                <a:latin typeface="Calibri" pitchFamily="34" charset="0"/>
                <a:ea typeface="Calibri" pitchFamily="34" charset="-122"/>
                <a:cs typeface="Calibri" pitchFamily="34" charset="-120"/>
              </a:rPr>
              <a:t>3×</a:t>
            </a:r>
            <a:endParaRPr lang="en-US" sz="2400" dirty="0"/>
          </a:p>
        </p:txBody>
      </p:sp>
      <p:sp>
        <p:nvSpPr>
          <p:cNvPr id="31" name="Text 29"/>
          <p:cNvSpPr txBox="1"/>
          <p:nvPr/>
        </p:nvSpPr>
        <p:spPr>
          <a:xfrm>
            <a:off x="9692640" y="4297680"/>
            <a:ext cx="1645920" cy="685800"/>
          </a:xfrm>
          <a:prstGeom prst="rect">
            <a:avLst/>
          </a:prstGeom>
          <a:noFill/>
          <a:ln/>
        </p:spPr>
        <p:txBody>
          <a:bodyPr wrap="square" lIns="0" tIns="0" rIns="0" bIns="0" rtlCol="0" anchor="ctr"/>
          <a:lstStyle/>
          <a:p>
            <a:pPr indent="0" marL="0">
              <a:lnSpc>
                <a:spcPts val="1300"/>
              </a:lnSpc>
              <a:buNone/>
            </a:pPr>
            <a:r>
              <a:rPr lang="en-US" sz="1000" dirty="0">
                <a:solidFill>
                  <a:srgbClr val="757275"/>
                </a:solidFill>
                <a:latin typeface="Calibri" pitchFamily="34" charset="0"/>
                <a:ea typeface="Calibri" pitchFamily="34" charset="-122"/>
                <a:cs typeface="Calibri" pitchFamily="34" charset="-120"/>
              </a:rPr>
              <a:t>más seguido empeora el tono del cliente con la IA</a:t>
            </a:r>
            <a:endParaRPr lang="en-US" sz="1000" dirty="0"/>
          </a:p>
        </p:txBody>
      </p:sp>
      <p:sp>
        <p:nvSpPr>
          <p:cNvPr id="32" name="Shape 30"/>
          <p:cNvSpPr/>
          <p:nvPr/>
        </p:nvSpPr>
        <p:spPr>
          <a:xfrm>
            <a:off x="685800" y="5184648"/>
            <a:ext cx="8595360" cy="777240"/>
          </a:xfrm>
          <a:prstGeom prst="roundRect">
            <a:avLst>
              <a:gd name="adj" fmla="val 11765"/>
            </a:avLst>
          </a:prstGeom>
          <a:solidFill>
            <a:srgbClr val="4E2AAE"/>
          </a:solidFill>
          <a:ln/>
        </p:spPr>
      </p:sp>
      <p:sp>
        <p:nvSpPr>
          <p:cNvPr id="33" name="Text 31"/>
          <p:cNvSpPr txBox="1"/>
          <p:nvPr/>
        </p:nvSpPr>
        <p:spPr>
          <a:xfrm>
            <a:off x="1005840" y="5321808"/>
            <a:ext cx="8046720" cy="5029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Consistente pero rígida: la IA nunca se sale del guion — lo que la hace predecible, y también incapaz de improvisar ante una objeción.</a:t>
            </a:r>
            <a:endParaRPr lang="en-US" sz="1250" dirty="0"/>
          </a:p>
        </p:txBody>
      </p:sp>
      <p:sp>
        <p:nvSpPr>
          <p:cNvPr id="34" name="Text 32"/>
          <p:cNvSpPr txBox="1"/>
          <p:nvPr/>
        </p:nvSpPr>
        <p:spPr>
          <a:xfrm>
            <a:off x="685800" y="6327648"/>
            <a:ext cx="10789920" cy="274320"/>
          </a:xfrm>
          <a:prstGeom prst="rect">
            <a:avLst/>
          </a:prstGeom>
          <a:noFill/>
          <a:ln/>
        </p:spPr>
        <p:txBody>
          <a:bodyPr wrap="square" lIns="0" tIns="0" rIns="0" bIns="0" rtlCol="0" anchor="ctr"/>
          <a:lstStyle/>
          <a:p>
            <a:pPr indent="0" marL="0">
              <a:buNone/>
            </a:pPr>
            <a:r>
              <a:rPr lang="en-US" sz="950" i="1" dirty="0">
                <a:solidFill>
                  <a:srgbClr val="757275"/>
                </a:solidFill>
                <a:latin typeface="Calibri" pitchFamily="34" charset="0"/>
                <a:ea typeface="Calibri" pitchFamily="34" charset="-122"/>
                <a:cs typeface="Calibri" pitchFamily="34" charset="-120"/>
              </a:rPr>
              <a:t>La capa de sentimiento (68 % / 35 % y el cambio de tono) es exploratoria: menor rigor que las capas 1 a 4, a propósito.</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4E2AAE"/>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F9BCE8"/>
                </a:solidFill>
                <a:latin typeface="Calibri" pitchFamily="34" charset="0"/>
                <a:ea typeface="Calibri" pitchFamily="34" charset="-122"/>
                <a:cs typeface="Calibri" pitchFamily="34" charset="-120"/>
              </a:rPr>
              <a:t>ITERACIÓN</a:t>
            </a:r>
            <a:endParaRPr lang="en-US" sz="1100" dirty="0"/>
          </a:p>
        </p:txBody>
      </p:sp>
      <p:sp>
        <p:nvSpPr>
          <p:cNvPr id="3" name="Text 1"/>
          <p:cNvSpPr txBox="1"/>
          <p:nvPr/>
        </p:nvSpPr>
        <p:spPr>
          <a:xfrm>
            <a:off x="685800" y="676656"/>
            <a:ext cx="10789920" cy="74980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La pregunta que sí se puede responder con estos datos</a:t>
            </a:r>
            <a:endParaRPr lang="en-US" sz="3200" dirty="0"/>
          </a:p>
        </p:txBody>
      </p:sp>
      <p:sp>
        <p:nvSpPr>
          <p:cNvPr id="4" name="Shape 2"/>
          <p:cNvSpPr/>
          <p:nvPr/>
        </p:nvSpPr>
        <p:spPr>
          <a:xfrm>
            <a:off x="685800" y="1755648"/>
            <a:ext cx="8138160" cy="1170432"/>
          </a:xfrm>
          <a:prstGeom prst="roundRect">
            <a:avLst>
              <a:gd name="adj" fmla="val 9375"/>
            </a:avLst>
          </a:prstGeom>
          <a:solidFill>
            <a:srgbClr val="5C3BC4"/>
          </a:solidFill>
          <a:ln/>
        </p:spPr>
      </p:sp>
      <p:sp>
        <p:nvSpPr>
          <p:cNvPr id="5" name="Text 3"/>
          <p:cNvSpPr txBox="1"/>
          <p:nvPr/>
        </p:nvSpPr>
        <p:spPr>
          <a:xfrm>
            <a:off x="1069848" y="1901952"/>
            <a:ext cx="7406640" cy="274320"/>
          </a:xfrm>
          <a:prstGeom prst="rect">
            <a:avLst/>
          </a:prstGeom>
          <a:noFill/>
          <a:ln/>
        </p:spPr>
        <p:txBody>
          <a:bodyPr wrap="square" lIns="0" tIns="0" rIns="0" bIns="0" rtlCol="0" anchor="ctr"/>
          <a:lstStyle/>
          <a:p>
            <a:pPr indent="0" marL="0">
              <a:buNone/>
            </a:pPr>
            <a:r>
              <a:rPr lang="en-US" sz="1150" b="1" dirty="0">
                <a:solidFill>
                  <a:srgbClr val="F9BCE8"/>
                </a:solidFill>
                <a:latin typeface="Calibri" pitchFamily="34" charset="0"/>
                <a:ea typeface="Calibri" pitchFamily="34" charset="-122"/>
                <a:cs typeface="Calibri" pitchFamily="34" charset="-120"/>
              </a:rPr>
              <a:t>Pregunta inicial</a:t>
            </a:r>
            <a:endParaRPr lang="en-US" sz="1150" dirty="0"/>
          </a:p>
        </p:txBody>
      </p:sp>
      <p:sp>
        <p:nvSpPr>
          <p:cNvPr id="6" name="Text 4"/>
          <p:cNvSpPr txBox="1"/>
          <p:nvPr/>
        </p:nvSpPr>
        <p:spPr>
          <a:xfrm>
            <a:off x="1069848" y="2194560"/>
            <a:ext cx="7406640" cy="621792"/>
          </a:xfrm>
          <a:prstGeom prst="rect">
            <a:avLst/>
          </a:prstGeom>
          <a:noFill/>
          <a:ln/>
        </p:spPr>
        <p:txBody>
          <a:bodyPr wrap="square" lIns="0" tIns="0" rIns="0" bIns="0" rtlCol="0" anchor="ctr"/>
          <a:lstStyle/>
          <a:p>
            <a:pPr indent="0" marL="0">
              <a:lnSpc>
                <a:spcPts val="1800"/>
              </a:lnSpc>
              <a:buNone/>
            </a:pPr>
            <a:r>
              <a:rPr lang="en-US" sz="1300" dirty="0">
                <a:solidFill>
                  <a:srgbClr val="F9BCE8"/>
                </a:solidFill>
                <a:latin typeface="Calibri" pitchFamily="34" charset="0"/>
                <a:ea typeface="Calibri" pitchFamily="34" charset="-122"/>
                <a:cs typeface="Calibri" pitchFamily="34" charset="-120"/>
              </a:rPr>
              <a:t>¿Son comparables las gestiones de humanos y de IA, y hay diferencias en sus resultados?</a:t>
            </a:r>
            <a:endParaRPr lang="en-US" sz="1300" dirty="0"/>
          </a:p>
        </p:txBody>
      </p:sp>
      <p:sp>
        <p:nvSpPr>
          <p:cNvPr id="7" name="Text 5"/>
          <p:cNvSpPr txBox="1"/>
          <p:nvPr/>
        </p:nvSpPr>
        <p:spPr>
          <a:xfrm>
            <a:off x="4526280" y="2926080"/>
            <a:ext cx="457200" cy="246888"/>
          </a:xfrm>
          <a:prstGeom prst="rect">
            <a:avLst/>
          </a:prstGeom>
          <a:noFill/>
          <a:ln/>
        </p:spPr>
        <p:txBody>
          <a:bodyPr wrap="square" lIns="0" tIns="0" rIns="0" bIns="0" rtlCol="0" anchor="ctr"/>
          <a:lstStyle/>
          <a:p>
            <a:pPr algn="ctr" indent="0" marL="0">
              <a:buNone/>
            </a:pPr>
            <a:r>
              <a:rPr lang="en-US" sz="1500" b="1" dirty="0">
                <a:solidFill>
                  <a:srgbClr val="F26ECF"/>
                </a:solidFill>
                <a:latin typeface="Calibri" pitchFamily="34" charset="0"/>
                <a:ea typeface="Calibri" pitchFamily="34" charset="-122"/>
                <a:cs typeface="Calibri" pitchFamily="34" charset="-120"/>
              </a:rPr>
              <a:t>↓</a:t>
            </a:r>
            <a:endParaRPr lang="en-US" sz="1500" dirty="0"/>
          </a:p>
        </p:txBody>
      </p:sp>
      <p:sp>
        <p:nvSpPr>
          <p:cNvPr id="8" name="Shape 6"/>
          <p:cNvSpPr/>
          <p:nvPr/>
        </p:nvSpPr>
        <p:spPr>
          <a:xfrm>
            <a:off x="685800" y="3172968"/>
            <a:ext cx="8138160" cy="1170432"/>
          </a:xfrm>
          <a:prstGeom prst="roundRect">
            <a:avLst>
              <a:gd name="adj" fmla="val 9375"/>
            </a:avLst>
          </a:prstGeom>
          <a:solidFill>
            <a:srgbClr val="5C3BC4"/>
          </a:solidFill>
          <a:ln/>
        </p:spPr>
      </p:sp>
      <p:sp>
        <p:nvSpPr>
          <p:cNvPr id="9" name="Text 7"/>
          <p:cNvSpPr txBox="1"/>
          <p:nvPr/>
        </p:nvSpPr>
        <p:spPr>
          <a:xfrm>
            <a:off x="1069848" y="3319272"/>
            <a:ext cx="7406640" cy="274320"/>
          </a:xfrm>
          <a:prstGeom prst="rect">
            <a:avLst/>
          </a:prstGeom>
          <a:noFill/>
          <a:ln/>
        </p:spPr>
        <p:txBody>
          <a:bodyPr wrap="square" lIns="0" tIns="0" rIns="0" bIns="0" rtlCol="0" anchor="ctr"/>
          <a:lstStyle/>
          <a:p>
            <a:pPr indent="0" marL="0">
              <a:buNone/>
            </a:pPr>
            <a:r>
              <a:rPr lang="en-US" sz="1150" b="1" dirty="0">
                <a:solidFill>
                  <a:srgbClr val="F9BCE8"/>
                </a:solidFill>
                <a:latin typeface="Calibri" pitchFamily="34" charset="0"/>
                <a:ea typeface="Calibri" pitchFamily="34" charset="-122"/>
                <a:cs typeface="Calibri" pitchFamily="34" charset="-120"/>
              </a:rPr>
              <a:t>Lo que encontré</a:t>
            </a:r>
            <a:endParaRPr lang="en-US" sz="1150" dirty="0"/>
          </a:p>
        </p:txBody>
      </p:sp>
      <p:sp>
        <p:nvSpPr>
          <p:cNvPr id="10" name="Text 8"/>
          <p:cNvSpPr txBox="1"/>
          <p:nvPr/>
        </p:nvSpPr>
        <p:spPr>
          <a:xfrm>
            <a:off x="1069848" y="3611880"/>
            <a:ext cx="7406640" cy="621792"/>
          </a:xfrm>
          <a:prstGeom prst="rect">
            <a:avLst/>
          </a:prstGeom>
          <a:noFill/>
          <a:ln/>
        </p:spPr>
        <p:txBody>
          <a:bodyPr wrap="square" lIns="0" tIns="0" rIns="0" bIns="0" rtlCol="0" anchor="ctr"/>
          <a:lstStyle/>
          <a:p>
            <a:pPr indent="0" marL="0">
              <a:lnSpc>
                <a:spcPts val="1800"/>
              </a:lnSpc>
              <a:buNone/>
            </a:pPr>
            <a:r>
              <a:rPr lang="en-US" sz="1300" dirty="0">
                <a:solidFill>
                  <a:srgbClr val="F9BCE8"/>
                </a:solidFill>
                <a:latin typeface="Calibri" pitchFamily="34" charset="0"/>
                <a:ea typeface="Calibri" pitchFamily="34" charset="-122"/>
                <a:cs typeface="Calibri" pitchFamily="34" charset="-120"/>
              </a:rPr>
              <a:t>La composición de las muestras no permite una comparación directa: son dos trabajos distintos, no dos formas de hacer el mismo.</a:t>
            </a:r>
            <a:endParaRPr lang="en-US" sz="1300" dirty="0"/>
          </a:p>
        </p:txBody>
      </p:sp>
      <p:sp>
        <p:nvSpPr>
          <p:cNvPr id="11" name="Text 9"/>
          <p:cNvSpPr txBox="1"/>
          <p:nvPr/>
        </p:nvSpPr>
        <p:spPr>
          <a:xfrm>
            <a:off x="4526280" y="4343400"/>
            <a:ext cx="457200" cy="246888"/>
          </a:xfrm>
          <a:prstGeom prst="rect">
            <a:avLst/>
          </a:prstGeom>
          <a:noFill/>
          <a:ln/>
        </p:spPr>
        <p:txBody>
          <a:bodyPr wrap="square" lIns="0" tIns="0" rIns="0" bIns="0" rtlCol="0" anchor="ctr"/>
          <a:lstStyle/>
          <a:p>
            <a:pPr algn="ctr" indent="0" marL="0">
              <a:buNone/>
            </a:pPr>
            <a:r>
              <a:rPr lang="en-US" sz="1500" b="1" dirty="0">
                <a:solidFill>
                  <a:srgbClr val="F26ECF"/>
                </a:solidFill>
                <a:latin typeface="Calibri" pitchFamily="34" charset="0"/>
                <a:ea typeface="Calibri" pitchFamily="34" charset="-122"/>
                <a:cs typeface="Calibri" pitchFamily="34" charset="-120"/>
              </a:rPr>
              <a:t>↓</a:t>
            </a:r>
            <a:endParaRPr lang="en-US" sz="1500" dirty="0"/>
          </a:p>
        </p:txBody>
      </p:sp>
      <p:sp>
        <p:nvSpPr>
          <p:cNvPr id="12" name="Shape 10"/>
          <p:cNvSpPr/>
          <p:nvPr/>
        </p:nvSpPr>
        <p:spPr>
          <a:xfrm>
            <a:off x="685800" y="4590288"/>
            <a:ext cx="8138160" cy="1170432"/>
          </a:xfrm>
          <a:prstGeom prst="roundRect">
            <a:avLst>
              <a:gd name="adj" fmla="val 9375"/>
            </a:avLst>
          </a:prstGeom>
          <a:solidFill>
            <a:srgbClr val="F26ECF"/>
          </a:solidFill>
          <a:ln/>
        </p:spPr>
      </p:sp>
      <p:sp>
        <p:nvSpPr>
          <p:cNvPr id="13" name="Text 11"/>
          <p:cNvSpPr txBox="1"/>
          <p:nvPr/>
        </p:nvSpPr>
        <p:spPr>
          <a:xfrm>
            <a:off x="1069848" y="4736592"/>
            <a:ext cx="740664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Pregunta reformulada</a:t>
            </a:r>
            <a:endParaRPr lang="en-US" sz="1150" dirty="0"/>
          </a:p>
        </p:txBody>
      </p:sp>
      <p:sp>
        <p:nvSpPr>
          <p:cNvPr id="14" name="Text 12"/>
          <p:cNvSpPr txBox="1"/>
          <p:nvPr/>
        </p:nvSpPr>
        <p:spPr>
          <a:xfrm>
            <a:off x="1069848" y="5029200"/>
            <a:ext cx="7406640" cy="621792"/>
          </a:xfrm>
          <a:prstGeom prst="rect">
            <a:avLst/>
          </a:prstGeom>
          <a:noFill/>
          <a:ln/>
        </p:spPr>
        <p:txBody>
          <a:bodyPr wrap="square" lIns="0" tIns="0" rIns="0" bIns="0" rtlCol="0" anchor="ctr"/>
          <a:lstStyle/>
          <a:p>
            <a:pPr indent="0" marL="0">
              <a:lnSpc>
                <a:spcPts val="2100"/>
              </a:lnSpc>
              <a:buNone/>
            </a:pPr>
            <a:r>
              <a:rPr lang="en-US" sz="1500" i="1" dirty="0">
                <a:solidFill>
                  <a:srgbClr val="FFFFFF"/>
                </a:solidFill>
                <a:latin typeface="Cambria" pitchFamily="34" charset="0"/>
                <a:ea typeface="Cambria" pitchFamily="34" charset="-122"/>
                <a:cs typeface="Cambria" pitchFamily="34" charset="-120"/>
              </a:rPr>
              <a:t>¿Qué parte de la operación humana actual puede automatizarse con la evidencia disponible, y qué habría que arreglar primero?</a:t>
            </a:r>
            <a:endParaRPr lang="en-US" sz="1500" dirty="0"/>
          </a:p>
        </p:txBody>
      </p:sp>
      <p:sp>
        <p:nvSpPr>
          <p:cNvPr id="15" name="Shape 13"/>
          <p:cNvSpPr/>
          <p:nvPr/>
        </p:nvSpPr>
        <p:spPr>
          <a:xfrm>
            <a:off x="9189720" y="1755648"/>
            <a:ext cx="2286000" cy="3794760"/>
          </a:xfrm>
          <a:prstGeom prst="roundRect">
            <a:avLst>
              <a:gd name="adj" fmla="val 4800"/>
            </a:avLst>
          </a:prstGeom>
          <a:solidFill>
            <a:srgbClr val="5C3BC4"/>
          </a:solidFill>
          <a:ln/>
        </p:spPr>
      </p:sp>
      <p:sp>
        <p:nvSpPr>
          <p:cNvPr id="16" name="Text 14"/>
          <p:cNvSpPr txBox="1"/>
          <p:nvPr/>
        </p:nvSpPr>
        <p:spPr>
          <a:xfrm>
            <a:off x="9418320" y="1984248"/>
            <a:ext cx="1874520" cy="548640"/>
          </a:xfrm>
          <a:prstGeom prst="rect">
            <a:avLst/>
          </a:prstGeom>
          <a:noFill/>
          <a:ln/>
        </p:spPr>
        <p:txBody>
          <a:bodyPr wrap="square" lIns="0" tIns="0" rIns="0" bIns="0" rtlCol="0" anchor="ctr"/>
          <a:lstStyle/>
          <a:p>
            <a:pPr indent="0" marL="0">
              <a:lnSpc>
                <a:spcPts val="1700"/>
              </a:lnSpc>
              <a:buNone/>
            </a:pPr>
            <a:r>
              <a:rPr lang="en-US" sz="1300" b="1" dirty="0">
                <a:solidFill>
                  <a:srgbClr val="FFFFFF"/>
                </a:solidFill>
                <a:latin typeface="Calibri" pitchFamily="34" charset="0"/>
                <a:ea typeface="Calibri" pitchFamily="34" charset="-122"/>
                <a:cs typeface="Calibri" pitchFamily="34" charset="-120"/>
              </a:rPr>
              <a:t>No se abandonó el análisis.</a:t>
            </a:r>
            <a:endParaRPr lang="en-US" sz="1300" dirty="0"/>
          </a:p>
        </p:txBody>
      </p:sp>
      <p:sp>
        <p:nvSpPr>
          <p:cNvPr id="17" name="Text 15"/>
          <p:cNvSpPr txBox="1"/>
          <p:nvPr/>
        </p:nvSpPr>
        <p:spPr>
          <a:xfrm>
            <a:off x="9418320" y="2624328"/>
            <a:ext cx="1874520" cy="2743200"/>
          </a:xfrm>
          <a:prstGeom prst="rect">
            <a:avLst/>
          </a:prstGeom>
          <a:noFill/>
          <a:ln/>
        </p:spPr>
        <p:txBody>
          <a:bodyPr wrap="square" lIns="0" tIns="0" rIns="0" bIns="0" rtlCol="0" anchor="ctr"/>
          <a:lstStyle/>
          <a:p>
            <a:pPr indent="0" marL="0">
              <a:lnSpc>
                <a:spcPts val="1600"/>
              </a:lnSpc>
              <a:buNone/>
            </a:pPr>
            <a:r>
              <a:rPr lang="en-US" sz="1150" dirty="0">
                <a:solidFill>
                  <a:srgbClr val="F9BCE8"/>
                </a:solidFill>
                <a:latin typeface="Calibri" pitchFamily="34" charset="0"/>
                <a:ea typeface="Calibri" pitchFamily="34" charset="-122"/>
                <a:cs typeface="Calibri" pitchFamily="34" charset="-120"/>
              </a:rPr>
              <a:t>Se cambió la pregunta por una que los datos sí pueden sostener — y que además es más útil para decidir.</a:t>
            </a:r>
            <a:endParaRPr lang="en-US" sz="1150" dirty="0"/>
          </a:p>
          <a:p>
            <a:pPr indent="0" marL="0">
              <a:lnSpc>
                <a:spcPts val="1600"/>
              </a:lnSpc>
              <a:buNone/>
            </a:pPr>
            <a:endParaRPr lang="en-US" sz="1150" dirty="0"/>
          </a:p>
          <a:p>
            <a:pPr indent="0" marL="0">
              <a:lnSpc>
                <a:spcPts val="1600"/>
              </a:lnSpc>
              <a:buNone/>
            </a:pPr>
            <a:r>
              <a:rPr lang="en-US" sz="1150" dirty="0">
                <a:solidFill>
                  <a:srgbClr val="F9BCE8"/>
                </a:solidFill>
                <a:latin typeface="Calibri" pitchFamily="34" charset="0"/>
                <a:ea typeface="Calibri" pitchFamily="34" charset="-122"/>
                <a:cs typeface="Calibri" pitchFamily="34" charset="-120"/>
              </a:rPr>
              <a:t>Esa es la diferencia entre ejecutar un análisis y hacer análisis.</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F26ECF"/>
                </a:solidFill>
                <a:latin typeface="Calibri" pitchFamily="34" charset="0"/>
                <a:ea typeface="Calibri" pitchFamily="34" charset="-122"/>
                <a:cs typeface="Calibri" pitchFamily="34" charset="-120"/>
              </a:rPr>
              <a:t>RECOMENDACIONES</a:t>
            </a:r>
            <a:endParaRPr lang="en-US" sz="1100" dirty="0"/>
          </a:p>
        </p:txBody>
      </p:sp>
      <p:sp>
        <p:nvSpPr>
          <p:cNvPr id="3" name="Text 1"/>
          <p:cNvSpPr txBox="1"/>
          <p:nvPr/>
        </p:nvSpPr>
        <p:spPr>
          <a:xfrm>
            <a:off x="685800" y="676656"/>
            <a:ext cx="10789920" cy="749808"/>
          </a:xfrm>
          <a:prstGeom prst="rect">
            <a:avLst/>
          </a:prstGeom>
          <a:noFill/>
          <a:ln/>
        </p:spPr>
        <p:txBody>
          <a:bodyPr wrap="square" lIns="0" tIns="0" rIns="0" bIns="0" rtlCol="0" anchor="ctr"/>
          <a:lstStyle/>
          <a:p>
            <a:pPr indent="0" marL="0">
              <a:buNone/>
            </a:pPr>
            <a:r>
              <a:rPr lang="en-US" sz="3200" b="1" dirty="0">
                <a:solidFill>
                  <a:srgbClr val="202020"/>
                </a:solidFill>
                <a:latin typeface="Cambria" pitchFamily="34" charset="0"/>
                <a:ea typeface="Cambria" pitchFamily="34" charset="-122"/>
                <a:cs typeface="Cambria" pitchFamily="34" charset="-120"/>
              </a:rPr>
              <a:t>Tres movimientos, en orden de retorno</a:t>
            </a:r>
            <a:endParaRPr lang="en-US" sz="3200" dirty="0"/>
          </a:p>
        </p:txBody>
      </p:sp>
      <p:sp>
        <p:nvSpPr>
          <p:cNvPr id="4" name="Shape 2"/>
          <p:cNvSpPr/>
          <p:nvPr/>
        </p:nvSpPr>
        <p:spPr>
          <a:xfrm>
            <a:off x="685800" y="1664208"/>
            <a:ext cx="3429000" cy="2926080"/>
          </a:xfrm>
          <a:prstGeom prst="roundRect">
            <a:avLst>
              <a:gd name="adj" fmla="val 3750"/>
            </a:avLst>
          </a:prstGeom>
          <a:solidFill>
            <a:srgbClr val="FFFFFF"/>
          </a:solidFill>
          <a:ln w="12700">
            <a:solidFill>
              <a:srgbClr val="E9E4EF"/>
            </a:solidFill>
            <a:prstDash val="solid"/>
          </a:ln>
          <a:effectLst>
            <a:outerShdw sx="100000" sy="100000" kx="0" ky="0" algn="bl" rotWithShape="0" blurRad="152400" dist="25400" dir="5400000">
              <a:srgbClr val="4E2AAE">
                <a:alpha val="10000"/>
              </a:srgbClr>
            </a:outerShdw>
          </a:effectLst>
        </p:spPr>
      </p:sp>
      <p:sp>
        <p:nvSpPr>
          <p:cNvPr id="5" name="Shape 3"/>
          <p:cNvSpPr/>
          <p:nvPr/>
        </p:nvSpPr>
        <p:spPr>
          <a:xfrm>
            <a:off x="978408" y="1892808"/>
            <a:ext cx="438912" cy="438912"/>
          </a:xfrm>
          <a:prstGeom prst="ellipse">
            <a:avLst/>
          </a:prstGeom>
          <a:solidFill>
            <a:srgbClr val="F26ECF"/>
          </a:solidFill>
          <a:ln/>
        </p:spPr>
      </p:sp>
      <p:sp>
        <p:nvSpPr>
          <p:cNvPr id="6" name="Text 4"/>
          <p:cNvSpPr txBox="1"/>
          <p:nvPr/>
        </p:nvSpPr>
        <p:spPr>
          <a:xfrm>
            <a:off x="978408" y="1892808"/>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7" name="Text 5"/>
          <p:cNvSpPr txBox="1"/>
          <p:nvPr/>
        </p:nvSpPr>
        <p:spPr>
          <a:xfrm>
            <a:off x="1554480" y="1938528"/>
            <a:ext cx="2377440" cy="219456"/>
          </a:xfrm>
          <a:prstGeom prst="rect">
            <a:avLst/>
          </a:prstGeom>
          <a:noFill/>
          <a:ln/>
        </p:spPr>
        <p:txBody>
          <a:bodyPr wrap="square" lIns="0" tIns="0" rIns="0" bIns="0" rtlCol="0" anchor="ctr"/>
          <a:lstStyle/>
          <a:p>
            <a:pPr indent="0" marL="0">
              <a:buNone/>
            </a:pPr>
            <a:r>
              <a:rPr lang="en-US" sz="900" b="1" spc="120" kern="0" dirty="0">
                <a:solidFill>
                  <a:srgbClr val="F26ECF"/>
                </a:solidFill>
                <a:latin typeface="Calibri" pitchFamily="34" charset="0"/>
                <a:ea typeface="Calibri" pitchFamily="34" charset="-122"/>
                <a:cs typeface="Calibri" pitchFamily="34" charset="-120"/>
              </a:rPr>
              <a:t>RÁPIDO Y BARATO</a:t>
            </a:r>
            <a:endParaRPr lang="en-US" sz="900" dirty="0"/>
          </a:p>
        </p:txBody>
      </p:sp>
      <p:sp>
        <p:nvSpPr>
          <p:cNvPr id="8" name="Text 6"/>
          <p:cNvSpPr txBox="1"/>
          <p:nvPr/>
        </p:nvSpPr>
        <p:spPr>
          <a:xfrm>
            <a:off x="978408" y="2468880"/>
            <a:ext cx="2880360" cy="566928"/>
          </a:xfrm>
          <a:prstGeom prst="rect">
            <a:avLst/>
          </a:prstGeom>
          <a:noFill/>
          <a:ln/>
        </p:spPr>
        <p:txBody>
          <a:bodyPr wrap="square" lIns="0" tIns="0" rIns="0" bIns="0" rtlCol="0" anchor="ctr"/>
          <a:lstStyle/>
          <a:p>
            <a:pPr indent="0" marL="0">
              <a:lnSpc>
                <a:spcPts val="1900"/>
              </a:lnSpc>
              <a:buNone/>
            </a:pPr>
            <a:r>
              <a:rPr lang="en-US" sz="1500" b="1" dirty="0">
                <a:solidFill>
                  <a:srgbClr val="202020"/>
                </a:solidFill>
                <a:latin typeface="Calibri" pitchFamily="34" charset="0"/>
                <a:ea typeface="Calibri" pitchFamily="34" charset="-122"/>
                <a:cs typeface="Calibri" pitchFamily="34" charset="-120"/>
              </a:rPr>
              <a:t>Arreglar la caída técnica</a:t>
            </a:r>
            <a:endParaRPr lang="en-US" sz="1500" dirty="0"/>
          </a:p>
        </p:txBody>
      </p:sp>
      <p:sp>
        <p:nvSpPr>
          <p:cNvPr id="9" name="Text 7"/>
          <p:cNvSpPr txBox="1"/>
          <p:nvPr/>
        </p:nvSpPr>
        <p:spPr>
          <a:xfrm>
            <a:off x="978408" y="3108960"/>
            <a:ext cx="2880360" cy="1325880"/>
          </a:xfrm>
          <a:prstGeom prst="rect">
            <a:avLst/>
          </a:prstGeom>
          <a:noFill/>
          <a:ln/>
        </p:spPr>
        <p:txBody>
          <a:bodyPr wrap="square" lIns="0" tIns="0" rIns="0" bIns="0" rtlCol="0" anchor="ctr"/>
          <a:lstStyle/>
          <a:p>
            <a:pPr indent="0" marL="0">
              <a:lnSpc>
                <a:spcPts val="1600"/>
              </a:lnSpc>
              <a:buNone/>
            </a:pPr>
            <a:r>
              <a:rPr lang="en-US" sz="1150" dirty="0">
                <a:solidFill>
                  <a:srgbClr val="757275"/>
                </a:solidFill>
                <a:latin typeface="Calibri" pitchFamily="34" charset="0"/>
                <a:ea typeface="Calibri" pitchFamily="34" charset="-122"/>
                <a:cs typeface="Calibri" pitchFamily="34" charset="-120"/>
              </a:rPr>
              <a:t>26 % de las llamadas de IA se pierden por falla, no por rechazo. Es la mayor ganancia disponible sin tocar el guion de negociación, y no requiere ciencia de datos: requiere ingeniería de telefonía.</a:t>
            </a:r>
            <a:endParaRPr lang="en-US" sz="1150" dirty="0"/>
          </a:p>
        </p:txBody>
      </p:sp>
      <p:sp>
        <p:nvSpPr>
          <p:cNvPr id="10" name="Shape 8"/>
          <p:cNvSpPr/>
          <p:nvPr/>
        </p:nvSpPr>
        <p:spPr>
          <a:xfrm>
            <a:off x="4343400" y="1664208"/>
            <a:ext cx="3429000" cy="2926080"/>
          </a:xfrm>
          <a:prstGeom prst="roundRect">
            <a:avLst>
              <a:gd name="adj" fmla="val 3750"/>
            </a:avLst>
          </a:prstGeom>
          <a:solidFill>
            <a:srgbClr val="FFFFFF"/>
          </a:solidFill>
          <a:ln w="12700">
            <a:solidFill>
              <a:srgbClr val="E9E4EF"/>
            </a:solidFill>
            <a:prstDash val="solid"/>
          </a:ln>
          <a:effectLst>
            <a:outerShdw sx="100000" sy="100000" kx="0" ky="0" algn="bl" rotWithShape="0" blurRad="152400" dist="25400" dir="5400000">
              <a:srgbClr val="4E2AAE">
                <a:alpha val="10000"/>
              </a:srgbClr>
            </a:outerShdw>
          </a:effectLst>
        </p:spPr>
      </p:sp>
      <p:sp>
        <p:nvSpPr>
          <p:cNvPr id="11" name="Shape 9"/>
          <p:cNvSpPr/>
          <p:nvPr/>
        </p:nvSpPr>
        <p:spPr>
          <a:xfrm>
            <a:off x="4636008" y="1892808"/>
            <a:ext cx="438912" cy="438912"/>
          </a:xfrm>
          <a:prstGeom prst="ellipse">
            <a:avLst/>
          </a:prstGeom>
          <a:solidFill>
            <a:srgbClr val="4E2AAE"/>
          </a:solidFill>
          <a:ln/>
        </p:spPr>
      </p:sp>
      <p:sp>
        <p:nvSpPr>
          <p:cNvPr id="12" name="Text 10"/>
          <p:cNvSpPr txBox="1"/>
          <p:nvPr/>
        </p:nvSpPr>
        <p:spPr>
          <a:xfrm>
            <a:off x="4636008" y="1892808"/>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3" name="Text 11"/>
          <p:cNvSpPr txBox="1"/>
          <p:nvPr/>
        </p:nvSpPr>
        <p:spPr>
          <a:xfrm>
            <a:off x="5212080" y="1938528"/>
            <a:ext cx="2377440" cy="219456"/>
          </a:xfrm>
          <a:prstGeom prst="rect">
            <a:avLst/>
          </a:prstGeom>
          <a:noFill/>
          <a:ln/>
        </p:spPr>
        <p:txBody>
          <a:bodyPr wrap="square" lIns="0" tIns="0" rIns="0" bIns="0" rtlCol="0" anchor="ctr"/>
          <a:lstStyle/>
          <a:p>
            <a:pPr indent="0" marL="0">
              <a:buNone/>
            </a:pPr>
            <a:r>
              <a:rPr lang="en-US" sz="900" b="1" spc="120" kern="0" dirty="0">
                <a:solidFill>
                  <a:srgbClr val="4E2AAE"/>
                </a:solidFill>
                <a:latin typeface="Calibri" pitchFamily="34" charset="0"/>
                <a:ea typeface="Calibri" pitchFamily="34" charset="-122"/>
                <a:cs typeface="Calibri" pitchFamily="34" charset="-120"/>
              </a:rPr>
              <a:t>YA VALIDADO</a:t>
            </a:r>
            <a:endParaRPr lang="en-US" sz="900" dirty="0"/>
          </a:p>
        </p:txBody>
      </p:sp>
      <p:sp>
        <p:nvSpPr>
          <p:cNvPr id="14" name="Text 12"/>
          <p:cNvSpPr txBox="1"/>
          <p:nvPr/>
        </p:nvSpPr>
        <p:spPr>
          <a:xfrm>
            <a:off x="4636008" y="2468880"/>
            <a:ext cx="2880360" cy="566928"/>
          </a:xfrm>
          <a:prstGeom prst="rect">
            <a:avLst/>
          </a:prstGeom>
          <a:noFill/>
          <a:ln/>
        </p:spPr>
        <p:txBody>
          <a:bodyPr wrap="square" lIns="0" tIns="0" rIns="0" bIns="0" rtlCol="0" anchor="ctr"/>
          <a:lstStyle/>
          <a:p>
            <a:pPr indent="0" marL="0">
              <a:lnSpc>
                <a:spcPts val="1900"/>
              </a:lnSpc>
              <a:buNone/>
            </a:pPr>
            <a:r>
              <a:rPr lang="en-US" sz="1500" b="1" dirty="0">
                <a:solidFill>
                  <a:srgbClr val="202020"/>
                </a:solidFill>
                <a:latin typeface="Calibri" pitchFamily="34" charset="0"/>
                <a:ea typeface="Calibri" pitchFamily="34" charset="-122"/>
                <a:cs typeface="Calibri" pitchFamily="34" charset="-120"/>
              </a:rPr>
              <a:t>El argumento de costo se sostiene</a:t>
            </a:r>
            <a:endParaRPr lang="en-US" sz="1500" dirty="0"/>
          </a:p>
        </p:txBody>
      </p:sp>
      <p:sp>
        <p:nvSpPr>
          <p:cNvPr id="15" name="Text 13"/>
          <p:cNvSpPr txBox="1"/>
          <p:nvPr/>
        </p:nvSpPr>
        <p:spPr>
          <a:xfrm>
            <a:off x="4636008" y="3108960"/>
            <a:ext cx="2880360" cy="1325880"/>
          </a:xfrm>
          <a:prstGeom prst="rect">
            <a:avLst/>
          </a:prstGeom>
          <a:noFill/>
          <a:ln/>
        </p:spPr>
        <p:txBody>
          <a:bodyPr wrap="square" lIns="0" tIns="0" rIns="0" bIns="0" rtlCol="0" anchor="ctr"/>
          <a:lstStyle/>
          <a:p>
            <a:pPr indent="0" marL="0">
              <a:lnSpc>
                <a:spcPts val="1600"/>
              </a:lnSpc>
              <a:buNone/>
            </a:pPr>
            <a:r>
              <a:rPr lang="en-US" sz="1150" dirty="0">
                <a:solidFill>
                  <a:srgbClr val="757275"/>
                </a:solidFill>
                <a:latin typeface="Calibri" pitchFamily="34" charset="0"/>
                <a:ea typeface="Calibri" pitchFamily="34" charset="-122"/>
                <a:cs typeface="Calibri" pitchFamily="34" charset="-120"/>
              </a:rPr>
              <a:t>Cuando la IA cierra, recupera una proporción equivalente de la deuda (95.8 % vs 86.7 %, p = 0.50). La propuesta económica no es el punto débil de la automatización.</a:t>
            </a:r>
            <a:endParaRPr lang="en-US" sz="1150" dirty="0"/>
          </a:p>
        </p:txBody>
      </p:sp>
      <p:sp>
        <p:nvSpPr>
          <p:cNvPr id="16" name="Shape 14"/>
          <p:cNvSpPr/>
          <p:nvPr/>
        </p:nvSpPr>
        <p:spPr>
          <a:xfrm>
            <a:off x="8001000" y="1664208"/>
            <a:ext cx="3429000" cy="2926080"/>
          </a:xfrm>
          <a:prstGeom prst="roundRect">
            <a:avLst>
              <a:gd name="adj" fmla="val 3750"/>
            </a:avLst>
          </a:prstGeom>
          <a:solidFill>
            <a:srgbClr val="FFFFFF"/>
          </a:solidFill>
          <a:ln w="12700">
            <a:solidFill>
              <a:srgbClr val="E9E4EF"/>
            </a:solidFill>
            <a:prstDash val="solid"/>
          </a:ln>
          <a:effectLst>
            <a:outerShdw sx="100000" sy="100000" kx="0" ky="0" algn="bl" rotWithShape="0" blurRad="152400" dist="25400" dir="5400000">
              <a:srgbClr val="4E2AAE">
                <a:alpha val="10000"/>
              </a:srgbClr>
            </a:outerShdw>
          </a:effectLst>
        </p:spPr>
      </p:sp>
      <p:sp>
        <p:nvSpPr>
          <p:cNvPr id="17" name="Shape 15"/>
          <p:cNvSpPr/>
          <p:nvPr/>
        </p:nvSpPr>
        <p:spPr>
          <a:xfrm>
            <a:off x="8293608" y="1892808"/>
            <a:ext cx="438912" cy="438912"/>
          </a:xfrm>
          <a:prstGeom prst="ellipse">
            <a:avLst/>
          </a:prstGeom>
          <a:solidFill>
            <a:srgbClr val="7047EB"/>
          </a:solidFill>
          <a:ln/>
        </p:spPr>
      </p:sp>
      <p:sp>
        <p:nvSpPr>
          <p:cNvPr id="18" name="Text 16"/>
          <p:cNvSpPr txBox="1"/>
          <p:nvPr/>
        </p:nvSpPr>
        <p:spPr>
          <a:xfrm>
            <a:off x="8293608" y="1892808"/>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9" name="Text 17"/>
          <p:cNvSpPr txBox="1"/>
          <p:nvPr/>
        </p:nvSpPr>
        <p:spPr>
          <a:xfrm>
            <a:off x="8869680" y="1938528"/>
            <a:ext cx="2377440" cy="219456"/>
          </a:xfrm>
          <a:prstGeom prst="rect">
            <a:avLst/>
          </a:prstGeom>
          <a:noFill/>
          <a:ln/>
        </p:spPr>
        <p:txBody>
          <a:bodyPr wrap="square" lIns="0" tIns="0" rIns="0" bIns="0" rtlCol="0" anchor="ctr"/>
          <a:lstStyle/>
          <a:p>
            <a:pPr indent="0" marL="0">
              <a:buNone/>
            </a:pPr>
            <a:r>
              <a:rPr lang="en-US" sz="900" b="1" spc="120" kern="0" dirty="0">
                <a:solidFill>
                  <a:srgbClr val="7047EB"/>
                </a:solidFill>
                <a:latin typeface="Calibri" pitchFamily="34" charset="0"/>
                <a:ea typeface="Calibri" pitchFamily="34" charset="-122"/>
                <a:cs typeface="Calibri" pitchFamily="34" charset="-120"/>
              </a:rPr>
              <a:t>LA OPORTUNIDAD NATURAL</a:t>
            </a:r>
            <a:endParaRPr lang="en-US" sz="900" dirty="0"/>
          </a:p>
        </p:txBody>
      </p:sp>
      <p:sp>
        <p:nvSpPr>
          <p:cNvPr id="20" name="Text 18"/>
          <p:cNvSpPr txBox="1"/>
          <p:nvPr/>
        </p:nvSpPr>
        <p:spPr>
          <a:xfrm>
            <a:off x="8293608" y="2468880"/>
            <a:ext cx="2880360" cy="566928"/>
          </a:xfrm>
          <a:prstGeom prst="rect">
            <a:avLst/>
          </a:prstGeom>
          <a:noFill/>
          <a:ln/>
        </p:spPr>
        <p:txBody>
          <a:bodyPr wrap="square" lIns="0" tIns="0" rIns="0" bIns="0" rtlCol="0" anchor="ctr"/>
          <a:lstStyle/>
          <a:p>
            <a:pPr indent="0" marL="0">
              <a:lnSpc>
                <a:spcPts val="1900"/>
              </a:lnSpc>
              <a:buNone/>
            </a:pPr>
            <a:r>
              <a:rPr lang="en-US" sz="1500" b="1" dirty="0">
                <a:solidFill>
                  <a:srgbClr val="202020"/>
                </a:solidFill>
                <a:latin typeface="Calibri" pitchFamily="34" charset="0"/>
                <a:ea typeface="Calibri" pitchFamily="34" charset="-122"/>
                <a:cs typeface="Calibri" pitchFamily="34" charset="-120"/>
              </a:rPr>
              <a:t>Extender el alcance al seguimiento</a:t>
            </a:r>
            <a:endParaRPr lang="en-US" sz="1500" dirty="0"/>
          </a:p>
        </p:txBody>
      </p:sp>
      <p:sp>
        <p:nvSpPr>
          <p:cNvPr id="21" name="Text 19"/>
          <p:cNvSpPr txBox="1"/>
          <p:nvPr/>
        </p:nvSpPr>
        <p:spPr>
          <a:xfrm>
            <a:off x="8293608" y="3108960"/>
            <a:ext cx="2880360" cy="1325880"/>
          </a:xfrm>
          <a:prstGeom prst="rect">
            <a:avLst/>
          </a:prstGeom>
          <a:noFill/>
          <a:ln/>
        </p:spPr>
        <p:txBody>
          <a:bodyPr wrap="square" lIns="0" tIns="0" rIns="0" bIns="0" rtlCol="0" anchor="ctr"/>
          <a:lstStyle/>
          <a:p>
            <a:pPr indent="0" marL="0">
              <a:lnSpc>
                <a:spcPts val="1600"/>
              </a:lnSpc>
              <a:buNone/>
            </a:pPr>
            <a:r>
              <a:rPr lang="en-US" sz="1150" dirty="0">
                <a:solidFill>
                  <a:srgbClr val="757275"/>
                </a:solidFill>
                <a:latin typeface="Calibri" pitchFamily="34" charset="0"/>
                <a:ea typeface="Calibri" pitchFamily="34" charset="-122"/>
                <a:cs typeface="Calibri" pitchFamily="34" charset="-120"/>
              </a:rPr>
              <a:t>El seguimiento humano (54 % de sus llamadas) no negocia descuento en ningún caso, dura 43 % menos (161 s vs 281 s) y cierra el 70 % de las veces. Es guion fijo — justo lo que la IA ya ejecuta bien.</a:t>
            </a:r>
            <a:endParaRPr lang="en-US" sz="1150" dirty="0"/>
          </a:p>
        </p:txBody>
      </p:sp>
      <p:sp>
        <p:nvSpPr>
          <p:cNvPr id="22" name="Shape 20"/>
          <p:cNvSpPr/>
          <p:nvPr/>
        </p:nvSpPr>
        <p:spPr>
          <a:xfrm>
            <a:off x="685800" y="4773168"/>
            <a:ext cx="10789920" cy="1417320"/>
          </a:xfrm>
          <a:prstGeom prst="roundRect">
            <a:avLst>
              <a:gd name="adj" fmla="val 7742"/>
            </a:avLst>
          </a:prstGeom>
          <a:solidFill>
            <a:srgbClr val="FDEDF9"/>
          </a:solidFill>
          <a:ln/>
        </p:spPr>
      </p:sp>
      <p:sp>
        <p:nvSpPr>
          <p:cNvPr id="23" name="Text 21"/>
          <p:cNvSpPr txBox="1"/>
          <p:nvPr/>
        </p:nvSpPr>
        <p:spPr>
          <a:xfrm>
            <a:off x="1097280" y="4937760"/>
            <a:ext cx="10058400" cy="274320"/>
          </a:xfrm>
          <a:prstGeom prst="rect">
            <a:avLst/>
          </a:prstGeom>
          <a:noFill/>
          <a:ln/>
        </p:spPr>
        <p:txBody>
          <a:bodyPr wrap="square" lIns="0" tIns="0" rIns="0" bIns="0" rtlCol="0" anchor="ctr"/>
          <a:lstStyle/>
          <a:p>
            <a:pPr indent="0" marL="0">
              <a:buNone/>
            </a:pPr>
            <a:r>
              <a:rPr lang="en-US" sz="1250" b="1" dirty="0">
                <a:solidFill>
                  <a:srgbClr val="C2410C"/>
                </a:solidFill>
                <a:latin typeface="Calibri" pitchFamily="34" charset="0"/>
                <a:ea typeface="Calibri" pitchFamily="34" charset="-122"/>
                <a:cs typeface="Calibri" pitchFamily="34" charset="-120"/>
              </a:rPr>
              <a:t>Una advertencia sobre el modelo de costos</a:t>
            </a:r>
            <a:endParaRPr lang="en-US" sz="1250" dirty="0"/>
          </a:p>
        </p:txBody>
      </p:sp>
      <p:sp>
        <p:nvSpPr>
          <p:cNvPr id="24" name="Text 22"/>
          <p:cNvSpPr txBox="1"/>
          <p:nvPr/>
        </p:nvSpPr>
        <p:spPr>
          <a:xfrm>
            <a:off x="1097280" y="5230368"/>
            <a:ext cx="10058400" cy="868680"/>
          </a:xfrm>
          <a:prstGeom prst="rect">
            <a:avLst/>
          </a:prstGeom>
          <a:noFill/>
          <a:ln/>
        </p:spPr>
        <p:txBody>
          <a:bodyPr wrap="square" lIns="0" tIns="0" rIns="0" bIns="0" rtlCol="0" anchor="ctr"/>
          <a:lstStyle/>
          <a:p>
            <a:pPr indent="0" marL="0">
              <a:lnSpc>
                <a:spcPts val="1600"/>
              </a:lnSpc>
              <a:buNone/>
            </a:pPr>
            <a:r>
              <a:rPr lang="en-US" sz="1150" dirty="0">
                <a:solidFill>
                  <a:srgbClr val="202020"/>
                </a:solidFill>
                <a:latin typeface="Calibri" pitchFamily="34" charset="0"/>
                <a:ea typeface="Calibri" pitchFamily="34" charset="-122"/>
                <a:cs typeface="Calibri" pitchFamily="34" charset="-120"/>
              </a:rPr>
              <a:t>Creceré AI factura como Banker-as-a-Service: implementación más tarifa mensual, por cuenta procesada o por comisión sobre recaudo. El seguimiento de hoy ya recauda al 70 % con un costo esencialmente fijo (el agente humano). Migrarlo a IA bajo comisión sobre recaudo significa empezar a pagar variable sobre plata que hoy se recupera casi gratis; bajo cuenta procesada la cuenta es distinta. El ahorro que este análisis sí valida es sobre negociación nueva — sobre seguimiento, el modelo de costos todavía no se ha cotizado.</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F26ECF"/>
                </a:solidFill>
                <a:latin typeface="Calibri" pitchFamily="34" charset="0"/>
                <a:ea typeface="Calibri" pitchFamily="34" charset="-122"/>
                <a:cs typeface="Calibri" pitchFamily="34" charset="-120"/>
              </a:rPr>
              <a:t>RIGOR</a:t>
            </a:r>
            <a:endParaRPr lang="en-US" sz="1100" dirty="0"/>
          </a:p>
        </p:txBody>
      </p:sp>
      <p:sp>
        <p:nvSpPr>
          <p:cNvPr id="3" name="Text 1"/>
          <p:cNvSpPr txBox="1"/>
          <p:nvPr/>
        </p:nvSpPr>
        <p:spPr>
          <a:xfrm>
            <a:off x="685800" y="676656"/>
            <a:ext cx="10789920" cy="749808"/>
          </a:xfrm>
          <a:prstGeom prst="rect">
            <a:avLst/>
          </a:prstGeom>
          <a:noFill/>
          <a:ln/>
        </p:spPr>
        <p:txBody>
          <a:bodyPr wrap="square" lIns="0" tIns="0" rIns="0" bIns="0" rtlCol="0" anchor="ctr"/>
          <a:lstStyle/>
          <a:p>
            <a:pPr indent="0" marL="0">
              <a:buNone/>
            </a:pPr>
            <a:r>
              <a:rPr lang="en-US" sz="3200" b="1" dirty="0">
                <a:solidFill>
                  <a:srgbClr val="202020"/>
                </a:solidFill>
                <a:latin typeface="Cambria" pitchFamily="34" charset="0"/>
                <a:ea typeface="Cambria" pitchFamily="34" charset="-122"/>
                <a:cs typeface="Cambria" pitchFamily="34" charset="-120"/>
              </a:rPr>
              <a:t>Lo que este análisis no puede afirmar, y qué haría falta</a:t>
            </a:r>
            <a:endParaRPr lang="en-US" sz="3200" dirty="0"/>
          </a:p>
        </p:txBody>
      </p:sp>
      <p:sp>
        <p:nvSpPr>
          <p:cNvPr id="4" name="Text 2"/>
          <p:cNvSpPr txBox="1"/>
          <p:nvPr/>
        </p:nvSpPr>
        <p:spPr>
          <a:xfrm>
            <a:off x="685800" y="1572768"/>
            <a:ext cx="5394960" cy="292608"/>
          </a:xfrm>
          <a:prstGeom prst="rect">
            <a:avLst/>
          </a:prstGeom>
          <a:noFill/>
          <a:ln/>
        </p:spPr>
        <p:txBody>
          <a:bodyPr wrap="square" lIns="0" tIns="0" rIns="0" bIns="0" rtlCol="0" anchor="ctr"/>
          <a:lstStyle/>
          <a:p>
            <a:pPr indent="0" marL="0">
              <a:buNone/>
            </a:pPr>
            <a:r>
              <a:rPr lang="en-US" sz="1400" b="1" dirty="0">
                <a:solidFill>
                  <a:srgbClr val="C2410C"/>
                </a:solidFill>
                <a:latin typeface="Calibri" pitchFamily="34" charset="0"/>
                <a:ea typeface="Calibri" pitchFamily="34" charset="-122"/>
                <a:cs typeface="Calibri" pitchFamily="34" charset="-120"/>
              </a:rPr>
              <a:t>Limitaciones</a:t>
            </a:r>
            <a:endParaRPr lang="en-US" sz="1400" dirty="0"/>
          </a:p>
        </p:txBody>
      </p:sp>
      <p:sp>
        <p:nvSpPr>
          <p:cNvPr id="5" name="Shape 3"/>
          <p:cNvSpPr/>
          <p:nvPr/>
        </p:nvSpPr>
        <p:spPr>
          <a:xfrm>
            <a:off x="731520" y="2112264"/>
            <a:ext cx="100584" cy="100584"/>
          </a:xfrm>
          <a:prstGeom prst="ellipse">
            <a:avLst/>
          </a:prstGeom>
          <a:solidFill>
            <a:srgbClr val="C2410C"/>
          </a:solidFill>
          <a:ln/>
        </p:spPr>
      </p:sp>
      <p:sp>
        <p:nvSpPr>
          <p:cNvPr id="6" name="Text 4"/>
          <p:cNvSpPr txBox="1"/>
          <p:nvPr/>
        </p:nvSpPr>
        <p:spPr>
          <a:xfrm>
            <a:off x="1033272" y="1975104"/>
            <a:ext cx="5029200" cy="566928"/>
          </a:xfrm>
          <a:prstGeom prst="rect">
            <a:avLst/>
          </a:prstGeom>
          <a:noFill/>
          <a:ln/>
        </p:spPr>
        <p:txBody>
          <a:bodyPr wrap="square" lIns="0" tIns="0" rIns="0" bIns="0" rtlCol="0" anchor="t"/>
          <a:lstStyle/>
          <a:p>
            <a:pPr indent="0" marL="0">
              <a:lnSpc>
                <a:spcPts val="1600"/>
              </a:lnSpc>
              <a:buNone/>
            </a:pPr>
            <a:r>
              <a:rPr lang="en-US" sz="1150" dirty="0">
                <a:solidFill>
                  <a:srgbClr val="202020"/>
                </a:solidFill>
                <a:latin typeface="Calibri" pitchFamily="34" charset="0"/>
                <a:ea typeface="Calibri" pitchFamily="34" charset="-122"/>
                <a:cs typeface="Calibri" pitchFamily="34" charset="-120"/>
              </a:rPr>
              <a:t>No es un experimento controlado: las muestras vienen de campañas y momentos distintos.</a:t>
            </a:r>
            <a:endParaRPr lang="en-US" sz="1150" dirty="0"/>
          </a:p>
        </p:txBody>
      </p:sp>
      <p:sp>
        <p:nvSpPr>
          <p:cNvPr id="7" name="Shape 5"/>
          <p:cNvSpPr/>
          <p:nvPr/>
        </p:nvSpPr>
        <p:spPr>
          <a:xfrm>
            <a:off x="731520" y="2770632"/>
            <a:ext cx="100584" cy="100584"/>
          </a:xfrm>
          <a:prstGeom prst="ellipse">
            <a:avLst/>
          </a:prstGeom>
          <a:solidFill>
            <a:srgbClr val="C2410C"/>
          </a:solidFill>
          <a:ln/>
        </p:spPr>
      </p:sp>
      <p:sp>
        <p:nvSpPr>
          <p:cNvPr id="8" name="Text 6"/>
          <p:cNvSpPr txBox="1"/>
          <p:nvPr/>
        </p:nvSpPr>
        <p:spPr>
          <a:xfrm>
            <a:off x="1033272" y="2633472"/>
            <a:ext cx="5029200" cy="566928"/>
          </a:xfrm>
          <a:prstGeom prst="rect">
            <a:avLst/>
          </a:prstGeom>
          <a:noFill/>
          <a:ln/>
        </p:spPr>
        <p:txBody>
          <a:bodyPr wrap="square" lIns="0" tIns="0" rIns="0" bIns="0" rtlCol="0" anchor="t"/>
          <a:lstStyle/>
          <a:p>
            <a:pPr indent="0" marL="0">
              <a:lnSpc>
                <a:spcPts val="1600"/>
              </a:lnSpc>
              <a:buNone/>
            </a:pPr>
            <a:r>
              <a:rPr lang="en-US" sz="1150" dirty="0">
                <a:solidFill>
                  <a:srgbClr val="202020"/>
                </a:solidFill>
                <a:latin typeface="Calibri" pitchFamily="34" charset="0"/>
                <a:ea typeface="Calibri" pitchFamily="34" charset="-122"/>
                <a:cs typeface="Calibri" pitchFamily="34" charset="-120"/>
              </a:rPr>
              <a:t>Submuestras pequeñas en la capa de negociación (8 y 10 casos que cierran).</a:t>
            </a:r>
            <a:endParaRPr lang="en-US" sz="1150" dirty="0"/>
          </a:p>
        </p:txBody>
      </p:sp>
      <p:sp>
        <p:nvSpPr>
          <p:cNvPr id="9" name="Shape 7"/>
          <p:cNvSpPr/>
          <p:nvPr/>
        </p:nvSpPr>
        <p:spPr>
          <a:xfrm>
            <a:off x="731520" y="3429000"/>
            <a:ext cx="100584" cy="100584"/>
          </a:xfrm>
          <a:prstGeom prst="ellipse">
            <a:avLst/>
          </a:prstGeom>
          <a:solidFill>
            <a:srgbClr val="C2410C"/>
          </a:solidFill>
          <a:ln/>
        </p:spPr>
      </p:sp>
      <p:sp>
        <p:nvSpPr>
          <p:cNvPr id="10" name="Text 8"/>
          <p:cNvSpPr txBox="1"/>
          <p:nvPr/>
        </p:nvSpPr>
        <p:spPr>
          <a:xfrm>
            <a:off x="1033272" y="3291840"/>
            <a:ext cx="5029200" cy="566928"/>
          </a:xfrm>
          <a:prstGeom prst="rect">
            <a:avLst/>
          </a:prstGeom>
          <a:noFill/>
          <a:ln/>
        </p:spPr>
        <p:txBody>
          <a:bodyPr wrap="square" lIns="0" tIns="0" rIns="0" bIns="0" rtlCol="0" anchor="t"/>
          <a:lstStyle/>
          <a:p>
            <a:pPr indent="0" marL="0">
              <a:lnSpc>
                <a:spcPts val="1600"/>
              </a:lnSpc>
              <a:buNone/>
            </a:pPr>
            <a:r>
              <a:rPr lang="en-US" sz="1150" dirty="0">
                <a:solidFill>
                  <a:srgbClr val="202020"/>
                </a:solidFill>
                <a:latin typeface="Calibri" pitchFamily="34" charset="0"/>
                <a:ea typeface="Calibri" pitchFamily="34" charset="-122"/>
                <a:cs typeface="Calibri" pitchFamily="34" charset="-120"/>
              </a:rPr>
              <a:t>El 6.1 % del audio está censurado; parte del contexto se pierde por diseño.</a:t>
            </a:r>
            <a:endParaRPr lang="en-US" sz="1150" dirty="0"/>
          </a:p>
        </p:txBody>
      </p:sp>
      <p:sp>
        <p:nvSpPr>
          <p:cNvPr id="11" name="Shape 9"/>
          <p:cNvSpPr/>
          <p:nvPr/>
        </p:nvSpPr>
        <p:spPr>
          <a:xfrm>
            <a:off x="731520" y="4087368"/>
            <a:ext cx="100584" cy="100584"/>
          </a:xfrm>
          <a:prstGeom prst="ellipse">
            <a:avLst/>
          </a:prstGeom>
          <a:solidFill>
            <a:srgbClr val="C2410C"/>
          </a:solidFill>
          <a:ln/>
        </p:spPr>
      </p:sp>
      <p:sp>
        <p:nvSpPr>
          <p:cNvPr id="12" name="Text 10"/>
          <p:cNvSpPr txBox="1"/>
          <p:nvPr/>
        </p:nvSpPr>
        <p:spPr>
          <a:xfrm>
            <a:off x="1033272" y="3950208"/>
            <a:ext cx="5029200" cy="566928"/>
          </a:xfrm>
          <a:prstGeom prst="rect">
            <a:avLst/>
          </a:prstGeom>
          <a:noFill/>
          <a:ln/>
        </p:spPr>
        <p:txBody>
          <a:bodyPr wrap="square" lIns="0" tIns="0" rIns="0" bIns="0" rtlCol="0" anchor="t"/>
          <a:lstStyle/>
          <a:p>
            <a:pPr indent="0" marL="0">
              <a:lnSpc>
                <a:spcPts val="1600"/>
              </a:lnSpc>
              <a:buNone/>
            </a:pPr>
            <a:r>
              <a:rPr lang="en-US" sz="1150" dirty="0">
                <a:solidFill>
                  <a:srgbClr val="202020"/>
                </a:solidFill>
                <a:latin typeface="Calibri" pitchFamily="34" charset="0"/>
                <a:ea typeface="Calibri" pitchFamily="34" charset="-122"/>
                <a:cs typeface="Calibri" pitchFamily="34" charset="-120"/>
              </a:rPr>
              <a:t>La extracción de variables depende de un LLM: auditada sobre el 25 %, no sobre el 100 %.</a:t>
            </a:r>
            <a:endParaRPr lang="en-US" sz="1150" dirty="0"/>
          </a:p>
        </p:txBody>
      </p:sp>
      <p:sp>
        <p:nvSpPr>
          <p:cNvPr id="13" name="Shape 11"/>
          <p:cNvSpPr/>
          <p:nvPr/>
        </p:nvSpPr>
        <p:spPr>
          <a:xfrm>
            <a:off x="731520" y="4745736"/>
            <a:ext cx="100584" cy="100584"/>
          </a:xfrm>
          <a:prstGeom prst="ellipse">
            <a:avLst/>
          </a:prstGeom>
          <a:solidFill>
            <a:srgbClr val="C2410C"/>
          </a:solidFill>
          <a:ln/>
        </p:spPr>
      </p:sp>
      <p:sp>
        <p:nvSpPr>
          <p:cNvPr id="14" name="Text 12"/>
          <p:cNvSpPr txBox="1"/>
          <p:nvPr/>
        </p:nvSpPr>
        <p:spPr>
          <a:xfrm>
            <a:off x="1033272" y="4608576"/>
            <a:ext cx="5029200" cy="566928"/>
          </a:xfrm>
          <a:prstGeom prst="rect">
            <a:avLst/>
          </a:prstGeom>
          <a:noFill/>
          <a:ln/>
        </p:spPr>
        <p:txBody>
          <a:bodyPr wrap="square" lIns="0" tIns="0" rIns="0" bIns="0" rtlCol="0" anchor="t"/>
          <a:lstStyle/>
          <a:p>
            <a:pPr indent="0" marL="0">
              <a:lnSpc>
                <a:spcPts val="1600"/>
              </a:lnSpc>
              <a:buNone/>
            </a:pPr>
            <a:r>
              <a:rPr lang="en-US" sz="1150" dirty="0">
                <a:solidFill>
                  <a:srgbClr val="202020"/>
                </a:solidFill>
                <a:latin typeface="Calibri" pitchFamily="34" charset="0"/>
                <a:ea typeface="Calibri" pitchFamily="34" charset="-122"/>
                <a:cs typeface="Calibri" pitchFamily="34" charset="-120"/>
              </a:rPr>
              <a:t>La atribución agente/cliente la hereda de la diarización, no de un campo estructurado.</a:t>
            </a:r>
            <a:endParaRPr lang="en-US" sz="1150" dirty="0"/>
          </a:p>
        </p:txBody>
      </p:sp>
      <p:sp>
        <p:nvSpPr>
          <p:cNvPr id="15" name="Shape 13"/>
          <p:cNvSpPr/>
          <p:nvPr/>
        </p:nvSpPr>
        <p:spPr>
          <a:xfrm>
            <a:off x="731520" y="5404104"/>
            <a:ext cx="100584" cy="100584"/>
          </a:xfrm>
          <a:prstGeom prst="ellipse">
            <a:avLst/>
          </a:prstGeom>
          <a:solidFill>
            <a:srgbClr val="C2410C"/>
          </a:solidFill>
          <a:ln/>
        </p:spPr>
      </p:sp>
      <p:sp>
        <p:nvSpPr>
          <p:cNvPr id="16" name="Text 14"/>
          <p:cNvSpPr txBox="1"/>
          <p:nvPr/>
        </p:nvSpPr>
        <p:spPr>
          <a:xfrm>
            <a:off x="1033272" y="5266944"/>
            <a:ext cx="5029200" cy="566928"/>
          </a:xfrm>
          <a:prstGeom prst="rect">
            <a:avLst/>
          </a:prstGeom>
          <a:noFill/>
          <a:ln/>
        </p:spPr>
        <p:txBody>
          <a:bodyPr wrap="square" lIns="0" tIns="0" rIns="0" bIns="0" rtlCol="0" anchor="t"/>
          <a:lstStyle/>
          <a:p>
            <a:pPr indent="0" marL="0">
              <a:lnSpc>
                <a:spcPts val="1600"/>
              </a:lnSpc>
              <a:buNone/>
            </a:pPr>
            <a:r>
              <a:rPr lang="en-US" sz="1150" dirty="0">
                <a:solidFill>
                  <a:srgbClr val="202020"/>
                </a:solidFill>
                <a:latin typeface="Calibri" pitchFamily="34" charset="0"/>
                <a:ea typeface="Calibri" pitchFamily="34" charset="-122"/>
                <a:cs typeface="Calibri" pitchFamily="34" charset="-120"/>
              </a:rPr>
              <a:t>La capa de sentimiento es exploratoria y no sostiene conclusiones por sí sola.</a:t>
            </a:r>
            <a:endParaRPr lang="en-US" sz="1150" dirty="0"/>
          </a:p>
        </p:txBody>
      </p:sp>
      <p:sp>
        <p:nvSpPr>
          <p:cNvPr id="17" name="Text 15"/>
          <p:cNvSpPr txBox="1"/>
          <p:nvPr/>
        </p:nvSpPr>
        <p:spPr>
          <a:xfrm>
            <a:off x="6400800" y="1572768"/>
            <a:ext cx="5029200" cy="292608"/>
          </a:xfrm>
          <a:prstGeom prst="rect">
            <a:avLst/>
          </a:prstGeom>
          <a:noFill/>
          <a:ln/>
        </p:spPr>
        <p:txBody>
          <a:bodyPr wrap="square" lIns="0" tIns="0" rIns="0" bIns="0" rtlCol="0" anchor="ctr"/>
          <a:lstStyle/>
          <a:p>
            <a:pPr indent="0" marL="0">
              <a:buNone/>
            </a:pPr>
            <a:r>
              <a:rPr lang="en-US" sz="1400" b="1" dirty="0">
                <a:solidFill>
                  <a:srgbClr val="4E2AAE"/>
                </a:solidFill>
                <a:latin typeface="Calibri" pitchFamily="34" charset="0"/>
                <a:ea typeface="Calibri" pitchFamily="34" charset="-122"/>
                <a:cs typeface="Calibri" pitchFamily="34" charset="-120"/>
              </a:rPr>
              <a:t>Próximos pasos</a:t>
            </a:r>
            <a:endParaRPr lang="en-US" sz="1400" dirty="0"/>
          </a:p>
        </p:txBody>
      </p:sp>
      <p:sp>
        <p:nvSpPr>
          <p:cNvPr id="18" name="Shape 16"/>
          <p:cNvSpPr/>
          <p:nvPr/>
        </p:nvSpPr>
        <p:spPr>
          <a:xfrm>
            <a:off x="6400800" y="2029968"/>
            <a:ext cx="5074920" cy="868680"/>
          </a:xfrm>
          <a:prstGeom prst="roundRect">
            <a:avLst>
              <a:gd name="adj" fmla="val 10526"/>
            </a:avLst>
          </a:prstGeom>
          <a:solidFill>
            <a:srgbClr val="FFFFFF"/>
          </a:solidFill>
          <a:ln w="12700">
            <a:solidFill>
              <a:srgbClr val="E9E4EF"/>
            </a:solidFill>
            <a:prstDash val="solid"/>
          </a:ln>
        </p:spPr>
      </p:sp>
      <p:sp>
        <p:nvSpPr>
          <p:cNvPr id="19" name="Text 17"/>
          <p:cNvSpPr txBox="1"/>
          <p:nvPr/>
        </p:nvSpPr>
        <p:spPr>
          <a:xfrm>
            <a:off x="6675120" y="2139696"/>
            <a:ext cx="1188720" cy="256032"/>
          </a:xfrm>
          <a:prstGeom prst="rect">
            <a:avLst/>
          </a:prstGeom>
          <a:noFill/>
          <a:ln/>
        </p:spPr>
        <p:txBody>
          <a:bodyPr wrap="square" lIns="0" tIns="0" rIns="0" bIns="0" rtlCol="0" anchor="ctr"/>
          <a:lstStyle/>
          <a:p>
            <a:pPr indent="0" marL="0">
              <a:buNone/>
            </a:pPr>
            <a:r>
              <a:rPr lang="en-US" sz="1150" b="1" dirty="0">
                <a:solidFill>
                  <a:srgbClr val="4E2AAE"/>
                </a:solidFill>
                <a:latin typeface="Calibri" pitchFamily="34" charset="0"/>
                <a:ea typeface="Calibri" pitchFamily="34" charset="-122"/>
                <a:cs typeface="Calibri" pitchFamily="34" charset="-120"/>
              </a:rPr>
              <a:t>Datos</a:t>
            </a:r>
            <a:endParaRPr lang="en-US" sz="1150" dirty="0"/>
          </a:p>
        </p:txBody>
      </p:sp>
      <p:sp>
        <p:nvSpPr>
          <p:cNvPr id="20" name="Text 18"/>
          <p:cNvSpPr txBox="1"/>
          <p:nvPr/>
        </p:nvSpPr>
        <p:spPr>
          <a:xfrm>
            <a:off x="6675120" y="2414016"/>
            <a:ext cx="4572000" cy="457200"/>
          </a:xfrm>
          <a:prstGeom prst="rect">
            <a:avLst/>
          </a:prstGeom>
          <a:noFill/>
          <a:ln/>
        </p:spPr>
        <p:txBody>
          <a:bodyPr wrap="square" lIns="0" tIns="0" rIns="0" bIns="0" rtlCol="0" anchor="t"/>
          <a:lstStyle/>
          <a:p>
            <a:pPr indent="0" marL="0">
              <a:lnSpc>
                <a:spcPts val="1400"/>
              </a:lnSpc>
              <a:buNone/>
            </a:pPr>
            <a:r>
              <a:rPr lang="en-US" sz="1100" dirty="0">
                <a:solidFill>
                  <a:srgbClr val="757275"/>
                </a:solidFill>
                <a:latin typeface="Calibri" pitchFamily="34" charset="0"/>
                <a:ea typeface="Calibri" pitchFamily="34" charset="-122"/>
                <a:cs typeface="Calibri" pitchFamily="34" charset="-120"/>
              </a:rPr>
              <a:t>Muestra emparejada: mismo tipo de gestión y misma campaña en ambos grupos.</a:t>
            </a:r>
            <a:endParaRPr lang="en-US" sz="1100" dirty="0"/>
          </a:p>
        </p:txBody>
      </p:sp>
      <p:sp>
        <p:nvSpPr>
          <p:cNvPr id="21" name="Shape 19"/>
          <p:cNvSpPr/>
          <p:nvPr/>
        </p:nvSpPr>
        <p:spPr>
          <a:xfrm>
            <a:off x="6400800" y="3017520"/>
            <a:ext cx="5074920" cy="868680"/>
          </a:xfrm>
          <a:prstGeom prst="roundRect">
            <a:avLst>
              <a:gd name="adj" fmla="val 10526"/>
            </a:avLst>
          </a:prstGeom>
          <a:solidFill>
            <a:srgbClr val="FFFFFF"/>
          </a:solidFill>
          <a:ln w="12700">
            <a:solidFill>
              <a:srgbClr val="E9E4EF"/>
            </a:solidFill>
            <a:prstDash val="solid"/>
          </a:ln>
        </p:spPr>
      </p:sp>
      <p:sp>
        <p:nvSpPr>
          <p:cNvPr id="22" name="Text 20"/>
          <p:cNvSpPr txBox="1"/>
          <p:nvPr/>
        </p:nvSpPr>
        <p:spPr>
          <a:xfrm>
            <a:off x="6675120" y="3127248"/>
            <a:ext cx="1188720" cy="256032"/>
          </a:xfrm>
          <a:prstGeom prst="rect">
            <a:avLst/>
          </a:prstGeom>
          <a:noFill/>
          <a:ln/>
        </p:spPr>
        <p:txBody>
          <a:bodyPr wrap="square" lIns="0" tIns="0" rIns="0" bIns="0" rtlCol="0" anchor="ctr"/>
          <a:lstStyle/>
          <a:p>
            <a:pPr indent="0" marL="0">
              <a:buNone/>
            </a:pPr>
            <a:r>
              <a:rPr lang="en-US" sz="1150" b="1" dirty="0">
                <a:solidFill>
                  <a:srgbClr val="4E2AAE"/>
                </a:solidFill>
                <a:latin typeface="Calibri" pitchFamily="34" charset="0"/>
                <a:ea typeface="Calibri" pitchFamily="34" charset="-122"/>
                <a:cs typeface="Calibri" pitchFamily="34" charset="-120"/>
              </a:rPr>
              <a:t>Modelo</a:t>
            </a:r>
            <a:endParaRPr lang="en-US" sz="1150" dirty="0"/>
          </a:p>
        </p:txBody>
      </p:sp>
      <p:sp>
        <p:nvSpPr>
          <p:cNvPr id="23" name="Text 21"/>
          <p:cNvSpPr txBox="1"/>
          <p:nvPr/>
        </p:nvSpPr>
        <p:spPr>
          <a:xfrm>
            <a:off x="6675120" y="3401568"/>
            <a:ext cx="4572000" cy="457200"/>
          </a:xfrm>
          <a:prstGeom prst="rect">
            <a:avLst/>
          </a:prstGeom>
          <a:noFill/>
          <a:ln/>
        </p:spPr>
        <p:txBody>
          <a:bodyPr wrap="square" lIns="0" tIns="0" rIns="0" bIns="0" rtlCol="0" anchor="t"/>
          <a:lstStyle/>
          <a:p>
            <a:pPr indent="0" marL="0">
              <a:lnSpc>
                <a:spcPts val="1400"/>
              </a:lnSpc>
              <a:buNone/>
            </a:pPr>
            <a:r>
              <a:rPr lang="en-US" sz="1100" dirty="0">
                <a:solidFill>
                  <a:srgbClr val="757275"/>
                </a:solidFill>
                <a:latin typeface="Calibri" pitchFamily="34" charset="0"/>
                <a:ea typeface="Calibri" pitchFamily="34" charset="-122"/>
                <a:cs typeface="Calibri" pitchFamily="34" charset="-120"/>
              </a:rPr>
              <a:t>Medir precisión y exhaustividad de la extracción contra un etiquetado humano completo.</a:t>
            </a:r>
            <a:endParaRPr lang="en-US" sz="1100" dirty="0"/>
          </a:p>
        </p:txBody>
      </p:sp>
      <p:sp>
        <p:nvSpPr>
          <p:cNvPr id="24" name="Shape 22"/>
          <p:cNvSpPr/>
          <p:nvPr/>
        </p:nvSpPr>
        <p:spPr>
          <a:xfrm>
            <a:off x="6400800" y="4005072"/>
            <a:ext cx="5074920" cy="868680"/>
          </a:xfrm>
          <a:prstGeom prst="roundRect">
            <a:avLst>
              <a:gd name="adj" fmla="val 10526"/>
            </a:avLst>
          </a:prstGeom>
          <a:solidFill>
            <a:srgbClr val="FFFFFF"/>
          </a:solidFill>
          <a:ln w="12700">
            <a:solidFill>
              <a:srgbClr val="E9E4EF"/>
            </a:solidFill>
            <a:prstDash val="solid"/>
          </a:ln>
        </p:spPr>
      </p:sp>
      <p:sp>
        <p:nvSpPr>
          <p:cNvPr id="25" name="Text 23"/>
          <p:cNvSpPr txBox="1"/>
          <p:nvPr/>
        </p:nvSpPr>
        <p:spPr>
          <a:xfrm>
            <a:off x="6675120" y="4114800"/>
            <a:ext cx="1188720" cy="256032"/>
          </a:xfrm>
          <a:prstGeom prst="rect">
            <a:avLst/>
          </a:prstGeom>
          <a:noFill/>
          <a:ln/>
        </p:spPr>
        <p:txBody>
          <a:bodyPr wrap="square" lIns="0" tIns="0" rIns="0" bIns="0" rtlCol="0" anchor="ctr"/>
          <a:lstStyle/>
          <a:p>
            <a:pPr indent="0" marL="0">
              <a:buNone/>
            </a:pPr>
            <a:r>
              <a:rPr lang="en-US" sz="1150" b="1" dirty="0">
                <a:solidFill>
                  <a:srgbClr val="4E2AAE"/>
                </a:solidFill>
                <a:latin typeface="Calibri" pitchFamily="34" charset="0"/>
                <a:ea typeface="Calibri" pitchFamily="34" charset="-122"/>
                <a:cs typeface="Calibri" pitchFamily="34" charset="-120"/>
              </a:rPr>
              <a:t>Análisis</a:t>
            </a:r>
            <a:endParaRPr lang="en-US" sz="1150" dirty="0"/>
          </a:p>
        </p:txBody>
      </p:sp>
      <p:sp>
        <p:nvSpPr>
          <p:cNvPr id="26" name="Text 24"/>
          <p:cNvSpPr txBox="1"/>
          <p:nvPr/>
        </p:nvSpPr>
        <p:spPr>
          <a:xfrm>
            <a:off x="6675120" y="4389120"/>
            <a:ext cx="4572000" cy="457200"/>
          </a:xfrm>
          <a:prstGeom prst="rect">
            <a:avLst/>
          </a:prstGeom>
          <a:noFill/>
          <a:ln/>
        </p:spPr>
        <p:txBody>
          <a:bodyPr wrap="square" lIns="0" tIns="0" rIns="0" bIns="0" rtlCol="0" anchor="t"/>
          <a:lstStyle/>
          <a:p>
            <a:pPr indent="0" marL="0">
              <a:lnSpc>
                <a:spcPts val="1400"/>
              </a:lnSpc>
              <a:buNone/>
            </a:pPr>
            <a:r>
              <a:rPr lang="en-US" sz="1100" dirty="0">
                <a:solidFill>
                  <a:srgbClr val="757275"/>
                </a:solidFill>
                <a:latin typeface="Calibri" pitchFamily="34" charset="0"/>
                <a:ea typeface="Calibri" pitchFamily="34" charset="-122"/>
                <a:cs typeface="Calibri" pitchFamily="34" charset="-120"/>
              </a:rPr>
              <a:t>Estratificar o emparejar por tipo de gestión y repetir los contrastes.</a:t>
            </a:r>
            <a:endParaRPr lang="en-US" sz="1100" dirty="0"/>
          </a:p>
        </p:txBody>
      </p:sp>
      <p:sp>
        <p:nvSpPr>
          <p:cNvPr id="27" name="Shape 25"/>
          <p:cNvSpPr/>
          <p:nvPr/>
        </p:nvSpPr>
        <p:spPr>
          <a:xfrm>
            <a:off x="6400800" y="4992624"/>
            <a:ext cx="5074920" cy="868680"/>
          </a:xfrm>
          <a:prstGeom prst="roundRect">
            <a:avLst>
              <a:gd name="adj" fmla="val 10526"/>
            </a:avLst>
          </a:prstGeom>
          <a:solidFill>
            <a:srgbClr val="FDEDF9"/>
          </a:solidFill>
          <a:ln w="19050">
            <a:solidFill>
              <a:srgbClr val="F26ECF"/>
            </a:solidFill>
            <a:prstDash val="solid"/>
          </a:ln>
        </p:spPr>
      </p:sp>
      <p:sp>
        <p:nvSpPr>
          <p:cNvPr id="28" name="Text 26"/>
          <p:cNvSpPr txBox="1"/>
          <p:nvPr/>
        </p:nvSpPr>
        <p:spPr>
          <a:xfrm>
            <a:off x="6675120" y="5102352"/>
            <a:ext cx="1188720" cy="256032"/>
          </a:xfrm>
          <a:prstGeom prst="rect">
            <a:avLst/>
          </a:prstGeom>
          <a:noFill/>
          <a:ln/>
        </p:spPr>
        <p:txBody>
          <a:bodyPr wrap="square" lIns="0" tIns="0" rIns="0" bIns="0" rtlCol="0" anchor="ctr"/>
          <a:lstStyle/>
          <a:p>
            <a:pPr indent="0" marL="0">
              <a:buNone/>
            </a:pPr>
            <a:r>
              <a:rPr lang="en-US" sz="1150" b="1" dirty="0">
                <a:solidFill>
                  <a:srgbClr val="F26ECF"/>
                </a:solidFill>
                <a:latin typeface="Calibri" pitchFamily="34" charset="0"/>
                <a:ea typeface="Calibri" pitchFamily="34" charset="-122"/>
                <a:cs typeface="Calibri" pitchFamily="34" charset="-120"/>
              </a:rPr>
              <a:t>Negocio</a:t>
            </a:r>
            <a:endParaRPr lang="en-US" sz="1150" dirty="0"/>
          </a:p>
        </p:txBody>
      </p:sp>
      <p:sp>
        <p:nvSpPr>
          <p:cNvPr id="29" name="Text 27"/>
          <p:cNvSpPr txBox="1"/>
          <p:nvPr/>
        </p:nvSpPr>
        <p:spPr>
          <a:xfrm>
            <a:off x="6675120" y="5376672"/>
            <a:ext cx="4572000" cy="457200"/>
          </a:xfrm>
          <a:prstGeom prst="rect">
            <a:avLst/>
          </a:prstGeom>
          <a:noFill/>
          <a:ln/>
        </p:spPr>
        <p:txBody>
          <a:bodyPr wrap="square" lIns="0" tIns="0" rIns="0" bIns="0" rtlCol="0" anchor="t"/>
          <a:lstStyle/>
          <a:p>
            <a:pPr indent="0" marL="0">
              <a:lnSpc>
                <a:spcPts val="1400"/>
              </a:lnSpc>
              <a:buNone/>
            </a:pPr>
            <a:r>
              <a:rPr lang="en-US" sz="1100" dirty="0">
                <a:solidFill>
                  <a:srgbClr val="757275"/>
                </a:solidFill>
                <a:latin typeface="Calibri" pitchFamily="34" charset="0"/>
                <a:ea typeface="Calibri" pitchFamily="34" charset="-122"/>
                <a:cs typeface="Calibri" pitchFamily="34" charset="-120"/>
              </a:rPr>
              <a:t>Cotizar el modelo de costos real y construir el escenario de ROI por tipo de gestión.</a:t>
            </a:r>
            <a:endParaRPr lang="en-US" sz="1100" dirty="0"/>
          </a:p>
        </p:txBody>
      </p:sp>
      <p:sp>
        <p:nvSpPr>
          <p:cNvPr id="30" name="Text 28"/>
          <p:cNvSpPr txBox="1"/>
          <p:nvPr/>
        </p:nvSpPr>
        <p:spPr>
          <a:xfrm>
            <a:off x="685800" y="6327648"/>
            <a:ext cx="10789920" cy="274320"/>
          </a:xfrm>
          <a:prstGeom prst="rect">
            <a:avLst/>
          </a:prstGeom>
          <a:noFill/>
          <a:ln/>
        </p:spPr>
        <p:txBody>
          <a:bodyPr wrap="square" lIns="0" tIns="0" rIns="0" bIns="0" rtlCol="0" anchor="ctr"/>
          <a:lstStyle/>
          <a:p>
            <a:pPr indent="0" marL="0">
              <a:buNone/>
            </a:pPr>
            <a:r>
              <a:rPr lang="en-US" sz="950" i="1" dirty="0">
                <a:solidFill>
                  <a:srgbClr val="757275"/>
                </a:solidFill>
                <a:latin typeface="Calibri" pitchFamily="34" charset="0"/>
                <a:ea typeface="Calibri" pitchFamily="34" charset="-122"/>
                <a:cs typeface="Calibri" pitchFamily="34" charset="-120"/>
              </a:rPr>
              <a:t>Los resultados deben interpretarse dentro de las condiciones y la composición del dataset analizado.</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4E2AAE"/>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F9BCE8"/>
                </a:solidFill>
                <a:latin typeface="Calibri" pitchFamily="34" charset="0"/>
                <a:ea typeface="Calibri" pitchFamily="34" charset="-122"/>
                <a:cs typeface="Calibri" pitchFamily="34" charset="-120"/>
              </a:rPr>
              <a:t>CONCLUSIÓN</a:t>
            </a:r>
            <a:endParaRPr lang="en-US" sz="1100" dirty="0"/>
          </a:p>
        </p:txBody>
      </p:sp>
      <p:sp>
        <p:nvSpPr>
          <p:cNvPr id="3" name="Text 1"/>
          <p:cNvSpPr txBox="1"/>
          <p:nvPr/>
        </p:nvSpPr>
        <p:spPr>
          <a:xfrm>
            <a:off x="685800" y="676656"/>
            <a:ext cx="10789920" cy="74980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El resultado no fue quién gana, sino cuándo comparar</a:t>
            </a:r>
            <a:endParaRPr lang="en-US" sz="3200" dirty="0"/>
          </a:p>
        </p:txBody>
      </p:sp>
      <p:sp>
        <p:nvSpPr>
          <p:cNvPr id="4" name="Shape 2"/>
          <p:cNvSpPr/>
          <p:nvPr/>
        </p:nvSpPr>
        <p:spPr>
          <a:xfrm>
            <a:off x="685800" y="1801368"/>
            <a:ext cx="10789920" cy="1554480"/>
          </a:xfrm>
          <a:prstGeom prst="roundRect">
            <a:avLst>
              <a:gd name="adj" fmla="val 7059"/>
            </a:avLst>
          </a:prstGeom>
          <a:solidFill>
            <a:srgbClr val="5C3BC4"/>
          </a:solidFill>
          <a:ln/>
        </p:spPr>
      </p:sp>
      <p:sp>
        <p:nvSpPr>
          <p:cNvPr id="5" name="Text 3"/>
          <p:cNvSpPr txBox="1"/>
          <p:nvPr/>
        </p:nvSpPr>
        <p:spPr>
          <a:xfrm>
            <a:off x="1143000" y="2011680"/>
            <a:ext cx="9875520" cy="1143000"/>
          </a:xfrm>
          <a:prstGeom prst="rect">
            <a:avLst/>
          </a:prstGeom>
          <a:noFill/>
          <a:ln/>
        </p:spPr>
        <p:txBody>
          <a:bodyPr wrap="square" lIns="0" tIns="0" rIns="0" bIns="0" rtlCol="0" anchor="ctr"/>
          <a:lstStyle/>
          <a:p>
            <a:pPr indent="0" marL="0">
              <a:lnSpc>
                <a:spcPts val="2600"/>
              </a:lnSpc>
              <a:buNone/>
            </a:pPr>
            <a:r>
              <a:rPr lang="en-US" sz="1800" i="1" dirty="0">
                <a:solidFill>
                  <a:srgbClr val="FFFFFF"/>
                </a:solidFill>
                <a:latin typeface="Cambria" pitchFamily="34" charset="0"/>
                <a:ea typeface="Cambria" pitchFamily="34" charset="-122"/>
                <a:cs typeface="Cambria" pitchFamily="34" charset="-120"/>
              </a:rPr>
              <a:t>El hallazgo principal no fue determinar si la IA rinde más o menos que un agente humano, sino identificar bajo qué condiciones esa comparación es válida — y cómo convertir conversaciones grabadas en evidencia utilizable para decidir sobre automatización.</a:t>
            </a:r>
            <a:endParaRPr lang="en-US" sz="1800" dirty="0"/>
          </a:p>
        </p:txBody>
      </p:sp>
      <p:sp>
        <p:nvSpPr>
          <p:cNvPr id="6" name="Shape 4"/>
          <p:cNvSpPr/>
          <p:nvPr/>
        </p:nvSpPr>
        <p:spPr>
          <a:xfrm>
            <a:off x="2377440" y="3721608"/>
            <a:ext cx="1691640" cy="658368"/>
          </a:xfrm>
          <a:prstGeom prst="roundRect">
            <a:avLst>
              <a:gd name="adj" fmla="val 13889"/>
            </a:avLst>
          </a:prstGeom>
          <a:solidFill>
            <a:srgbClr val="5C3BC4"/>
          </a:solidFill>
          <a:ln/>
        </p:spPr>
      </p:sp>
      <p:sp>
        <p:nvSpPr>
          <p:cNvPr id="7" name="Text 5"/>
          <p:cNvSpPr txBox="1"/>
          <p:nvPr/>
        </p:nvSpPr>
        <p:spPr>
          <a:xfrm>
            <a:off x="2377440" y="3721608"/>
            <a:ext cx="1691640"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Audio</a:t>
            </a:r>
            <a:endParaRPr lang="en-US" sz="1400" dirty="0"/>
          </a:p>
        </p:txBody>
      </p:sp>
      <p:sp>
        <p:nvSpPr>
          <p:cNvPr id="8" name="Text 6"/>
          <p:cNvSpPr txBox="1"/>
          <p:nvPr/>
        </p:nvSpPr>
        <p:spPr>
          <a:xfrm>
            <a:off x="4087368" y="3813048"/>
            <a:ext cx="548640" cy="457200"/>
          </a:xfrm>
          <a:prstGeom prst="rect">
            <a:avLst/>
          </a:prstGeom>
          <a:noFill/>
          <a:ln/>
        </p:spPr>
        <p:txBody>
          <a:bodyPr wrap="square" lIns="0" tIns="0" rIns="0" bIns="0" rtlCol="0" anchor="ctr"/>
          <a:lstStyle/>
          <a:p>
            <a:pPr algn="ctr" indent="0" marL="0">
              <a:buNone/>
            </a:pPr>
            <a:r>
              <a:rPr lang="en-US" sz="2000" b="1" dirty="0">
                <a:solidFill>
                  <a:srgbClr val="F26ECF"/>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4663440" y="3721608"/>
            <a:ext cx="1691640" cy="658368"/>
          </a:xfrm>
          <a:prstGeom prst="roundRect">
            <a:avLst>
              <a:gd name="adj" fmla="val 13889"/>
            </a:avLst>
          </a:prstGeom>
          <a:solidFill>
            <a:srgbClr val="5C3BC4"/>
          </a:solidFill>
          <a:ln/>
        </p:spPr>
      </p:sp>
      <p:sp>
        <p:nvSpPr>
          <p:cNvPr id="10" name="Text 8"/>
          <p:cNvSpPr txBox="1"/>
          <p:nvPr/>
        </p:nvSpPr>
        <p:spPr>
          <a:xfrm>
            <a:off x="4663440" y="3721608"/>
            <a:ext cx="1691640"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Datos</a:t>
            </a:r>
            <a:endParaRPr lang="en-US" sz="1400" dirty="0"/>
          </a:p>
        </p:txBody>
      </p:sp>
      <p:sp>
        <p:nvSpPr>
          <p:cNvPr id="11" name="Text 9"/>
          <p:cNvSpPr txBox="1"/>
          <p:nvPr/>
        </p:nvSpPr>
        <p:spPr>
          <a:xfrm>
            <a:off x="6373368" y="3813048"/>
            <a:ext cx="548640" cy="457200"/>
          </a:xfrm>
          <a:prstGeom prst="rect">
            <a:avLst/>
          </a:prstGeom>
          <a:noFill/>
          <a:ln/>
        </p:spPr>
        <p:txBody>
          <a:bodyPr wrap="square" lIns="0" tIns="0" rIns="0" bIns="0" rtlCol="0" anchor="ctr"/>
          <a:lstStyle/>
          <a:p>
            <a:pPr algn="ctr" indent="0" marL="0">
              <a:buNone/>
            </a:pPr>
            <a:r>
              <a:rPr lang="en-US" sz="2000" b="1" dirty="0">
                <a:solidFill>
                  <a:srgbClr val="F26ECF"/>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949440" y="3721608"/>
            <a:ext cx="1691640" cy="658368"/>
          </a:xfrm>
          <a:prstGeom prst="roundRect">
            <a:avLst>
              <a:gd name="adj" fmla="val 13889"/>
            </a:avLst>
          </a:prstGeom>
          <a:solidFill>
            <a:srgbClr val="5C3BC4"/>
          </a:solidFill>
          <a:ln/>
        </p:spPr>
      </p:sp>
      <p:sp>
        <p:nvSpPr>
          <p:cNvPr id="13" name="Text 11"/>
          <p:cNvSpPr txBox="1"/>
          <p:nvPr/>
        </p:nvSpPr>
        <p:spPr>
          <a:xfrm>
            <a:off x="6949440" y="3721608"/>
            <a:ext cx="1691640"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Evidencia</a:t>
            </a:r>
            <a:endParaRPr lang="en-US" sz="1400" dirty="0"/>
          </a:p>
        </p:txBody>
      </p:sp>
      <p:sp>
        <p:nvSpPr>
          <p:cNvPr id="14" name="Text 12"/>
          <p:cNvSpPr txBox="1"/>
          <p:nvPr/>
        </p:nvSpPr>
        <p:spPr>
          <a:xfrm>
            <a:off x="8659368" y="3813048"/>
            <a:ext cx="548640" cy="457200"/>
          </a:xfrm>
          <a:prstGeom prst="rect">
            <a:avLst/>
          </a:prstGeom>
          <a:noFill/>
          <a:ln/>
        </p:spPr>
        <p:txBody>
          <a:bodyPr wrap="square" lIns="0" tIns="0" rIns="0" bIns="0" rtlCol="0" anchor="ctr"/>
          <a:lstStyle/>
          <a:p>
            <a:pPr algn="ctr" indent="0" marL="0">
              <a:buNone/>
            </a:pPr>
            <a:r>
              <a:rPr lang="en-US" sz="2000" b="1" dirty="0">
                <a:solidFill>
                  <a:srgbClr val="F26ECF"/>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9235440" y="3721608"/>
            <a:ext cx="1691640" cy="658368"/>
          </a:xfrm>
          <a:prstGeom prst="roundRect">
            <a:avLst>
              <a:gd name="adj" fmla="val 13889"/>
            </a:avLst>
          </a:prstGeom>
          <a:solidFill>
            <a:srgbClr val="F26ECF"/>
          </a:solidFill>
          <a:ln/>
        </p:spPr>
      </p:sp>
      <p:sp>
        <p:nvSpPr>
          <p:cNvPr id="16" name="Text 14"/>
          <p:cNvSpPr txBox="1"/>
          <p:nvPr/>
        </p:nvSpPr>
        <p:spPr>
          <a:xfrm>
            <a:off x="9235440" y="3721608"/>
            <a:ext cx="1691640"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Decisión</a:t>
            </a:r>
            <a:endParaRPr lang="en-US" sz="1400" dirty="0"/>
          </a:p>
        </p:txBody>
      </p:sp>
      <p:sp>
        <p:nvSpPr>
          <p:cNvPr id="17" name="Text 15"/>
          <p:cNvSpPr txBox="1"/>
          <p:nvPr/>
        </p:nvSpPr>
        <p:spPr>
          <a:xfrm>
            <a:off x="685800" y="4681728"/>
            <a:ext cx="3474720" cy="365760"/>
          </a:xfrm>
          <a:prstGeom prst="rect">
            <a:avLst/>
          </a:prstGeom>
          <a:noFill/>
          <a:ln/>
        </p:spPr>
        <p:txBody>
          <a:bodyPr wrap="square" lIns="0" tIns="0" rIns="0" bIns="0" rtlCol="0" anchor="ctr"/>
          <a:lstStyle/>
          <a:p>
            <a:pPr indent="0" marL="0">
              <a:buNone/>
            </a:pPr>
            <a:r>
              <a:rPr lang="en-US" sz="1800" b="1" dirty="0">
                <a:solidFill>
                  <a:srgbClr val="F26ECF"/>
                </a:solidFill>
                <a:latin typeface="Calibri" pitchFamily="34" charset="0"/>
                <a:ea typeface="Calibri" pitchFamily="34" charset="-122"/>
                <a:cs typeface="Calibri" pitchFamily="34" charset="-120"/>
              </a:rPr>
              <a:t>Media brecha</a:t>
            </a:r>
            <a:endParaRPr lang="en-US" sz="1800" dirty="0"/>
          </a:p>
        </p:txBody>
      </p:sp>
      <p:sp>
        <p:nvSpPr>
          <p:cNvPr id="18" name="Text 16"/>
          <p:cNvSpPr txBox="1"/>
          <p:nvPr/>
        </p:nvSpPr>
        <p:spPr>
          <a:xfrm>
            <a:off x="685800" y="5065776"/>
            <a:ext cx="3474720" cy="502920"/>
          </a:xfrm>
          <a:prstGeom prst="rect">
            <a:avLst/>
          </a:prstGeom>
          <a:noFill/>
          <a:ln/>
        </p:spPr>
        <p:txBody>
          <a:bodyPr wrap="square" lIns="0" tIns="0" rIns="0" bIns="0" rtlCol="0" anchor="ctr"/>
          <a:lstStyle/>
          <a:p>
            <a:pPr indent="0" marL="0">
              <a:lnSpc>
                <a:spcPts val="1600"/>
              </a:lnSpc>
              <a:buNone/>
            </a:pPr>
            <a:r>
              <a:rPr lang="en-US" sz="1200" dirty="0">
                <a:solidFill>
                  <a:srgbClr val="F9BCE8"/>
                </a:solidFill>
                <a:latin typeface="Calibri" pitchFamily="34" charset="0"/>
                <a:ea typeface="Calibri" pitchFamily="34" charset="-122"/>
                <a:cs typeface="Calibri" pitchFamily="34" charset="-120"/>
              </a:rPr>
              <a:t>era composición de muestra, no desempeño</a:t>
            </a:r>
            <a:endParaRPr lang="en-US" sz="1200" dirty="0"/>
          </a:p>
        </p:txBody>
      </p:sp>
      <p:sp>
        <p:nvSpPr>
          <p:cNvPr id="19" name="Text 17"/>
          <p:cNvSpPr txBox="1"/>
          <p:nvPr/>
        </p:nvSpPr>
        <p:spPr>
          <a:xfrm>
            <a:off x="4389120" y="4681728"/>
            <a:ext cx="3474720" cy="365760"/>
          </a:xfrm>
          <a:prstGeom prst="rect">
            <a:avLst/>
          </a:prstGeom>
          <a:noFill/>
          <a:ln/>
        </p:spPr>
        <p:txBody>
          <a:bodyPr wrap="square" lIns="0" tIns="0" rIns="0" bIns="0" rtlCol="0" anchor="ctr"/>
          <a:lstStyle/>
          <a:p>
            <a:pPr indent="0" marL="0">
              <a:buNone/>
            </a:pPr>
            <a:r>
              <a:rPr lang="en-US" sz="1800" b="1" dirty="0">
                <a:solidFill>
                  <a:srgbClr val="F26ECF"/>
                </a:solidFill>
                <a:latin typeface="Calibri" pitchFamily="34" charset="0"/>
                <a:ea typeface="Calibri" pitchFamily="34" charset="-122"/>
                <a:cs typeface="Calibri" pitchFamily="34" charset="-120"/>
              </a:rPr>
              <a:t>1 de cada 4</a:t>
            </a:r>
            <a:endParaRPr lang="en-US" sz="1800" dirty="0"/>
          </a:p>
        </p:txBody>
      </p:sp>
      <p:sp>
        <p:nvSpPr>
          <p:cNvPr id="20" name="Text 18"/>
          <p:cNvSpPr txBox="1"/>
          <p:nvPr/>
        </p:nvSpPr>
        <p:spPr>
          <a:xfrm>
            <a:off x="4389120" y="5065776"/>
            <a:ext cx="3474720" cy="502920"/>
          </a:xfrm>
          <a:prstGeom prst="rect">
            <a:avLst/>
          </a:prstGeom>
          <a:noFill/>
          <a:ln/>
        </p:spPr>
        <p:txBody>
          <a:bodyPr wrap="square" lIns="0" tIns="0" rIns="0" bIns="0" rtlCol="0" anchor="ctr"/>
          <a:lstStyle/>
          <a:p>
            <a:pPr indent="0" marL="0">
              <a:lnSpc>
                <a:spcPts val="1600"/>
              </a:lnSpc>
              <a:buNone/>
            </a:pPr>
            <a:r>
              <a:rPr lang="en-US" sz="1200" dirty="0">
                <a:solidFill>
                  <a:srgbClr val="F9BCE8"/>
                </a:solidFill>
                <a:latin typeface="Calibri" pitchFamily="34" charset="0"/>
                <a:ea typeface="Calibri" pitchFamily="34" charset="-122"/>
                <a:cs typeface="Calibri" pitchFamily="34" charset="-120"/>
              </a:rPr>
              <a:t>llamadas de IA se pierde por falla técnica</a:t>
            </a:r>
            <a:endParaRPr lang="en-US" sz="1200" dirty="0"/>
          </a:p>
        </p:txBody>
      </p:sp>
      <p:sp>
        <p:nvSpPr>
          <p:cNvPr id="21" name="Text 19"/>
          <p:cNvSpPr txBox="1"/>
          <p:nvPr/>
        </p:nvSpPr>
        <p:spPr>
          <a:xfrm>
            <a:off x="8092440" y="4681728"/>
            <a:ext cx="3474720" cy="365760"/>
          </a:xfrm>
          <a:prstGeom prst="rect">
            <a:avLst/>
          </a:prstGeom>
          <a:noFill/>
          <a:ln/>
        </p:spPr>
        <p:txBody>
          <a:bodyPr wrap="square" lIns="0" tIns="0" rIns="0" bIns="0" rtlCol="0" anchor="ctr"/>
          <a:lstStyle/>
          <a:p>
            <a:pPr indent="0" marL="0">
              <a:buNone/>
            </a:pPr>
            <a:r>
              <a:rPr lang="en-US" sz="1800" b="1" dirty="0">
                <a:solidFill>
                  <a:srgbClr val="F26ECF"/>
                </a:solidFill>
                <a:latin typeface="Calibri" pitchFamily="34" charset="0"/>
                <a:ea typeface="Calibri" pitchFamily="34" charset="-122"/>
                <a:cs typeface="Calibri" pitchFamily="34" charset="-120"/>
              </a:rPr>
              <a:t>El seguimiento</a:t>
            </a:r>
            <a:endParaRPr lang="en-US" sz="1800" dirty="0"/>
          </a:p>
        </p:txBody>
      </p:sp>
      <p:sp>
        <p:nvSpPr>
          <p:cNvPr id="22" name="Text 20"/>
          <p:cNvSpPr txBox="1"/>
          <p:nvPr/>
        </p:nvSpPr>
        <p:spPr>
          <a:xfrm>
            <a:off x="8092440" y="5065776"/>
            <a:ext cx="3474720" cy="502920"/>
          </a:xfrm>
          <a:prstGeom prst="rect">
            <a:avLst/>
          </a:prstGeom>
          <a:noFill/>
          <a:ln/>
        </p:spPr>
        <p:txBody>
          <a:bodyPr wrap="square" lIns="0" tIns="0" rIns="0" bIns="0" rtlCol="0" anchor="ctr"/>
          <a:lstStyle/>
          <a:p>
            <a:pPr indent="0" marL="0">
              <a:lnSpc>
                <a:spcPts val="1600"/>
              </a:lnSpc>
              <a:buNone/>
            </a:pPr>
            <a:r>
              <a:rPr lang="en-US" sz="1200" dirty="0">
                <a:solidFill>
                  <a:srgbClr val="F9BCE8"/>
                </a:solidFill>
                <a:latin typeface="Calibri" pitchFamily="34" charset="0"/>
                <a:ea typeface="Calibri" pitchFamily="34" charset="-122"/>
                <a:cs typeface="Calibri" pitchFamily="34" charset="-120"/>
              </a:rPr>
              <a:t>es la extensión de alcance más natural</a:t>
            </a:r>
            <a:endParaRPr lang="en-US" sz="1200" dirty="0"/>
          </a:p>
        </p:txBody>
      </p:sp>
      <p:sp>
        <p:nvSpPr>
          <p:cNvPr id="23" name="Text 21"/>
          <p:cNvSpPr txBox="1"/>
          <p:nvPr/>
        </p:nvSpPr>
        <p:spPr>
          <a:xfrm>
            <a:off x="685800" y="6263640"/>
            <a:ext cx="10789920" cy="274320"/>
          </a:xfrm>
          <a:prstGeom prst="rect">
            <a:avLst/>
          </a:prstGeom>
          <a:noFill/>
          <a:ln/>
        </p:spPr>
        <p:txBody>
          <a:bodyPr wrap="square" lIns="0" tIns="0" rIns="0" bIns="0" rtlCol="0" anchor="ctr"/>
          <a:lstStyle/>
          <a:p>
            <a:pPr indent="0" marL="0">
              <a:buNone/>
            </a:pPr>
            <a:r>
              <a:rPr lang="en-US" sz="1100" dirty="0">
                <a:solidFill>
                  <a:srgbClr val="F9BCE8"/>
                </a:solidFill>
                <a:latin typeface="Calibri" pitchFamily="34" charset="0"/>
                <a:ea typeface="Calibri" pitchFamily="34" charset="-122"/>
                <a:cs typeface="Calibri" pitchFamily="34" charset="-120"/>
              </a:rPr>
              <a:t>github.com/Sergiofbc/Audio-Data-Analysis   ·   código, datos y detalle de cada etapa</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F26ECF"/>
                </a:solidFill>
                <a:latin typeface="Calibri" pitchFamily="34" charset="0"/>
                <a:ea typeface="Calibri" pitchFamily="34" charset="-122"/>
                <a:cs typeface="Calibri" pitchFamily="34" charset="-120"/>
              </a:rPr>
              <a:t>ANEXO</a:t>
            </a:r>
            <a:endParaRPr lang="en-US" sz="1100" dirty="0"/>
          </a:p>
        </p:txBody>
      </p:sp>
      <p:sp>
        <p:nvSpPr>
          <p:cNvPr id="3" name="Text 1"/>
          <p:cNvSpPr txBox="1"/>
          <p:nvPr/>
        </p:nvSpPr>
        <p:spPr>
          <a:xfrm>
            <a:off x="685800" y="676656"/>
            <a:ext cx="10789920" cy="749808"/>
          </a:xfrm>
          <a:prstGeom prst="rect">
            <a:avLst/>
          </a:prstGeom>
          <a:noFill/>
          <a:ln/>
        </p:spPr>
        <p:txBody>
          <a:bodyPr wrap="square" lIns="0" tIns="0" rIns="0" bIns="0" rtlCol="0" anchor="ctr"/>
          <a:lstStyle/>
          <a:p>
            <a:pPr indent="0" marL="0">
              <a:buNone/>
            </a:pPr>
            <a:r>
              <a:rPr lang="en-US" sz="3200" b="1" dirty="0">
                <a:solidFill>
                  <a:srgbClr val="202020"/>
                </a:solidFill>
                <a:latin typeface="Cambria" pitchFamily="34" charset="0"/>
                <a:ea typeface="Cambria" pitchFamily="34" charset="-122"/>
                <a:cs typeface="Cambria" pitchFamily="34" charset="-120"/>
              </a:rPr>
              <a:t>Las 28 variables extraídas por llamada</a:t>
            </a:r>
            <a:endParaRPr lang="en-US" sz="3200" dirty="0"/>
          </a:p>
        </p:txBody>
      </p:sp>
      <p:sp>
        <p:nvSpPr>
          <p:cNvPr id="4" name="Shape 2"/>
          <p:cNvSpPr/>
          <p:nvPr/>
        </p:nvSpPr>
        <p:spPr>
          <a:xfrm>
            <a:off x="685800" y="1700784"/>
            <a:ext cx="146304" cy="146304"/>
          </a:xfrm>
          <a:prstGeom prst="ellipse">
            <a:avLst/>
          </a:prstGeom>
          <a:solidFill>
            <a:srgbClr val="7047EB"/>
          </a:solidFill>
          <a:ln/>
        </p:spPr>
      </p:sp>
      <p:sp>
        <p:nvSpPr>
          <p:cNvPr id="5" name="Text 3"/>
          <p:cNvSpPr txBox="1"/>
          <p:nvPr/>
        </p:nvSpPr>
        <p:spPr>
          <a:xfrm>
            <a:off x="923544" y="1627632"/>
            <a:ext cx="2560320" cy="274320"/>
          </a:xfrm>
          <a:prstGeom prst="rect">
            <a:avLst/>
          </a:prstGeom>
          <a:noFill/>
          <a:ln/>
        </p:spPr>
        <p:txBody>
          <a:bodyPr wrap="square" lIns="0" tIns="0" rIns="0" bIns="0" rtlCol="0" anchor="ctr"/>
          <a:lstStyle/>
          <a:p>
            <a:pPr indent="0" marL="0">
              <a:buNone/>
            </a:pPr>
            <a:r>
              <a:rPr lang="en-US" sz="1200" b="1" dirty="0">
                <a:solidFill>
                  <a:srgbClr val="202020"/>
                </a:solidFill>
                <a:latin typeface="Calibri" pitchFamily="34" charset="0"/>
                <a:ea typeface="Calibri" pitchFamily="34" charset="-122"/>
                <a:cs typeface="Calibri" pitchFamily="34" charset="-120"/>
              </a:rPr>
              <a:t>Identificación</a:t>
            </a:r>
            <a:endParaRPr lang="en-US" sz="1200" dirty="0"/>
          </a:p>
        </p:txBody>
      </p:sp>
      <p:sp>
        <p:nvSpPr>
          <p:cNvPr id="6" name="Text 4"/>
          <p:cNvSpPr txBox="1"/>
          <p:nvPr/>
        </p:nvSpPr>
        <p:spPr>
          <a:xfrm>
            <a:off x="685800" y="1993392"/>
            <a:ext cx="2743200" cy="182880"/>
          </a:xfrm>
          <a:prstGeom prst="rect">
            <a:avLst/>
          </a:prstGeom>
          <a:noFill/>
          <a:ln/>
        </p:spPr>
        <p:txBody>
          <a:bodyPr wrap="square" lIns="0" tIns="0" rIns="0" bIns="0" rtlCol="0" anchor="ctr"/>
          <a:lstStyle/>
          <a:p>
            <a:pPr indent="0" marL="0">
              <a:buNone/>
            </a:pPr>
            <a:r>
              <a:rPr lang="en-US" sz="850" b="1" dirty="0">
                <a:solidFill>
                  <a:srgbClr val="7047EB"/>
                </a:solidFill>
                <a:latin typeface="Courier New" pitchFamily="34" charset="0"/>
                <a:ea typeface="Courier New" pitchFamily="34" charset="-122"/>
                <a:cs typeface="Courier New" pitchFamily="34" charset="-120"/>
              </a:rPr>
              <a:t>file</a:t>
            </a:r>
            <a:endParaRPr lang="en-US" sz="850" dirty="0"/>
          </a:p>
        </p:txBody>
      </p:sp>
      <p:sp>
        <p:nvSpPr>
          <p:cNvPr id="7" name="Text 5"/>
          <p:cNvSpPr txBox="1"/>
          <p:nvPr/>
        </p:nvSpPr>
        <p:spPr>
          <a:xfrm>
            <a:off x="685800" y="2167128"/>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UUID del audio</a:t>
            </a:r>
            <a:endParaRPr lang="en-US" sz="850" dirty="0"/>
          </a:p>
        </p:txBody>
      </p:sp>
      <p:sp>
        <p:nvSpPr>
          <p:cNvPr id="8" name="Text 6"/>
          <p:cNvSpPr txBox="1"/>
          <p:nvPr/>
        </p:nvSpPr>
        <p:spPr>
          <a:xfrm>
            <a:off x="685800" y="2423160"/>
            <a:ext cx="2743200" cy="182880"/>
          </a:xfrm>
          <a:prstGeom prst="rect">
            <a:avLst/>
          </a:prstGeom>
          <a:noFill/>
          <a:ln/>
        </p:spPr>
        <p:txBody>
          <a:bodyPr wrap="square" lIns="0" tIns="0" rIns="0" bIns="0" rtlCol="0" anchor="ctr"/>
          <a:lstStyle/>
          <a:p>
            <a:pPr indent="0" marL="0">
              <a:buNone/>
            </a:pPr>
            <a:r>
              <a:rPr lang="en-US" sz="850" b="1" dirty="0">
                <a:solidFill>
                  <a:srgbClr val="7047EB"/>
                </a:solidFill>
                <a:latin typeface="Courier New" pitchFamily="34" charset="0"/>
                <a:ea typeface="Courier New" pitchFamily="34" charset="-122"/>
                <a:cs typeface="Courier New" pitchFamily="34" charset="-120"/>
              </a:rPr>
              <a:t>grupo</a:t>
            </a:r>
            <a:endParaRPr lang="en-US" sz="850" dirty="0"/>
          </a:p>
        </p:txBody>
      </p:sp>
      <p:sp>
        <p:nvSpPr>
          <p:cNvPr id="9" name="Text 7"/>
          <p:cNvSpPr txBox="1"/>
          <p:nvPr/>
        </p:nvSpPr>
        <p:spPr>
          <a:xfrm>
            <a:off x="685800" y="2596896"/>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humano | ia</a:t>
            </a:r>
            <a:endParaRPr lang="en-US" sz="850" dirty="0"/>
          </a:p>
        </p:txBody>
      </p:sp>
      <p:sp>
        <p:nvSpPr>
          <p:cNvPr id="10" name="Text 8"/>
          <p:cNvSpPr txBox="1"/>
          <p:nvPr/>
        </p:nvSpPr>
        <p:spPr>
          <a:xfrm>
            <a:off x="685800" y="2852928"/>
            <a:ext cx="2743200" cy="182880"/>
          </a:xfrm>
          <a:prstGeom prst="rect">
            <a:avLst/>
          </a:prstGeom>
          <a:noFill/>
          <a:ln/>
        </p:spPr>
        <p:txBody>
          <a:bodyPr wrap="square" lIns="0" tIns="0" rIns="0" bIns="0" rtlCol="0" anchor="ctr"/>
          <a:lstStyle/>
          <a:p>
            <a:pPr indent="0" marL="0">
              <a:buNone/>
            </a:pPr>
            <a:r>
              <a:rPr lang="en-US" sz="850" b="1" dirty="0">
                <a:solidFill>
                  <a:srgbClr val="7047EB"/>
                </a:solidFill>
                <a:latin typeface="Courier New" pitchFamily="34" charset="0"/>
                <a:ea typeface="Courier New" pitchFamily="34" charset="-122"/>
                <a:cs typeface="Courier New" pitchFamily="34" charset="-120"/>
              </a:rPr>
              <a:t>tipo_gestion</a:t>
            </a:r>
            <a:endParaRPr lang="en-US" sz="850" dirty="0"/>
          </a:p>
        </p:txBody>
      </p:sp>
      <p:sp>
        <p:nvSpPr>
          <p:cNvPr id="11" name="Text 9"/>
          <p:cNvSpPr txBox="1"/>
          <p:nvPr/>
        </p:nvSpPr>
        <p:spPr>
          <a:xfrm>
            <a:off x="685800" y="3026664"/>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nueva_oferta | seguimiento_o_renegociacion | otro</a:t>
            </a:r>
            <a:endParaRPr lang="en-US" sz="850" dirty="0"/>
          </a:p>
        </p:txBody>
      </p:sp>
      <p:sp>
        <p:nvSpPr>
          <p:cNvPr id="12" name="Text 10"/>
          <p:cNvSpPr txBox="1"/>
          <p:nvPr/>
        </p:nvSpPr>
        <p:spPr>
          <a:xfrm>
            <a:off x="685800" y="3282696"/>
            <a:ext cx="2743200" cy="182880"/>
          </a:xfrm>
          <a:prstGeom prst="rect">
            <a:avLst/>
          </a:prstGeom>
          <a:noFill/>
          <a:ln/>
        </p:spPr>
        <p:txBody>
          <a:bodyPr wrap="square" lIns="0" tIns="0" rIns="0" bIns="0" rtlCol="0" anchor="ctr"/>
          <a:lstStyle/>
          <a:p>
            <a:pPr indent="0" marL="0">
              <a:buNone/>
            </a:pPr>
            <a:r>
              <a:rPr lang="en-US" sz="850" b="1" dirty="0">
                <a:solidFill>
                  <a:srgbClr val="7047EB"/>
                </a:solidFill>
                <a:latin typeface="Courier New" pitchFamily="34" charset="0"/>
                <a:ea typeface="Courier New" pitchFamily="34" charset="-122"/>
                <a:cs typeface="Courier New" pitchFamily="34" charset="-120"/>
              </a:rPr>
              <a:t>contacto_efectivo</a:t>
            </a:r>
            <a:endParaRPr lang="en-US" sz="850" dirty="0"/>
          </a:p>
        </p:txBody>
      </p:sp>
      <p:sp>
        <p:nvSpPr>
          <p:cNvPr id="13" name="Text 11"/>
          <p:cNvSpPr txBox="1"/>
          <p:nvPr/>
        </p:nvSpPr>
        <p:spPr>
          <a:xfrm>
            <a:off x="685800" y="3456432"/>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¿se habla con quien puede decidir?</a:t>
            </a:r>
            <a:endParaRPr lang="en-US" sz="850" dirty="0"/>
          </a:p>
        </p:txBody>
      </p:sp>
      <p:sp>
        <p:nvSpPr>
          <p:cNvPr id="14" name="Text 12"/>
          <p:cNvSpPr txBox="1"/>
          <p:nvPr/>
        </p:nvSpPr>
        <p:spPr>
          <a:xfrm>
            <a:off x="685800" y="3712464"/>
            <a:ext cx="2743200" cy="182880"/>
          </a:xfrm>
          <a:prstGeom prst="rect">
            <a:avLst/>
          </a:prstGeom>
          <a:noFill/>
          <a:ln/>
        </p:spPr>
        <p:txBody>
          <a:bodyPr wrap="square" lIns="0" tIns="0" rIns="0" bIns="0" rtlCol="0" anchor="ctr"/>
          <a:lstStyle/>
          <a:p>
            <a:pPr indent="0" marL="0">
              <a:buNone/>
            </a:pPr>
            <a:r>
              <a:rPr lang="en-US" sz="850" b="1" dirty="0">
                <a:solidFill>
                  <a:srgbClr val="7047EB"/>
                </a:solidFill>
                <a:latin typeface="Courier New" pitchFamily="34" charset="0"/>
                <a:ea typeface="Courier New" pitchFamily="34" charset="-122"/>
                <a:cs typeface="Courier New" pitchFamily="34" charset="-120"/>
              </a:rPr>
              <a:t>de_donde_llaman</a:t>
            </a:r>
            <a:endParaRPr lang="en-US" sz="850" dirty="0"/>
          </a:p>
        </p:txBody>
      </p:sp>
      <p:sp>
        <p:nvSpPr>
          <p:cNvPr id="15" name="Text 13"/>
          <p:cNvSpPr txBox="1"/>
          <p:nvPr/>
        </p:nvSpPr>
        <p:spPr>
          <a:xfrm>
            <a:off x="685800" y="3886200"/>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entidad que menciona el agente</a:t>
            </a:r>
            <a:endParaRPr lang="en-US" sz="850" dirty="0"/>
          </a:p>
        </p:txBody>
      </p:sp>
      <p:sp>
        <p:nvSpPr>
          <p:cNvPr id="16" name="Text 14"/>
          <p:cNvSpPr txBox="1"/>
          <p:nvPr/>
        </p:nvSpPr>
        <p:spPr>
          <a:xfrm>
            <a:off x="685800" y="4142232"/>
            <a:ext cx="2743200" cy="182880"/>
          </a:xfrm>
          <a:prstGeom prst="rect">
            <a:avLst/>
          </a:prstGeom>
          <a:noFill/>
          <a:ln/>
        </p:spPr>
        <p:txBody>
          <a:bodyPr wrap="square" lIns="0" tIns="0" rIns="0" bIns="0" rtlCol="0" anchor="ctr"/>
          <a:lstStyle/>
          <a:p>
            <a:pPr indent="0" marL="0">
              <a:buNone/>
            </a:pPr>
            <a:r>
              <a:rPr lang="en-US" sz="850" b="1" dirty="0">
                <a:solidFill>
                  <a:srgbClr val="7047EB"/>
                </a:solidFill>
                <a:latin typeface="Courier New" pitchFamily="34" charset="0"/>
                <a:ea typeface="Courier New" pitchFamily="34" charset="-122"/>
                <a:cs typeface="Courier New" pitchFamily="34" charset="-120"/>
              </a:rPr>
              <a:t>origen_deuda</a:t>
            </a:r>
            <a:endParaRPr lang="en-US" sz="850" dirty="0"/>
          </a:p>
        </p:txBody>
      </p:sp>
      <p:sp>
        <p:nvSpPr>
          <p:cNvPr id="17" name="Text 15"/>
          <p:cNvSpPr txBox="1"/>
          <p:nvPr/>
        </p:nvSpPr>
        <p:spPr>
          <a:xfrm>
            <a:off x="685800" y="4315968"/>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producto que originó la deuda</a:t>
            </a:r>
            <a:endParaRPr lang="en-US" sz="850" dirty="0"/>
          </a:p>
        </p:txBody>
      </p:sp>
      <p:sp>
        <p:nvSpPr>
          <p:cNvPr id="18" name="Shape 16"/>
          <p:cNvSpPr/>
          <p:nvPr/>
        </p:nvSpPr>
        <p:spPr>
          <a:xfrm>
            <a:off x="3566160" y="1700784"/>
            <a:ext cx="146304" cy="146304"/>
          </a:xfrm>
          <a:prstGeom prst="ellipse">
            <a:avLst/>
          </a:prstGeom>
          <a:solidFill>
            <a:srgbClr val="4E2AAE"/>
          </a:solidFill>
          <a:ln/>
        </p:spPr>
      </p:sp>
      <p:sp>
        <p:nvSpPr>
          <p:cNvPr id="19" name="Text 17"/>
          <p:cNvSpPr txBox="1"/>
          <p:nvPr/>
        </p:nvSpPr>
        <p:spPr>
          <a:xfrm>
            <a:off x="3803904" y="1627632"/>
            <a:ext cx="2560320" cy="274320"/>
          </a:xfrm>
          <a:prstGeom prst="rect">
            <a:avLst/>
          </a:prstGeom>
          <a:noFill/>
          <a:ln/>
        </p:spPr>
        <p:txBody>
          <a:bodyPr wrap="square" lIns="0" tIns="0" rIns="0" bIns="0" rtlCol="0" anchor="ctr"/>
          <a:lstStyle/>
          <a:p>
            <a:pPr indent="0" marL="0">
              <a:buNone/>
            </a:pPr>
            <a:r>
              <a:rPr lang="en-US" sz="1200" b="1" dirty="0">
                <a:solidFill>
                  <a:srgbClr val="202020"/>
                </a:solidFill>
                <a:latin typeface="Calibri" pitchFamily="34" charset="0"/>
                <a:ea typeface="Calibri" pitchFamily="34" charset="-122"/>
                <a:cs typeface="Calibri" pitchFamily="34" charset="-120"/>
              </a:rPr>
              <a:t>Propuesta económica</a:t>
            </a:r>
            <a:endParaRPr lang="en-US" sz="1200" dirty="0"/>
          </a:p>
        </p:txBody>
      </p:sp>
      <p:sp>
        <p:nvSpPr>
          <p:cNvPr id="20" name="Text 18"/>
          <p:cNvSpPr txBox="1"/>
          <p:nvPr/>
        </p:nvSpPr>
        <p:spPr>
          <a:xfrm>
            <a:off x="3566160" y="1993392"/>
            <a:ext cx="2743200" cy="182880"/>
          </a:xfrm>
          <a:prstGeom prst="rect">
            <a:avLst/>
          </a:prstGeom>
          <a:noFill/>
          <a:ln/>
        </p:spPr>
        <p:txBody>
          <a:bodyPr wrap="square" lIns="0" tIns="0" rIns="0" bIns="0" rtlCol="0" anchor="ctr"/>
          <a:lstStyle/>
          <a:p>
            <a:pPr indent="0" marL="0">
              <a:buNone/>
            </a:pPr>
            <a:r>
              <a:rPr lang="en-US" sz="850" b="1" dirty="0">
                <a:solidFill>
                  <a:srgbClr val="4E2AAE"/>
                </a:solidFill>
                <a:latin typeface="Courier New" pitchFamily="34" charset="0"/>
                <a:ea typeface="Courier New" pitchFamily="34" charset="-122"/>
                <a:cs typeface="Courier New" pitchFamily="34" charset="-120"/>
              </a:rPr>
              <a:t>monto_total_actual_cop</a:t>
            </a:r>
            <a:endParaRPr lang="en-US" sz="850" dirty="0"/>
          </a:p>
        </p:txBody>
      </p:sp>
      <p:sp>
        <p:nvSpPr>
          <p:cNvPr id="21" name="Text 19"/>
          <p:cNvSpPr txBox="1"/>
          <p:nvPr/>
        </p:nvSpPr>
        <p:spPr>
          <a:xfrm>
            <a:off x="3566160" y="2167128"/>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deuda vigente</a:t>
            </a:r>
            <a:endParaRPr lang="en-US" sz="850" dirty="0"/>
          </a:p>
        </p:txBody>
      </p:sp>
      <p:sp>
        <p:nvSpPr>
          <p:cNvPr id="22" name="Text 20"/>
          <p:cNvSpPr txBox="1"/>
          <p:nvPr/>
        </p:nvSpPr>
        <p:spPr>
          <a:xfrm>
            <a:off x="3566160" y="2423160"/>
            <a:ext cx="2743200" cy="182880"/>
          </a:xfrm>
          <a:prstGeom prst="rect">
            <a:avLst/>
          </a:prstGeom>
          <a:noFill/>
          <a:ln/>
        </p:spPr>
        <p:txBody>
          <a:bodyPr wrap="square" lIns="0" tIns="0" rIns="0" bIns="0" rtlCol="0" anchor="ctr"/>
          <a:lstStyle/>
          <a:p>
            <a:pPr indent="0" marL="0">
              <a:buNone/>
            </a:pPr>
            <a:r>
              <a:rPr lang="en-US" sz="850" b="1" dirty="0">
                <a:solidFill>
                  <a:srgbClr val="4E2AAE"/>
                </a:solidFill>
                <a:latin typeface="Courier New" pitchFamily="34" charset="0"/>
                <a:ea typeface="Courier New" pitchFamily="34" charset="-122"/>
                <a:cs typeface="Courier New" pitchFamily="34" charset="-120"/>
              </a:rPr>
              <a:t>descuento_pct</a:t>
            </a:r>
            <a:endParaRPr lang="en-US" sz="850" dirty="0"/>
          </a:p>
        </p:txBody>
      </p:sp>
      <p:sp>
        <p:nvSpPr>
          <p:cNvPr id="23" name="Text 21"/>
          <p:cNvSpPr txBox="1"/>
          <p:nvPr/>
        </p:nvSpPr>
        <p:spPr>
          <a:xfrm>
            <a:off x="3566160" y="2596896"/>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descuento ofrecido</a:t>
            </a:r>
            <a:endParaRPr lang="en-US" sz="850" dirty="0"/>
          </a:p>
        </p:txBody>
      </p:sp>
      <p:sp>
        <p:nvSpPr>
          <p:cNvPr id="24" name="Text 22"/>
          <p:cNvSpPr txBox="1"/>
          <p:nvPr/>
        </p:nvSpPr>
        <p:spPr>
          <a:xfrm>
            <a:off x="3566160" y="2852928"/>
            <a:ext cx="2743200" cy="182880"/>
          </a:xfrm>
          <a:prstGeom prst="rect">
            <a:avLst/>
          </a:prstGeom>
          <a:noFill/>
          <a:ln/>
        </p:spPr>
        <p:txBody>
          <a:bodyPr wrap="square" lIns="0" tIns="0" rIns="0" bIns="0" rtlCol="0" anchor="ctr"/>
          <a:lstStyle/>
          <a:p>
            <a:pPr indent="0" marL="0">
              <a:buNone/>
            </a:pPr>
            <a:r>
              <a:rPr lang="en-US" sz="850" b="1" dirty="0">
                <a:solidFill>
                  <a:srgbClr val="4E2AAE"/>
                </a:solidFill>
                <a:latin typeface="Courier New" pitchFamily="34" charset="0"/>
                <a:ea typeface="Courier New" pitchFamily="34" charset="-122"/>
                <a:cs typeface="Courier New" pitchFamily="34" charset="-120"/>
              </a:rPr>
              <a:t>descuento_monto_cop</a:t>
            </a:r>
            <a:endParaRPr lang="en-US" sz="850" dirty="0"/>
          </a:p>
        </p:txBody>
      </p:sp>
      <p:sp>
        <p:nvSpPr>
          <p:cNvPr id="25" name="Text 23"/>
          <p:cNvSpPr txBox="1"/>
          <p:nvPr/>
        </p:nvSpPr>
        <p:spPr>
          <a:xfrm>
            <a:off x="3566160" y="3026664"/>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descuento en pesos</a:t>
            </a:r>
            <a:endParaRPr lang="en-US" sz="850" dirty="0"/>
          </a:p>
        </p:txBody>
      </p:sp>
      <p:sp>
        <p:nvSpPr>
          <p:cNvPr id="26" name="Text 24"/>
          <p:cNvSpPr txBox="1"/>
          <p:nvPr/>
        </p:nvSpPr>
        <p:spPr>
          <a:xfrm>
            <a:off x="3566160" y="3282696"/>
            <a:ext cx="2743200" cy="182880"/>
          </a:xfrm>
          <a:prstGeom prst="rect">
            <a:avLst/>
          </a:prstGeom>
          <a:noFill/>
          <a:ln/>
        </p:spPr>
        <p:txBody>
          <a:bodyPr wrap="square" lIns="0" tIns="0" rIns="0" bIns="0" rtlCol="0" anchor="ctr"/>
          <a:lstStyle/>
          <a:p>
            <a:pPr indent="0" marL="0">
              <a:buNone/>
            </a:pPr>
            <a:r>
              <a:rPr lang="en-US" sz="850" b="1" dirty="0">
                <a:solidFill>
                  <a:srgbClr val="4E2AAE"/>
                </a:solidFill>
                <a:latin typeface="Courier New" pitchFamily="34" charset="0"/>
                <a:ea typeface="Courier New" pitchFamily="34" charset="-122"/>
                <a:cs typeface="Courier New" pitchFamily="34" charset="-120"/>
              </a:rPr>
              <a:t>valor_a_pagar_cop</a:t>
            </a:r>
            <a:endParaRPr lang="en-US" sz="850" dirty="0"/>
          </a:p>
        </p:txBody>
      </p:sp>
      <p:sp>
        <p:nvSpPr>
          <p:cNvPr id="27" name="Text 25"/>
          <p:cNvSpPr txBox="1"/>
          <p:nvPr/>
        </p:nvSpPr>
        <p:spPr>
          <a:xfrm>
            <a:off x="3566160" y="3456432"/>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valor pactado</a:t>
            </a:r>
            <a:endParaRPr lang="en-US" sz="850" dirty="0"/>
          </a:p>
        </p:txBody>
      </p:sp>
      <p:sp>
        <p:nvSpPr>
          <p:cNvPr id="28" name="Text 26"/>
          <p:cNvSpPr txBox="1"/>
          <p:nvPr/>
        </p:nvSpPr>
        <p:spPr>
          <a:xfrm>
            <a:off x="3566160" y="3712464"/>
            <a:ext cx="2743200" cy="182880"/>
          </a:xfrm>
          <a:prstGeom prst="rect">
            <a:avLst/>
          </a:prstGeom>
          <a:noFill/>
          <a:ln/>
        </p:spPr>
        <p:txBody>
          <a:bodyPr wrap="square" lIns="0" tIns="0" rIns="0" bIns="0" rtlCol="0" anchor="ctr"/>
          <a:lstStyle/>
          <a:p>
            <a:pPr indent="0" marL="0">
              <a:buNone/>
            </a:pPr>
            <a:r>
              <a:rPr lang="en-US" sz="850" b="1" dirty="0">
                <a:solidFill>
                  <a:srgbClr val="4E2AAE"/>
                </a:solidFill>
                <a:latin typeface="Courier New" pitchFamily="34" charset="0"/>
                <a:ea typeface="Courier New" pitchFamily="34" charset="-122"/>
                <a:cs typeface="Courier New" pitchFamily="34" charset="-120"/>
              </a:rPr>
              <a:t>n_cuotas</a:t>
            </a:r>
            <a:endParaRPr lang="en-US" sz="850" dirty="0"/>
          </a:p>
        </p:txBody>
      </p:sp>
      <p:sp>
        <p:nvSpPr>
          <p:cNvPr id="29" name="Text 27"/>
          <p:cNvSpPr txBox="1"/>
          <p:nvPr/>
        </p:nvSpPr>
        <p:spPr>
          <a:xfrm>
            <a:off x="3566160" y="3886200"/>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número de cuotas</a:t>
            </a:r>
            <a:endParaRPr lang="en-US" sz="850" dirty="0"/>
          </a:p>
        </p:txBody>
      </p:sp>
      <p:sp>
        <p:nvSpPr>
          <p:cNvPr id="30" name="Text 28"/>
          <p:cNvSpPr txBox="1"/>
          <p:nvPr/>
        </p:nvSpPr>
        <p:spPr>
          <a:xfrm>
            <a:off x="3566160" y="4142232"/>
            <a:ext cx="2743200" cy="182880"/>
          </a:xfrm>
          <a:prstGeom prst="rect">
            <a:avLst/>
          </a:prstGeom>
          <a:noFill/>
          <a:ln/>
        </p:spPr>
        <p:txBody>
          <a:bodyPr wrap="square" lIns="0" tIns="0" rIns="0" bIns="0" rtlCol="0" anchor="ctr"/>
          <a:lstStyle/>
          <a:p>
            <a:pPr indent="0" marL="0">
              <a:buNone/>
            </a:pPr>
            <a:r>
              <a:rPr lang="en-US" sz="850" b="1" dirty="0">
                <a:solidFill>
                  <a:srgbClr val="4E2AAE"/>
                </a:solidFill>
                <a:latin typeface="Courier New" pitchFamily="34" charset="0"/>
                <a:ea typeface="Courier New" pitchFamily="34" charset="-122"/>
                <a:cs typeface="Courier New" pitchFamily="34" charset="-120"/>
              </a:rPr>
              <a:t>fecha_max_pago</a:t>
            </a:r>
            <a:endParaRPr lang="en-US" sz="850" dirty="0"/>
          </a:p>
        </p:txBody>
      </p:sp>
      <p:sp>
        <p:nvSpPr>
          <p:cNvPr id="31" name="Text 29"/>
          <p:cNvSpPr txBox="1"/>
          <p:nvPr/>
        </p:nvSpPr>
        <p:spPr>
          <a:xfrm>
            <a:off x="3566160" y="4315968"/>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fecha límite ofrecida</a:t>
            </a:r>
            <a:endParaRPr lang="en-US" sz="850" dirty="0"/>
          </a:p>
        </p:txBody>
      </p:sp>
      <p:sp>
        <p:nvSpPr>
          <p:cNvPr id="32" name="Text 30"/>
          <p:cNvSpPr txBox="1"/>
          <p:nvPr/>
        </p:nvSpPr>
        <p:spPr>
          <a:xfrm>
            <a:off x="3566160" y="4572000"/>
            <a:ext cx="2743200" cy="182880"/>
          </a:xfrm>
          <a:prstGeom prst="rect">
            <a:avLst/>
          </a:prstGeom>
          <a:noFill/>
          <a:ln/>
        </p:spPr>
        <p:txBody>
          <a:bodyPr wrap="square" lIns="0" tIns="0" rIns="0" bIns="0" rtlCol="0" anchor="ctr"/>
          <a:lstStyle/>
          <a:p>
            <a:pPr indent="0" marL="0">
              <a:buNone/>
            </a:pPr>
            <a:r>
              <a:rPr lang="en-US" sz="850" b="1" dirty="0">
                <a:solidFill>
                  <a:srgbClr val="4E2AAE"/>
                </a:solidFill>
                <a:latin typeface="Courier New" pitchFamily="34" charset="0"/>
                <a:ea typeface="Courier New" pitchFamily="34" charset="-122"/>
                <a:cs typeface="Courier New" pitchFamily="34" charset="-120"/>
              </a:rPr>
              <a:t>fecha_pago_acordada</a:t>
            </a:r>
            <a:endParaRPr lang="en-US" sz="850" dirty="0"/>
          </a:p>
        </p:txBody>
      </p:sp>
      <p:sp>
        <p:nvSpPr>
          <p:cNvPr id="33" name="Text 31"/>
          <p:cNvSpPr txBox="1"/>
          <p:nvPr/>
        </p:nvSpPr>
        <p:spPr>
          <a:xfrm>
            <a:off x="3566160" y="4745736"/>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fecha que acepta el cliente</a:t>
            </a:r>
            <a:endParaRPr lang="en-US" sz="850" dirty="0"/>
          </a:p>
        </p:txBody>
      </p:sp>
      <p:sp>
        <p:nvSpPr>
          <p:cNvPr id="34" name="Text 32"/>
          <p:cNvSpPr txBox="1"/>
          <p:nvPr/>
        </p:nvSpPr>
        <p:spPr>
          <a:xfrm>
            <a:off x="3566160" y="5001768"/>
            <a:ext cx="2743200" cy="182880"/>
          </a:xfrm>
          <a:prstGeom prst="rect">
            <a:avLst/>
          </a:prstGeom>
          <a:noFill/>
          <a:ln/>
        </p:spPr>
        <p:txBody>
          <a:bodyPr wrap="square" lIns="0" tIns="0" rIns="0" bIns="0" rtlCol="0" anchor="ctr"/>
          <a:lstStyle/>
          <a:p>
            <a:pPr indent="0" marL="0">
              <a:buNone/>
            </a:pPr>
            <a:r>
              <a:rPr lang="en-US" sz="850" b="1" dirty="0">
                <a:solidFill>
                  <a:srgbClr val="4E2AAE"/>
                </a:solidFill>
                <a:latin typeface="Courier New" pitchFamily="34" charset="0"/>
                <a:ea typeface="Courier New" pitchFamily="34" charset="-122"/>
                <a:cs typeface="Courier New" pitchFamily="34" charset="-120"/>
              </a:rPr>
              <a:t>comparte_medios_pago</a:t>
            </a:r>
            <a:endParaRPr lang="en-US" sz="850" dirty="0"/>
          </a:p>
        </p:txBody>
      </p:sp>
      <p:sp>
        <p:nvSpPr>
          <p:cNvPr id="35" name="Text 33"/>
          <p:cNvSpPr txBox="1"/>
          <p:nvPr/>
        </p:nvSpPr>
        <p:spPr>
          <a:xfrm>
            <a:off x="3566160" y="5175504"/>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¿se explica cómo pagar?</a:t>
            </a:r>
            <a:endParaRPr lang="en-US" sz="850" dirty="0"/>
          </a:p>
        </p:txBody>
      </p:sp>
      <p:sp>
        <p:nvSpPr>
          <p:cNvPr id="36" name="Shape 34"/>
          <p:cNvSpPr/>
          <p:nvPr/>
        </p:nvSpPr>
        <p:spPr>
          <a:xfrm>
            <a:off x="6446520" y="1700784"/>
            <a:ext cx="146304" cy="146304"/>
          </a:xfrm>
          <a:prstGeom prst="ellipse">
            <a:avLst/>
          </a:prstGeom>
          <a:solidFill>
            <a:srgbClr val="F26ECF"/>
          </a:solidFill>
          <a:ln/>
        </p:spPr>
      </p:sp>
      <p:sp>
        <p:nvSpPr>
          <p:cNvPr id="37" name="Text 35"/>
          <p:cNvSpPr txBox="1"/>
          <p:nvPr/>
        </p:nvSpPr>
        <p:spPr>
          <a:xfrm>
            <a:off x="6684264" y="1627632"/>
            <a:ext cx="2560320" cy="274320"/>
          </a:xfrm>
          <a:prstGeom prst="rect">
            <a:avLst/>
          </a:prstGeom>
          <a:noFill/>
          <a:ln/>
        </p:spPr>
        <p:txBody>
          <a:bodyPr wrap="square" lIns="0" tIns="0" rIns="0" bIns="0" rtlCol="0" anchor="ctr"/>
          <a:lstStyle/>
          <a:p>
            <a:pPr indent="0" marL="0">
              <a:buNone/>
            </a:pPr>
            <a:r>
              <a:rPr lang="en-US" sz="1200" b="1" dirty="0">
                <a:solidFill>
                  <a:srgbClr val="202020"/>
                </a:solidFill>
                <a:latin typeface="Calibri" pitchFamily="34" charset="0"/>
                <a:ea typeface="Calibri" pitchFamily="34" charset="-122"/>
                <a:cs typeface="Calibri" pitchFamily="34" charset="-120"/>
              </a:rPr>
              <a:t>Negociación y cierre</a:t>
            </a:r>
            <a:endParaRPr lang="en-US" sz="1200" dirty="0"/>
          </a:p>
        </p:txBody>
      </p:sp>
      <p:sp>
        <p:nvSpPr>
          <p:cNvPr id="38" name="Text 36"/>
          <p:cNvSpPr txBox="1"/>
          <p:nvPr/>
        </p:nvSpPr>
        <p:spPr>
          <a:xfrm>
            <a:off x="6446520" y="1993392"/>
            <a:ext cx="2743200" cy="182880"/>
          </a:xfrm>
          <a:prstGeom prst="rect">
            <a:avLst/>
          </a:prstGeom>
          <a:noFill/>
          <a:ln/>
        </p:spPr>
        <p:txBody>
          <a:bodyPr wrap="square" lIns="0" tIns="0" rIns="0" bIns="0" rtlCol="0" anchor="ctr"/>
          <a:lstStyle/>
          <a:p>
            <a:pPr indent="0" marL="0">
              <a:buNone/>
            </a:pPr>
            <a:r>
              <a:rPr lang="en-US" sz="850" b="1" dirty="0">
                <a:solidFill>
                  <a:srgbClr val="F26ECF"/>
                </a:solidFill>
                <a:latin typeface="Courier New" pitchFamily="34" charset="0"/>
                <a:ea typeface="Courier New" pitchFamily="34" charset="-122"/>
                <a:cs typeface="Courier New" pitchFamily="34" charset="-120"/>
              </a:rPr>
              <a:t>cliente_puede_pagar</a:t>
            </a:r>
            <a:endParaRPr lang="en-US" sz="850" dirty="0"/>
          </a:p>
        </p:txBody>
      </p:sp>
      <p:sp>
        <p:nvSpPr>
          <p:cNvPr id="39" name="Text 37"/>
          <p:cNvSpPr txBox="1"/>
          <p:nvPr/>
        </p:nvSpPr>
        <p:spPr>
          <a:xfrm>
            <a:off x="6446520" y="2167128"/>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si | no | tal_vez | no_queda_claro</a:t>
            </a:r>
            <a:endParaRPr lang="en-US" sz="850" dirty="0"/>
          </a:p>
        </p:txBody>
      </p:sp>
      <p:sp>
        <p:nvSpPr>
          <p:cNvPr id="40" name="Text 38"/>
          <p:cNvSpPr txBox="1"/>
          <p:nvPr/>
        </p:nvSpPr>
        <p:spPr>
          <a:xfrm>
            <a:off x="6446520" y="2423160"/>
            <a:ext cx="2743200" cy="182880"/>
          </a:xfrm>
          <a:prstGeom prst="rect">
            <a:avLst/>
          </a:prstGeom>
          <a:noFill/>
          <a:ln/>
        </p:spPr>
        <p:txBody>
          <a:bodyPr wrap="square" lIns="0" tIns="0" rIns="0" bIns="0" rtlCol="0" anchor="ctr"/>
          <a:lstStyle/>
          <a:p>
            <a:pPr indent="0" marL="0">
              <a:buNone/>
            </a:pPr>
            <a:r>
              <a:rPr lang="en-US" sz="850" b="1" dirty="0">
                <a:solidFill>
                  <a:srgbClr val="F26ECF"/>
                </a:solidFill>
                <a:latin typeface="Courier New" pitchFamily="34" charset="0"/>
                <a:ea typeface="Courier New" pitchFamily="34" charset="-122"/>
                <a:cs typeface="Courier New" pitchFamily="34" charset="-120"/>
              </a:rPr>
              <a:t>objecion_cliente</a:t>
            </a:r>
            <a:endParaRPr lang="en-US" sz="850" dirty="0"/>
          </a:p>
        </p:txBody>
      </p:sp>
      <p:sp>
        <p:nvSpPr>
          <p:cNvPr id="41" name="Text 39"/>
          <p:cNvSpPr txBox="1"/>
          <p:nvPr/>
        </p:nvSpPr>
        <p:spPr>
          <a:xfrm>
            <a:off x="6446520" y="2596896"/>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¿hay objeción?</a:t>
            </a:r>
            <a:endParaRPr lang="en-US" sz="850" dirty="0"/>
          </a:p>
        </p:txBody>
      </p:sp>
      <p:sp>
        <p:nvSpPr>
          <p:cNvPr id="42" name="Text 40"/>
          <p:cNvSpPr txBox="1"/>
          <p:nvPr/>
        </p:nvSpPr>
        <p:spPr>
          <a:xfrm>
            <a:off x="6446520" y="2852928"/>
            <a:ext cx="2743200" cy="182880"/>
          </a:xfrm>
          <a:prstGeom prst="rect">
            <a:avLst/>
          </a:prstGeom>
          <a:noFill/>
          <a:ln/>
        </p:spPr>
        <p:txBody>
          <a:bodyPr wrap="square" lIns="0" tIns="0" rIns="0" bIns="0" rtlCol="0" anchor="ctr"/>
          <a:lstStyle/>
          <a:p>
            <a:pPr indent="0" marL="0">
              <a:buNone/>
            </a:pPr>
            <a:r>
              <a:rPr lang="en-US" sz="850" b="1" dirty="0">
                <a:solidFill>
                  <a:srgbClr val="F26ECF"/>
                </a:solidFill>
                <a:latin typeface="Courier New" pitchFamily="34" charset="0"/>
                <a:ea typeface="Courier New" pitchFamily="34" charset="-122"/>
                <a:cs typeface="Courier New" pitchFamily="34" charset="-120"/>
              </a:rPr>
              <a:t>tipo_objecion</a:t>
            </a:r>
            <a:endParaRPr lang="en-US" sz="850" dirty="0"/>
          </a:p>
        </p:txBody>
      </p:sp>
      <p:sp>
        <p:nvSpPr>
          <p:cNvPr id="43" name="Text 41"/>
          <p:cNvSpPr txBox="1"/>
          <p:nvPr/>
        </p:nvSpPr>
        <p:spPr>
          <a:xfrm>
            <a:off x="6446520" y="3026664"/>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naturaleza de la objeción</a:t>
            </a:r>
            <a:endParaRPr lang="en-US" sz="850" dirty="0"/>
          </a:p>
        </p:txBody>
      </p:sp>
      <p:sp>
        <p:nvSpPr>
          <p:cNvPr id="44" name="Text 42"/>
          <p:cNvSpPr txBox="1"/>
          <p:nvPr/>
        </p:nvSpPr>
        <p:spPr>
          <a:xfrm>
            <a:off x="6446520" y="3282696"/>
            <a:ext cx="2743200" cy="182880"/>
          </a:xfrm>
          <a:prstGeom prst="rect">
            <a:avLst/>
          </a:prstGeom>
          <a:noFill/>
          <a:ln/>
        </p:spPr>
        <p:txBody>
          <a:bodyPr wrap="square" lIns="0" tIns="0" rIns="0" bIns="0" rtlCol="0" anchor="ctr"/>
          <a:lstStyle/>
          <a:p>
            <a:pPr indent="0" marL="0">
              <a:buNone/>
            </a:pPr>
            <a:r>
              <a:rPr lang="en-US" sz="850" b="1" dirty="0">
                <a:solidFill>
                  <a:srgbClr val="F26ECF"/>
                </a:solidFill>
                <a:latin typeface="Courier New" pitchFamily="34" charset="0"/>
                <a:ea typeface="Courier New" pitchFamily="34" charset="-122"/>
                <a:cs typeface="Courier New" pitchFamily="34" charset="-120"/>
              </a:rPr>
              <a:t>alternativa_propuesta</a:t>
            </a:r>
            <a:endParaRPr lang="en-US" sz="850" dirty="0"/>
          </a:p>
        </p:txBody>
      </p:sp>
      <p:sp>
        <p:nvSpPr>
          <p:cNvPr id="45" name="Text 43"/>
          <p:cNvSpPr txBox="1"/>
          <p:nvPr/>
        </p:nvSpPr>
        <p:spPr>
          <a:xfrm>
            <a:off x="6446520" y="3456432"/>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contraoferta del agente</a:t>
            </a:r>
            <a:endParaRPr lang="en-US" sz="850" dirty="0"/>
          </a:p>
        </p:txBody>
      </p:sp>
      <p:sp>
        <p:nvSpPr>
          <p:cNvPr id="46" name="Text 44"/>
          <p:cNvSpPr txBox="1"/>
          <p:nvPr/>
        </p:nvSpPr>
        <p:spPr>
          <a:xfrm>
            <a:off x="6446520" y="3712464"/>
            <a:ext cx="2743200" cy="182880"/>
          </a:xfrm>
          <a:prstGeom prst="rect">
            <a:avLst/>
          </a:prstGeom>
          <a:noFill/>
          <a:ln/>
        </p:spPr>
        <p:txBody>
          <a:bodyPr wrap="square" lIns="0" tIns="0" rIns="0" bIns="0" rtlCol="0" anchor="ctr"/>
          <a:lstStyle/>
          <a:p>
            <a:pPr indent="0" marL="0">
              <a:buNone/>
            </a:pPr>
            <a:r>
              <a:rPr lang="en-US" sz="850" b="1" dirty="0">
                <a:solidFill>
                  <a:srgbClr val="F26ECF"/>
                </a:solidFill>
                <a:latin typeface="Courier New" pitchFamily="34" charset="0"/>
                <a:ea typeface="Courier New" pitchFamily="34" charset="-122"/>
                <a:cs typeface="Courier New" pitchFamily="34" charset="-120"/>
              </a:rPr>
              <a:t>resultado_llamada</a:t>
            </a:r>
            <a:endParaRPr lang="en-US" sz="850" dirty="0"/>
          </a:p>
        </p:txBody>
      </p:sp>
      <p:sp>
        <p:nvSpPr>
          <p:cNvPr id="47" name="Text 45"/>
          <p:cNvSpPr txBox="1"/>
          <p:nvPr/>
        </p:nvSpPr>
        <p:spPr>
          <a:xfrm>
            <a:off x="6446520" y="3886200"/>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7 categorías de desenlace</a:t>
            </a:r>
            <a:endParaRPr lang="en-US" sz="850" dirty="0"/>
          </a:p>
        </p:txBody>
      </p:sp>
      <p:sp>
        <p:nvSpPr>
          <p:cNvPr id="48" name="Text 46"/>
          <p:cNvSpPr txBox="1"/>
          <p:nvPr/>
        </p:nvSpPr>
        <p:spPr>
          <a:xfrm>
            <a:off x="6446520" y="4142232"/>
            <a:ext cx="2743200" cy="182880"/>
          </a:xfrm>
          <a:prstGeom prst="rect">
            <a:avLst/>
          </a:prstGeom>
          <a:noFill/>
          <a:ln/>
        </p:spPr>
        <p:txBody>
          <a:bodyPr wrap="square" lIns="0" tIns="0" rIns="0" bIns="0" rtlCol="0" anchor="ctr"/>
          <a:lstStyle/>
          <a:p>
            <a:pPr indent="0" marL="0">
              <a:buNone/>
            </a:pPr>
            <a:r>
              <a:rPr lang="en-US" sz="850" b="1" dirty="0">
                <a:solidFill>
                  <a:srgbClr val="F26ECF"/>
                </a:solidFill>
                <a:latin typeface="Courier New" pitchFamily="34" charset="0"/>
                <a:ea typeface="Courier New" pitchFamily="34" charset="-122"/>
                <a:cs typeface="Courier New" pitchFamily="34" charset="-120"/>
              </a:rPr>
              <a:t>caso_exito</a:t>
            </a:r>
            <a:endParaRPr lang="en-US" sz="850" dirty="0"/>
          </a:p>
        </p:txBody>
      </p:sp>
      <p:sp>
        <p:nvSpPr>
          <p:cNvPr id="49" name="Text 47"/>
          <p:cNvSpPr txBox="1"/>
          <p:nvPr/>
        </p:nvSpPr>
        <p:spPr>
          <a:xfrm>
            <a:off x="6446520" y="4315968"/>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recalculado desde resultado_llamada</a:t>
            </a:r>
            <a:endParaRPr lang="en-US" sz="850" dirty="0"/>
          </a:p>
        </p:txBody>
      </p:sp>
      <p:sp>
        <p:nvSpPr>
          <p:cNvPr id="50" name="Text 48"/>
          <p:cNvSpPr txBox="1"/>
          <p:nvPr/>
        </p:nvSpPr>
        <p:spPr>
          <a:xfrm>
            <a:off x="6446520" y="4572000"/>
            <a:ext cx="2743200" cy="182880"/>
          </a:xfrm>
          <a:prstGeom prst="rect">
            <a:avLst/>
          </a:prstGeom>
          <a:noFill/>
          <a:ln/>
        </p:spPr>
        <p:txBody>
          <a:bodyPr wrap="square" lIns="0" tIns="0" rIns="0" bIns="0" rtlCol="0" anchor="ctr"/>
          <a:lstStyle/>
          <a:p>
            <a:pPr indent="0" marL="0">
              <a:buNone/>
            </a:pPr>
            <a:r>
              <a:rPr lang="en-US" sz="850" b="1" dirty="0">
                <a:solidFill>
                  <a:srgbClr val="F26ECF"/>
                </a:solidFill>
                <a:latin typeface="Courier New" pitchFamily="34" charset="0"/>
                <a:ea typeface="Courier New" pitchFamily="34" charset="-122"/>
                <a:cs typeface="Courier New" pitchFamily="34" charset="-120"/>
              </a:rPr>
              <a:t>quien_corta_la_llamada</a:t>
            </a:r>
            <a:endParaRPr lang="en-US" sz="850" dirty="0"/>
          </a:p>
        </p:txBody>
      </p:sp>
      <p:sp>
        <p:nvSpPr>
          <p:cNvPr id="51" name="Text 49"/>
          <p:cNvSpPr txBox="1"/>
          <p:nvPr/>
        </p:nvSpPr>
        <p:spPr>
          <a:xfrm>
            <a:off x="6446520" y="4745736"/>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agente | cliente | técnico</a:t>
            </a:r>
            <a:endParaRPr lang="en-US" sz="850" dirty="0"/>
          </a:p>
        </p:txBody>
      </p:sp>
      <p:sp>
        <p:nvSpPr>
          <p:cNvPr id="52" name="Text 50"/>
          <p:cNvSpPr txBox="1"/>
          <p:nvPr/>
        </p:nvSpPr>
        <p:spPr>
          <a:xfrm>
            <a:off x="6446520" y="5001768"/>
            <a:ext cx="2743200" cy="182880"/>
          </a:xfrm>
          <a:prstGeom prst="rect">
            <a:avLst/>
          </a:prstGeom>
          <a:noFill/>
          <a:ln/>
        </p:spPr>
        <p:txBody>
          <a:bodyPr wrap="square" lIns="0" tIns="0" rIns="0" bIns="0" rtlCol="0" anchor="ctr"/>
          <a:lstStyle/>
          <a:p>
            <a:pPr indent="0" marL="0">
              <a:buNone/>
            </a:pPr>
            <a:r>
              <a:rPr lang="en-US" sz="850" b="1" dirty="0">
                <a:solidFill>
                  <a:srgbClr val="F26ECF"/>
                </a:solidFill>
                <a:latin typeface="Courier New" pitchFamily="34" charset="0"/>
                <a:ea typeface="Courier New" pitchFamily="34" charset="-122"/>
                <a:cs typeface="Courier New" pitchFamily="34" charset="-120"/>
              </a:rPr>
              <a:t>motivo_fin_llamada</a:t>
            </a:r>
            <a:endParaRPr lang="en-US" sz="850" dirty="0"/>
          </a:p>
        </p:txBody>
      </p:sp>
      <p:sp>
        <p:nvSpPr>
          <p:cNvPr id="53" name="Text 51"/>
          <p:cNvSpPr txBox="1"/>
          <p:nvPr/>
        </p:nvSpPr>
        <p:spPr>
          <a:xfrm>
            <a:off x="6446520" y="5175504"/>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por qué termina</a:t>
            </a:r>
            <a:endParaRPr lang="en-US" sz="850" dirty="0"/>
          </a:p>
        </p:txBody>
      </p:sp>
      <p:sp>
        <p:nvSpPr>
          <p:cNvPr id="54" name="Shape 52"/>
          <p:cNvSpPr/>
          <p:nvPr/>
        </p:nvSpPr>
        <p:spPr>
          <a:xfrm>
            <a:off x="9326880" y="1700784"/>
            <a:ext cx="146304" cy="146304"/>
          </a:xfrm>
          <a:prstGeom prst="ellipse">
            <a:avLst/>
          </a:prstGeom>
          <a:solidFill>
            <a:srgbClr val="757275"/>
          </a:solidFill>
          <a:ln/>
        </p:spPr>
      </p:sp>
      <p:sp>
        <p:nvSpPr>
          <p:cNvPr id="55" name="Text 53"/>
          <p:cNvSpPr txBox="1"/>
          <p:nvPr/>
        </p:nvSpPr>
        <p:spPr>
          <a:xfrm>
            <a:off x="9564624" y="1627632"/>
            <a:ext cx="2560320" cy="274320"/>
          </a:xfrm>
          <a:prstGeom prst="rect">
            <a:avLst/>
          </a:prstGeom>
          <a:noFill/>
          <a:ln/>
        </p:spPr>
        <p:txBody>
          <a:bodyPr wrap="square" lIns="0" tIns="0" rIns="0" bIns="0" rtlCol="0" anchor="ctr"/>
          <a:lstStyle/>
          <a:p>
            <a:pPr indent="0" marL="0">
              <a:buNone/>
            </a:pPr>
            <a:r>
              <a:rPr lang="en-US" sz="1200" b="1" dirty="0">
                <a:solidFill>
                  <a:srgbClr val="202020"/>
                </a:solidFill>
                <a:latin typeface="Calibri" pitchFamily="34" charset="0"/>
                <a:ea typeface="Calibri" pitchFamily="34" charset="-122"/>
                <a:cs typeface="Calibri" pitchFamily="34" charset="-120"/>
              </a:rPr>
              <a:t>Control y tono</a:t>
            </a:r>
            <a:endParaRPr lang="en-US" sz="1200" dirty="0"/>
          </a:p>
        </p:txBody>
      </p:sp>
      <p:sp>
        <p:nvSpPr>
          <p:cNvPr id="56" name="Text 54"/>
          <p:cNvSpPr txBox="1"/>
          <p:nvPr/>
        </p:nvSpPr>
        <p:spPr>
          <a:xfrm>
            <a:off x="9326880" y="1993392"/>
            <a:ext cx="2743200" cy="182880"/>
          </a:xfrm>
          <a:prstGeom prst="rect">
            <a:avLst/>
          </a:prstGeom>
          <a:noFill/>
          <a:ln/>
        </p:spPr>
        <p:txBody>
          <a:bodyPr wrap="square" lIns="0" tIns="0" rIns="0" bIns="0" rtlCol="0" anchor="ctr"/>
          <a:lstStyle/>
          <a:p>
            <a:pPr indent="0" marL="0">
              <a:buNone/>
            </a:pPr>
            <a:r>
              <a:rPr lang="en-US" sz="850" b="1" dirty="0">
                <a:solidFill>
                  <a:srgbClr val="757275"/>
                </a:solidFill>
                <a:latin typeface="Courier New" pitchFamily="34" charset="0"/>
                <a:ea typeface="Courier New" pitchFamily="34" charset="-122"/>
                <a:cs typeface="Courier New" pitchFamily="34" charset="-120"/>
              </a:rPr>
              <a:t>confianza_extraccion</a:t>
            </a:r>
            <a:endParaRPr lang="en-US" sz="850" dirty="0"/>
          </a:p>
        </p:txBody>
      </p:sp>
      <p:sp>
        <p:nvSpPr>
          <p:cNvPr id="57" name="Text 55"/>
          <p:cNvSpPr txBox="1"/>
          <p:nvPr/>
        </p:nvSpPr>
        <p:spPr>
          <a:xfrm>
            <a:off x="9326880" y="2167128"/>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alta | media | baja</a:t>
            </a:r>
            <a:endParaRPr lang="en-US" sz="850" dirty="0"/>
          </a:p>
        </p:txBody>
      </p:sp>
      <p:sp>
        <p:nvSpPr>
          <p:cNvPr id="58" name="Text 56"/>
          <p:cNvSpPr txBox="1"/>
          <p:nvPr/>
        </p:nvSpPr>
        <p:spPr>
          <a:xfrm>
            <a:off x="9326880" y="2423160"/>
            <a:ext cx="2743200" cy="182880"/>
          </a:xfrm>
          <a:prstGeom prst="rect">
            <a:avLst/>
          </a:prstGeom>
          <a:noFill/>
          <a:ln/>
        </p:spPr>
        <p:txBody>
          <a:bodyPr wrap="square" lIns="0" tIns="0" rIns="0" bIns="0" rtlCol="0" anchor="ctr"/>
          <a:lstStyle/>
          <a:p>
            <a:pPr indent="0" marL="0">
              <a:buNone/>
            </a:pPr>
            <a:r>
              <a:rPr lang="en-US" sz="850" b="1" dirty="0">
                <a:solidFill>
                  <a:srgbClr val="757275"/>
                </a:solidFill>
                <a:latin typeface="Courier New" pitchFamily="34" charset="0"/>
                <a:ea typeface="Courier New" pitchFamily="34" charset="-122"/>
                <a:cs typeface="Courier New" pitchFamily="34" charset="-120"/>
              </a:rPr>
              <a:t>notas</a:t>
            </a:r>
            <a:endParaRPr lang="en-US" sz="850" dirty="0"/>
          </a:p>
        </p:txBody>
      </p:sp>
      <p:sp>
        <p:nvSpPr>
          <p:cNvPr id="59" name="Text 57"/>
          <p:cNvSpPr txBox="1"/>
          <p:nvPr/>
        </p:nvSpPr>
        <p:spPr>
          <a:xfrm>
            <a:off x="9326880" y="2596896"/>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observación libre</a:t>
            </a:r>
            <a:endParaRPr lang="en-US" sz="850" dirty="0"/>
          </a:p>
        </p:txBody>
      </p:sp>
      <p:sp>
        <p:nvSpPr>
          <p:cNvPr id="60" name="Text 58"/>
          <p:cNvSpPr txBox="1"/>
          <p:nvPr/>
        </p:nvSpPr>
        <p:spPr>
          <a:xfrm>
            <a:off x="9326880" y="2852928"/>
            <a:ext cx="2743200" cy="182880"/>
          </a:xfrm>
          <a:prstGeom prst="rect">
            <a:avLst/>
          </a:prstGeom>
          <a:noFill/>
          <a:ln/>
        </p:spPr>
        <p:txBody>
          <a:bodyPr wrap="square" lIns="0" tIns="0" rIns="0" bIns="0" rtlCol="0" anchor="ctr"/>
          <a:lstStyle/>
          <a:p>
            <a:pPr indent="0" marL="0">
              <a:buNone/>
            </a:pPr>
            <a:r>
              <a:rPr lang="en-US" sz="850" b="1" dirty="0">
                <a:solidFill>
                  <a:srgbClr val="757275"/>
                </a:solidFill>
                <a:latin typeface="Courier New" pitchFamily="34" charset="0"/>
                <a:ea typeface="Courier New" pitchFamily="34" charset="-122"/>
                <a:cs typeface="Courier New" pitchFamily="34" charset="-120"/>
              </a:rPr>
              <a:t>tono_inicial_cliente</a:t>
            </a:r>
            <a:endParaRPr lang="en-US" sz="850" dirty="0"/>
          </a:p>
        </p:txBody>
      </p:sp>
      <p:sp>
        <p:nvSpPr>
          <p:cNvPr id="61" name="Text 59"/>
          <p:cNvSpPr txBox="1"/>
          <p:nvPr/>
        </p:nvSpPr>
        <p:spPr>
          <a:xfrm>
            <a:off x="9326880" y="3026664"/>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al abrir la llamada</a:t>
            </a:r>
            <a:endParaRPr lang="en-US" sz="850" dirty="0"/>
          </a:p>
        </p:txBody>
      </p:sp>
      <p:sp>
        <p:nvSpPr>
          <p:cNvPr id="62" name="Text 60"/>
          <p:cNvSpPr txBox="1"/>
          <p:nvPr/>
        </p:nvSpPr>
        <p:spPr>
          <a:xfrm>
            <a:off x="9326880" y="3282696"/>
            <a:ext cx="2743200" cy="182880"/>
          </a:xfrm>
          <a:prstGeom prst="rect">
            <a:avLst/>
          </a:prstGeom>
          <a:noFill/>
          <a:ln/>
        </p:spPr>
        <p:txBody>
          <a:bodyPr wrap="square" lIns="0" tIns="0" rIns="0" bIns="0" rtlCol="0" anchor="ctr"/>
          <a:lstStyle/>
          <a:p>
            <a:pPr indent="0" marL="0">
              <a:buNone/>
            </a:pPr>
            <a:r>
              <a:rPr lang="en-US" sz="850" b="1" dirty="0">
                <a:solidFill>
                  <a:srgbClr val="757275"/>
                </a:solidFill>
                <a:latin typeface="Courier New" pitchFamily="34" charset="0"/>
                <a:ea typeface="Courier New" pitchFamily="34" charset="-122"/>
                <a:cs typeface="Courier New" pitchFamily="34" charset="-120"/>
              </a:rPr>
              <a:t>tono_final_cliente</a:t>
            </a:r>
            <a:endParaRPr lang="en-US" sz="850" dirty="0"/>
          </a:p>
        </p:txBody>
      </p:sp>
      <p:sp>
        <p:nvSpPr>
          <p:cNvPr id="63" name="Text 61"/>
          <p:cNvSpPr txBox="1"/>
          <p:nvPr/>
        </p:nvSpPr>
        <p:spPr>
          <a:xfrm>
            <a:off x="9326880" y="3456432"/>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al cerrar</a:t>
            </a:r>
            <a:endParaRPr lang="en-US" sz="850" dirty="0"/>
          </a:p>
        </p:txBody>
      </p:sp>
      <p:sp>
        <p:nvSpPr>
          <p:cNvPr id="64" name="Text 62"/>
          <p:cNvSpPr txBox="1"/>
          <p:nvPr/>
        </p:nvSpPr>
        <p:spPr>
          <a:xfrm>
            <a:off x="9326880" y="3712464"/>
            <a:ext cx="2743200" cy="182880"/>
          </a:xfrm>
          <a:prstGeom prst="rect">
            <a:avLst/>
          </a:prstGeom>
          <a:noFill/>
          <a:ln/>
        </p:spPr>
        <p:txBody>
          <a:bodyPr wrap="square" lIns="0" tIns="0" rIns="0" bIns="0" rtlCol="0" anchor="ctr"/>
          <a:lstStyle/>
          <a:p>
            <a:pPr indent="0" marL="0">
              <a:buNone/>
            </a:pPr>
            <a:r>
              <a:rPr lang="en-US" sz="850" b="1" dirty="0">
                <a:solidFill>
                  <a:srgbClr val="757275"/>
                </a:solidFill>
                <a:latin typeface="Courier New" pitchFamily="34" charset="0"/>
                <a:ea typeface="Courier New" pitchFamily="34" charset="-122"/>
                <a:cs typeface="Courier New" pitchFamily="34" charset="-120"/>
              </a:rPr>
              <a:t>cambio_tono</a:t>
            </a:r>
            <a:endParaRPr lang="en-US" sz="850" dirty="0"/>
          </a:p>
        </p:txBody>
      </p:sp>
      <p:sp>
        <p:nvSpPr>
          <p:cNvPr id="65" name="Text 63"/>
          <p:cNvSpPr txBox="1"/>
          <p:nvPr/>
        </p:nvSpPr>
        <p:spPr>
          <a:xfrm>
            <a:off x="9326880" y="3886200"/>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mejora | igual | empeora</a:t>
            </a:r>
            <a:endParaRPr lang="en-US" sz="850" dirty="0"/>
          </a:p>
        </p:txBody>
      </p:sp>
      <p:sp>
        <p:nvSpPr>
          <p:cNvPr id="66" name="Text 64"/>
          <p:cNvSpPr txBox="1"/>
          <p:nvPr/>
        </p:nvSpPr>
        <p:spPr>
          <a:xfrm>
            <a:off x="9326880" y="4142232"/>
            <a:ext cx="2743200" cy="182880"/>
          </a:xfrm>
          <a:prstGeom prst="rect">
            <a:avLst/>
          </a:prstGeom>
          <a:noFill/>
          <a:ln/>
        </p:spPr>
        <p:txBody>
          <a:bodyPr wrap="square" lIns="0" tIns="0" rIns="0" bIns="0" rtlCol="0" anchor="ctr"/>
          <a:lstStyle/>
          <a:p>
            <a:pPr indent="0" marL="0">
              <a:buNone/>
            </a:pPr>
            <a:r>
              <a:rPr lang="en-US" sz="850" b="1" dirty="0">
                <a:solidFill>
                  <a:srgbClr val="757275"/>
                </a:solidFill>
                <a:latin typeface="Courier New" pitchFamily="34" charset="0"/>
                <a:ea typeface="Courier New" pitchFamily="34" charset="-122"/>
                <a:cs typeface="Courier New" pitchFamily="34" charset="-120"/>
              </a:rPr>
              <a:t>agente_se_adapta</a:t>
            </a:r>
            <a:endParaRPr lang="en-US" sz="850" dirty="0"/>
          </a:p>
        </p:txBody>
      </p:sp>
      <p:sp>
        <p:nvSpPr>
          <p:cNvPr id="67" name="Text 65"/>
          <p:cNvSpPr txBox="1"/>
          <p:nvPr/>
        </p:nvSpPr>
        <p:spPr>
          <a:xfrm>
            <a:off x="9326880" y="4315968"/>
            <a:ext cx="2743200" cy="256032"/>
          </a:xfrm>
          <a:prstGeom prst="rect">
            <a:avLst/>
          </a:prstGeom>
          <a:noFill/>
          <a:ln/>
        </p:spPr>
        <p:txBody>
          <a:bodyPr wrap="square" lIns="0" tIns="0" rIns="0" bIns="0" rtlCol="0" anchor="ctr"/>
          <a:lstStyle/>
          <a:p>
            <a:pPr indent="0" marL="0">
              <a:lnSpc>
                <a:spcPts val="1000"/>
              </a:lnSpc>
              <a:buNone/>
            </a:pPr>
            <a:r>
              <a:rPr lang="en-US" sz="850" dirty="0">
                <a:solidFill>
                  <a:srgbClr val="757275"/>
                </a:solidFill>
                <a:latin typeface="Calibri" pitchFamily="34" charset="0"/>
                <a:ea typeface="Calibri" pitchFamily="34" charset="-122"/>
                <a:cs typeface="Calibri" pitchFamily="34" charset="-120"/>
              </a:rPr>
              <a:t>¿reacciona a lo que dice el cliente?</a:t>
            </a:r>
            <a:endParaRPr lang="en-US" sz="850" dirty="0"/>
          </a:p>
        </p:txBody>
      </p:sp>
      <p:sp>
        <p:nvSpPr>
          <p:cNvPr id="68" name="Shape 66"/>
          <p:cNvSpPr/>
          <p:nvPr/>
        </p:nvSpPr>
        <p:spPr>
          <a:xfrm>
            <a:off x="685800" y="5742432"/>
            <a:ext cx="10789920" cy="658368"/>
          </a:xfrm>
          <a:prstGeom prst="roundRect">
            <a:avLst>
              <a:gd name="adj" fmla="val 13889"/>
            </a:avLst>
          </a:prstGeom>
          <a:solidFill>
            <a:srgbClr val="FDEDF9"/>
          </a:solidFill>
          <a:ln/>
        </p:spPr>
      </p:sp>
      <p:sp>
        <p:nvSpPr>
          <p:cNvPr id="69" name="Text 67"/>
          <p:cNvSpPr txBox="1"/>
          <p:nvPr/>
        </p:nvSpPr>
        <p:spPr>
          <a:xfrm>
            <a:off x="1005840" y="5852160"/>
            <a:ext cx="10424160" cy="457200"/>
          </a:xfrm>
          <a:prstGeom prst="rect">
            <a:avLst/>
          </a:prstGeom>
          <a:noFill/>
          <a:ln/>
        </p:spPr>
        <p:txBody>
          <a:bodyPr wrap="square" lIns="0" tIns="0" rIns="0" bIns="0" rtlCol="0" anchor="ctr"/>
          <a:lstStyle/>
          <a:p>
            <a:pPr indent="0" marL="0">
              <a:lnSpc>
                <a:spcPts val="1400"/>
              </a:lnSpc>
              <a:buNone/>
            </a:pPr>
            <a:r>
              <a:rPr lang="en-US" sz="1050" dirty="0">
                <a:solidFill>
                  <a:srgbClr val="202020"/>
                </a:solidFill>
                <a:latin typeface="Calibri" pitchFamily="34" charset="0"/>
                <a:ea typeface="Calibri" pitchFamily="34" charset="-122"/>
                <a:cs typeface="Calibri" pitchFamily="34" charset="-120"/>
              </a:rPr>
              <a:t>caso_exito no se toma del extractor: se recalcula de forma determinista desde resultado_llamada al consolidar, para que la variable dependiente no dependa de un juicio del modelo.  ·  Esquema y prompt en analisis/src/extract_variables.py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 vs. Agente Humano en Cobranza</dc:title>
  <dc:subject>PptxGenJS Presentation</dc:subject>
  <dc:creator>Sergio Felipe</dc:creator>
  <cp:lastModifiedBy>Sergio Felipe</cp:lastModifiedBy>
  <cp:revision>1</cp:revision>
  <dcterms:created xsi:type="dcterms:W3CDTF">2026-09-15T05:34:54Z</dcterms:created>
  <dcterms:modified xsi:type="dcterms:W3CDTF">2026-09-15T05:34:54Z</dcterms:modified>
</cp:coreProperties>
</file>